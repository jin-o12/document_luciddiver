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</p:sldIdLst>
  <p:sldSz cy="6858000" cx="12191675"/>
  <p:notesSz cx="6858000" cy="12191675"/>
  <p:embeddedFontLst>
    <p:embeddedFont>
      <p:font typeface="Noto Sans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5" roundtripDataSignature="AMtx7mgHboqsl0u2mdw15X/Qy+7A7NDG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NotoSans-regular.fntdata"/><Relationship Id="rId50" Type="http://schemas.openxmlformats.org/officeDocument/2006/relationships/slide" Target="slides/slide46.xml"/><Relationship Id="rId53" Type="http://schemas.openxmlformats.org/officeDocument/2006/relationships/font" Target="fonts/NotoSans-italic.fntdata"/><Relationship Id="rId52" Type="http://schemas.openxmlformats.org/officeDocument/2006/relationships/font" Target="fonts/NotoSans-bold.fntdata"/><Relationship Id="rId11" Type="http://schemas.openxmlformats.org/officeDocument/2006/relationships/slide" Target="slides/slide7.xml"/><Relationship Id="rId55" Type="http://customschemas.google.com/relationships/presentationmetadata" Target="metadata"/><Relationship Id="rId10" Type="http://schemas.openxmlformats.org/officeDocument/2006/relationships/slide" Target="slides/slide6.xml"/><Relationship Id="rId54" Type="http://schemas.openxmlformats.org/officeDocument/2006/relationships/font" Target="fonts/NotoSans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8" name="Google Shape;68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2" name="Google Shape;70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0" name="Google Shape;73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5" name="Google Shape;76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5" name="Google Shape;78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" name="Google Shape;82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1" name="Google Shape;841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5" name="Google Shape;85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9" name="Google Shape;86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0" name="Google Shape;89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1" name="Google Shape;91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5" name="Google Shape;925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9" name="Google Shape;939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3" name="Google Shape;953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3" name="Google Shape;983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3" name="Google Shape;1013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5" name="Google Shape;1045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0" name="Google Shape;1060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5" name="Google Shape;1075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jpg"/><Relationship Id="rId4" Type="http://schemas.openxmlformats.org/officeDocument/2006/relationships/image" Target="../media/image1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jpg"/><Relationship Id="rId4" Type="http://schemas.openxmlformats.org/officeDocument/2006/relationships/image" Target="../media/image13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.jpg"/><Relationship Id="rId4" Type="http://schemas.openxmlformats.org/officeDocument/2006/relationships/image" Target="../media/image35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6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ucid_assets_opt/main.jp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1" r="1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85098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solidFill>
            <a:srgbClr val="000000">
              <a:alpha val="74901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40080" y="640080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3200"/>
              <a:buFont typeface="Noto Sans"/>
              <a:buNone/>
            </a:pPr>
            <a:r>
              <a:rPr b="1" i="0" lang="en-US" sz="3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</a:t>
            </a:r>
            <a:endParaRPr b="0" i="0" sz="3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13232" y="134416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500"/>
              <a:buFont typeface="Noto Sans"/>
              <a:buNone/>
            </a:pPr>
            <a:r>
              <a:rPr b="0" i="0" lang="en-US" sz="150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Lucid Divers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85800" y="5349240"/>
            <a:ext cx="2286000" cy="292608"/>
          </a:xfrm>
          <a:prstGeom prst="roundRect">
            <a:avLst>
              <a:gd fmla="val 12500" name="adj"/>
            </a:avLst>
          </a:prstGeom>
          <a:solidFill>
            <a:srgbClr val="F2418D">
              <a:alpha val="92156"/>
            </a:srgbClr>
          </a:solidFill>
          <a:ln cap="flat" cmpd="sng" w="12700">
            <a:solidFill>
              <a:srgbClr val="F2418D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58952" y="5413248"/>
            <a:ext cx="21396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Noto San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P0 PROTOTYPE PROPOSAL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85800" y="5650992"/>
            <a:ext cx="7498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다이버는 잊는다. 관제사는 기록한다.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그리고 다시, 구하러 들어간다.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9326880" y="6172200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850"/>
              <a:buFont typeface="Noto Sans"/>
              <a:buNone/>
            </a:pPr>
            <a:r>
              <a:rPr b="0" i="0" lang="en-US" sz="8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Team REMnants · 2026.06</a:t>
            </a:r>
            <a:endParaRPr b="0" i="0" sz="8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ucid_assets_opt/main.jpg" id="32" name="Google Shape;3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5" y="0"/>
            <a:ext cx="1219169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"/>
          <p:cNvSpPr/>
          <p:nvPr/>
        </p:nvSpPr>
        <p:spPr>
          <a:xfrm>
            <a:off x="-12" y="0"/>
            <a:ext cx="12191700" cy="6858000"/>
          </a:xfrm>
          <a:prstGeom prst="rect">
            <a:avLst/>
          </a:prstGeom>
          <a:solidFill>
            <a:srgbClr val="05070D">
              <a:alpha val="50199"/>
            </a:srgbClr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한 줄 피치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서브컬처 캐릭터 구원 서사와 PvE 익스트랙션 루프의 결합</a:t>
            </a:r>
            <a:endParaRPr b="0" i="0" sz="950" u="none" cap="none" strike="noStrike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85800" y="1325880"/>
            <a:ext cx="10835640" cy="1417320"/>
          </a:xfrm>
          <a:prstGeom prst="roundRect">
            <a:avLst>
              <a:gd fmla="val 5161" name="adj"/>
            </a:avLst>
          </a:prstGeom>
          <a:solidFill>
            <a:srgbClr val="0D1020">
              <a:alpha val="94901"/>
            </a:srgbClr>
          </a:solidFill>
          <a:ln cap="flat" cmpd="sng" w="12700">
            <a:solidFill>
              <a:srgbClr val="44D7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86968" y="1490472"/>
            <a:ext cx="10433304" cy="1088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꿈에 침식된 도시에서 다이버의 기억을 회수하고,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그들이 괴이로 변질되기 전에 현실로 되돌리는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서브컬처 PvE 익스트랙션 액션 RPG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39" name="Google Shape;39;p2"/>
          <p:cNvCxnSpPr/>
          <p:nvPr/>
        </p:nvCxnSpPr>
        <p:spPr>
          <a:xfrm>
            <a:off x="3506724" y="4078224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F2418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" name="Google Shape;40;p2"/>
          <p:cNvCxnSpPr/>
          <p:nvPr/>
        </p:nvCxnSpPr>
        <p:spPr>
          <a:xfrm>
            <a:off x="6016752" y="4078224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F2418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1" name="Google Shape;41;p2"/>
          <p:cNvCxnSpPr/>
          <p:nvPr/>
        </p:nvCxnSpPr>
        <p:spPr>
          <a:xfrm>
            <a:off x="8526780" y="4078224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F2418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" name="Google Shape;42;p2"/>
          <p:cNvSpPr/>
          <p:nvPr/>
        </p:nvSpPr>
        <p:spPr>
          <a:xfrm>
            <a:off x="1143000" y="3657600"/>
            <a:ext cx="2345436" cy="841248"/>
          </a:xfrm>
          <a:prstGeom prst="roundRect">
            <a:avLst>
              <a:gd fmla="val 8696" name="adj"/>
            </a:avLst>
          </a:prstGeom>
          <a:solidFill>
            <a:srgbClr val="12172A"/>
          </a:solidFill>
          <a:ln cap="flat" cmpd="sng" w="12700">
            <a:solidFill>
              <a:srgbClr val="F2418D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188720" y="3730752"/>
            <a:ext cx="2253996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PvE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익스트랙션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653028" y="3657600"/>
            <a:ext cx="2345436" cy="841248"/>
          </a:xfrm>
          <a:prstGeom prst="roundRect">
            <a:avLst>
              <a:gd fmla="val 8696" name="adj"/>
            </a:avLst>
          </a:prstGeom>
          <a:solidFill>
            <a:srgbClr val="12172A"/>
          </a:solidFill>
          <a:ln cap="flat" cmpd="sng" w="12700">
            <a:solidFill>
              <a:srgbClr val="F2418D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3698748" y="3730752"/>
            <a:ext cx="2253996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기억 회수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163056" y="3657600"/>
            <a:ext cx="2345436" cy="841248"/>
          </a:xfrm>
          <a:prstGeom prst="roundRect">
            <a:avLst>
              <a:gd fmla="val 8696" name="adj"/>
            </a:avLst>
          </a:prstGeom>
          <a:solidFill>
            <a:srgbClr val="12172A"/>
          </a:solidFill>
          <a:ln cap="flat" cmpd="sng" w="12700">
            <a:solidFill>
              <a:srgbClr val="F2418D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208776" y="3730752"/>
            <a:ext cx="2253996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동조율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상승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673084" y="3657600"/>
            <a:ext cx="2345436" cy="841248"/>
          </a:xfrm>
          <a:prstGeom prst="roundRect">
            <a:avLst>
              <a:gd fmla="val 8696" name="adj"/>
            </a:avLst>
          </a:prstGeom>
          <a:solidFill>
            <a:srgbClr val="12172A"/>
          </a:solidFill>
          <a:ln cap="flat" cmpd="sng" w="12700">
            <a:solidFill>
              <a:srgbClr val="F2418D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8718804" y="3730752"/>
            <a:ext cx="2253996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캐릭터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구원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914400" y="507492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핵심 검증: “회수품”이 단순 재화가 아니라 기억·관계·다음 출격 동기로 변환되는가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D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lucid_assets_opt/main.jpg" id="59" name="Google Shape;59;p3"/>
          <p:cNvPicPr preferRelativeResize="0"/>
          <p:nvPr/>
        </p:nvPicPr>
        <p:blipFill rotWithShape="1">
          <a:blip r:embed="rId3">
            <a:alphaModFix/>
          </a:blip>
          <a:srcRect b="0" l="0" r="3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50196"/>
            </a:srgbClr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713232" y="141732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3000"/>
              <a:buFont typeface="Noto Sans"/>
              <a:buNone/>
            </a:pPr>
            <a:r>
              <a:rPr b="1" i="0" lang="en-US" sz="30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그녀는 당신을 기억하지 못한다.</a:t>
            </a:r>
            <a:endParaRPr b="0" i="0" sz="3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713232" y="221284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5CFF"/>
              </a:buClr>
              <a:buSzPts val="3000"/>
              <a:buFont typeface="Noto Sans"/>
              <a:buNone/>
            </a:pPr>
            <a:r>
              <a:rPr b="1" i="0" lang="en-US" sz="3000" u="none" cap="none" strike="noStrike">
                <a:solidFill>
                  <a:srgbClr val="9B5CFF"/>
                </a:solidFill>
                <a:latin typeface="Noto Sans"/>
                <a:ea typeface="Noto Sans"/>
                <a:cs typeface="Noto Sans"/>
                <a:sym typeface="Noto Sans"/>
              </a:rPr>
              <a:t>하지만 당신은, 그녀를 다시 구하러 간다.</a:t>
            </a:r>
            <a:endParaRPr b="0" i="0" sz="3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3" name="Google Shape;63;p3"/>
          <p:cNvCxnSpPr/>
          <p:nvPr/>
        </p:nvCxnSpPr>
        <p:spPr>
          <a:xfrm>
            <a:off x="2194560" y="3657600"/>
            <a:ext cx="7772400" cy="0"/>
          </a:xfrm>
          <a:prstGeom prst="straightConnector1">
            <a:avLst/>
          </a:prstGeom>
          <a:noFill/>
          <a:ln cap="flat" cmpd="sng" w="12700">
            <a:solidFill>
              <a:srgbClr val="44D7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3"/>
          <p:cNvSpPr/>
          <p:nvPr/>
        </p:nvSpPr>
        <p:spPr>
          <a:xfrm>
            <a:off x="2011680" y="3986784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500"/>
              <a:buFont typeface="Noto Sans"/>
              <a:buNone/>
            </a:pPr>
            <a:r>
              <a:rPr b="0" i="0" lang="en-US" sz="150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반복되는 침몽 세션 속에서 다이버는 실패를 잊고,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500"/>
              <a:buFont typeface="Noto Sans"/>
              <a:buNone/>
            </a:pPr>
            <a:r>
              <a:rPr b="0" i="0" lang="en-US" sz="150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관제사는 실패 로그를 기억한다.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ucid_assets_opt/main.jpg" id="72" name="Google Shape;72;p5"/>
          <p:cNvPicPr preferRelativeResize="0"/>
          <p:nvPr/>
        </p:nvPicPr>
        <p:blipFill rotWithShape="1">
          <a:blip r:embed="rId3">
            <a:alphaModFix/>
          </a:blip>
          <a:srcRect b="0" l="1" r="1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25098"/>
            </a:srgbClr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프로젝트 개요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서브컬처 캐릭터 구원과 PvE 익스트랙션을 결합한 P0 프로토타입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685800" y="1325880"/>
            <a:ext cx="4846320" cy="2743200"/>
          </a:xfrm>
          <a:prstGeom prst="roundRect">
            <a:avLst>
              <a:gd fmla="val 2667" name="adj"/>
            </a:avLst>
          </a:prstGeom>
          <a:solidFill>
            <a:srgbClr val="000000"/>
          </a:solidFill>
          <a:ln cap="flat" cmpd="sng" w="12700">
            <a:solidFill>
              <a:srgbClr val="324057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lucid_assets_opt/main.jpg" id="78" name="Google Shape;78;p5"/>
          <p:cNvPicPr preferRelativeResize="0"/>
          <p:nvPr/>
        </p:nvPicPr>
        <p:blipFill rotWithShape="1">
          <a:blip r:embed="rId3">
            <a:alphaModFix/>
          </a:blip>
          <a:srcRect b="127" l="0" r="0" t="127"/>
          <a:stretch/>
        </p:blipFill>
        <p:spPr>
          <a:xfrm>
            <a:off x="713232" y="1353312"/>
            <a:ext cx="4791456" cy="268833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/>
          <p:nvPr/>
        </p:nvSpPr>
        <p:spPr>
          <a:xfrm>
            <a:off x="713232" y="3685032"/>
            <a:ext cx="4791456" cy="329184"/>
          </a:xfrm>
          <a:prstGeom prst="rect">
            <a:avLst/>
          </a:prstGeom>
          <a:solidFill>
            <a:srgbClr val="000000">
              <a:alpha val="80000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822960" y="3776472"/>
            <a:ext cx="4572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메인 키비주얼 / 목표 감성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806440" y="1325880"/>
            <a:ext cx="5715000" cy="556260"/>
          </a:xfrm>
          <a:prstGeom prst="rect">
            <a:avLst/>
          </a:prstGeom>
          <a:solidFill>
            <a:srgbClr val="1B2236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5879592" y="1399032"/>
            <a:ext cx="1490472" cy="4465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항목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7479792" y="1399032"/>
            <a:ext cx="3968496" cy="4465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내용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806440" y="1882140"/>
            <a:ext cx="5715000" cy="556260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5879592" y="1955292"/>
            <a:ext cx="1490472" cy="4465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장르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7479792" y="1955292"/>
            <a:ext cx="3968496" cy="4465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2.5D 탑다운 PvE 익스트랙션 액션 + 서브컬처 캐릭터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806440" y="2438400"/>
            <a:ext cx="5715000" cy="55626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5879592" y="2511552"/>
            <a:ext cx="1490472" cy="4465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엔진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7479792" y="2511552"/>
            <a:ext cx="3968496" cy="4465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Unity 2022 URP / PC 프로토타입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5806440" y="2994660"/>
            <a:ext cx="5715000" cy="556260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5879592" y="3067812"/>
            <a:ext cx="1490472" cy="4465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핵심 검증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7479792" y="3067812"/>
            <a:ext cx="3968496" cy="4465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회수한 보상이 기억·동조율·다음 출격으로 연결되는가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806440" y="3550920"/>
            <a:ext cx="5715000" cy="55626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5879592" y="3624072"/>
            <a:ext cx="1490472" cy="4465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P0 범위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7479792" y="3624072"/>
            <a:ext cx="3968496" cy="4465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메인 다이버 1명 · 단일 세션 · 결과 정산 · 로비 복귀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806440" y="4107180"/>
            <a:ext cx="5715000" cy="556260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5879592" y="4180332"/>
            <a:ext cx="1490472" cy="4465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팀명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7479792" y="4180332"/>
            <a:ext cx="3968496" cy="4465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Team REMnants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868680" y="5166360"/>
            <a:ext cx="10424160" cy="731520"/>
          </a:xfrm>
          <a:prstGeom prst="roundRect">
            <a:avLst>
              <a:gd fmla="val 10000" name="adj"/>
            </a:avLst>
          </a:prstGeom>
          <a:solidFill>
            <a:srgbClr val="0D1020">
              <a:alpha val="94901"/>
            </a:srgbClr>
          </a:solidFill>
          <a:ln cap="flat" cmpd="sng" w="12700">
            <a:solidFill>
              <a:srgbClr val="9B5C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1069848" y="5330952"/>
            <a:ext cx="100218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게임의 목표는 “아이템 획득”이 아니라,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기억을 되찾아 다이버가 괴이로 변질되는 것을 막는 경험이다.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05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ucid_assets_opt/main.jpg" id="108" name="Google Shape;108;p6"/>
          <p:cNvPicPr preferRelativeResize="0"/>
          <p:nvPr/>
        </p:nvPicPr>
        <p:blipFill rotWithShape="1">
          <a:blip r:embed="rId3">
            <a:alphaModFix/>
          </a:blip>
          <a:srcRect b="0" l="1" r="1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54901"/>
            </a:srgbClr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137160" y="137160"/>
            <a:ext cx="11917375" cy="6583680"/>
          </a:xfrm>
          <a:prstGeom prst="rect">
            <a:avLst/>
          </a:prstGeom>
          <a:solidFill>
            <a:srgbClr val="05070D">
              <a:alpha val="0"/>
            </a:srgbClr>
          </a:solidFill>
          <a:ln cap="flat" cmpd="sng" w="12700">
            <a:solidFill>
              <a:srgbClr val="9B5C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685800" y="1051560"/>
            <a:ext cx="1371600" cy="292608"/>
          </a:xfrm>
          <a:prstGeom prst="roundRect">
            <a:avLst>
              <a:gd fmla="val 12500" name="adj"/>
            </a:avLst>
          </a:prstGeom>
          <a:solidFill>
            <a:srgbClr val="F2418D">
              <a:alpha val="92156"/>
            </a:srgbClr>
          </a:solidFill>
          <a:ln cap="flat" cmpd="sng" w="12700">
            <a:solidFill>
              <a:srgbClr val="F2418D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758952" y="1115568"/>
            <a:ext cx="12252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Noto San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PART 1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85800" y="192024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3200"/>
              <a:buFont typeface="Noto Sans"/>
              <a:buNone/>
            </a:pPr>
            <a:r>
              <a:rPr b="1" i="0" lang="en-US" sz="3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세계관과 플레이어 목적</a:t>
            </a:r>
            <a:endParaRPr b="0" i="0" sz="3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713232" y="27432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500"/>
              <a:buFont typeface="Noto Sans"/>
              <a:buNone/>
            </a:pPr>
            <a:r>
              <a:rPr b="0" i="0" lang="en-US" sz="150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왜 다이버를 구해야 하는가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06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ucid_assets_opt/main.jpg" id="122" name="Google Shape;122;p7"/>
          <p:cNvPicPr preferRelativeResize="0"/>
          <p:nvPr/>
        </p:nvPicPr>
        <p:blipFill rotWithShape="1">
          <a:blip r:embed="rId3">
            <a:alphaModFix/>
          </a:blip>
          <a:srcRect b="0" l="1" r="1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7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5070D">
              <a:alpha val="27840"/>
            </a:srgbClr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침몽도시란 무엇인가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꿈과 현실이 겹쳐진 반복 재난 구역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6492240" y="1097280"/>
            <a:ext cx="5074920" cy="2971800"/>
          </a:xfrm>
          <a:prstGeom prst="roundRect">
            <a:avLst>
              <a:gd fmla="val 2462" name="adj"/>
            </a:avLst>
          </a:prstGeom>
          <a:solidFill>
            <a:srgbClr val="000000"/>
          </a:solidFill>
          <a:ln cap="flat" cmpd="sng" w="12700">
            <a:solidFill>
              <a:srgbClr val="324057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lucid_assets_opt/main.jpg" id="128" name="Google Shape;128;p7"/>
          <p:cNvPicPr preferRelativeResize="0"/>
          <p:nvPr/>
        </p:nvPicPr>
        <p:blipFill rotWithShape="1">
          <a:blip r:embed="rId3">
            <a:alphaModFix/>
          </a:blip>
          <a:srcRect b="0" l="1597" r="1597" t="0"/>
          <a:stretch/>
        </p:blipFill>
        <p:spPr>
          <a:xfrm>
            <a:off x="6519672" y="1124712"/>
            <a:ext cx="5020056" cy="291693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/>
          <p:nvPr/>
        </p:nvSpPr>
        <p:spPr>
          <a:xfrm>
            <a:off x="6519672" y="3685032"/>
            <a:ext cx="5020056" cy="329184"/>
          </a:xfrm>
          <a:prstGeom prst="rect">
            <a:avLst/>
          </a:prstGeom>
          <a:solidFill>
            <a:srgbClr val="000000">
              <a:alpha val="80000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6629400" y="3776472"/>
            <a:ext cx="48006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침몽도시 비주얼 목표: 네온 / 악몽 / 보라색 균열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777240" y="1325880"/>
            <a:ext cx="544068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도시는 실패한 귀환, 잃어버린 기억, 반복된 죽음을 재료로 매 세션 재구성된다.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현실 무기는 몽막에 의해 무력화되고, 꿈속 심상무장만이 유효하다.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탈출 실패는 즉시 죽음이 아니라 강제 각성으로 처리되지만, 기억과 회수품은 유실된다.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반복 실패로 자아가 붕괴되면 다이버는 침몽도시의 괴이로 변질된다.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051560" y="5486400"/>
            <a:ext cx="10058400" cy="530352"/>
          </a:xfrm>
          <a:prstGeom prst="roundRect">
            <a:avLst>
              <a:gd fmla="val 13793" name="adj"/>
            </a:avLst>
          </a:prstGeom>
          <a:solidFill>
            <a:srgbClr val="0D1020">
              <a:alpha val="94901"/>
            </a:srgbClr>
          </a:solidFill>
          <a:ln cap="flat" cmpd="sng" w="12700">
            <a:solidFill>
              <a:srgbClr val="EF3340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1252728" y="5650992"/>
            <a:ext cx="9656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“구조하지 못하면, 다음 세션의 적이 된다.”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07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ucid_assets_opt/main.jpg" id="141" name="Google Shape;14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5" y="0"/>
            <a:ext cx="1219169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8"/>
          <p:cNvSpPr/>
          <p:nvPr/>
        </p:nvSpPr>
        <p:spPr>
          <a:xfrm>
            <a:off x="-15100" y="0"/>
            <a:ext cx="12191700" cy="6858000"/>
          </a:xfrm>
          <a:prstGeom prst="rect">
            <a:avLst/>
          </a:prstGeom>
          <a:solidFill>
            <a:srgbClr val="05070D">
              <a:alpha val="50199"/>
            </a:srgbClr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다이버란 무엇인가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전투원이기 전에, 아직 완전히 삼켜지지 않은 생존자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6" name="Google Shape;146;p8"/>
          <p:cNvCxnSpPr/>
          <p:nvPr/>
        </p:nvCxnSpPr>
        <p:spPr>
          <a:xfrm>
            <a:off x="3392424" y="2286000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9B5C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7" name="Google Shape;147;p8"/>
          <p:cNvCxnSpPr/>
          <p:nvPr/>
        </p:nvCxnSpPr>
        <p:spPr>
          <a:xfrm>
            <a:off x="6016752" y="2286000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9B5C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8" name="Google Shape;148;p8"/>
          <p:cNvCxnSpPr/>
          <p:nvPr/>
        </p:nvCxnSpPr>
        <p:spPr>
          <a:xfrm>
            <a:off x="8641080" y="2286000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9B5C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9" name="Google Shape;149;p8"/>
          <p:cNvSpPr/>
          <p:nvPr/>
        </p:nvSpPr>
        <p:spPr>
          <a:xfrm>
            <a:off x="914400" y="1828800"/>
            <a:ext cx="2459736" cy="914400"/>
          </a:xfrm>
          <a:prstGeom prst="roundRect">
            <a:avLst>
              <a:gd fmla="val 8000" name="adj"/>
            </a:avLst>
          </a:prstGeom>
          <a:solidFill>
            <a:srgbClr val="12172A"/>
          </a:solidFill>
          <a:ln cap="flat" cmpd="sng" w="12700">
            <a:solidFill>
              <a:srgbClr val="9B5C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960120" y="1901952"/>
            <a:ext cx="236829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침몽도시와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공명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3538728" y="1828800"/>
            <a:ext cx="2459736" cy="914400"/>
          </a:xfrm>
          <a:prstGeom prst="roundRect">
            <a:avLst>
              <a:gd fmla="val 8000" name="adj"/>
            </a:avLst>
          </a:prstGeom>
          <a:solidFill>
            <a:srgbClr val="12172A"/>
          </a:solidFill>
          <a:ln cap="flat" cmpd="sng" w="12700">
            <a:solidFill>
              <a:srgbClr val="9B5C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3584448" y="1901952"/>
            <a:ext cx="236829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심상무장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형성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6163056" y="1828800"/>
            <a:ext cx="2459736" cy="914400"/>
          </a:xfrm>
          <a:prstGeom prst="roundRect">
            <a:avLst>
              <a:gd fmla="val 8000" name="adj"/>
            </a:avLst>
          </a:prstGeom>
          <a:solidFill>
            <a:srgbClr val="12172A"/>
          </a:solidFill>
          <a:ln cap="flat" cmpd="sng" w="12700">
            <a:solidFill>
              <a:srgbClr val="9B5C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6208776" y="1901952"/>
            <a:ext cx="236829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기억 손상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진행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8787384" y="1828800"/>
            <a:ext cx="2459736" cy="914400"/>
          </a:xfrm>
          <a:prstGeom prst="roundRect">
            <a:avLst>
              <a:gd fmla="val 8000" name="adj"/>
            </a:avLst>
          </a:prstGeom>
          <a:solidFill>
            <a:srgbClr val="12172A"/>
          </a:solidFill>
          <a:ln cap="flat" cmpd="sng" w="12700">
            <a:solidFill>
              <a:srgbClr val="9B5C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8833104" y="1901952"/>
            <a:ext cx="236829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구조 실패 시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괴이화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1097280" y="3657600"/>
            <a:ext cx="9966960" cy="1051560"/>
          </a:xfrm>
          <a:prstGeom prst="roundRect">
            <a:avLst>
              <a:gd fmla="val 6957" name="adj"/>
            </a:avLst>
          </a:prstGeom>
          <a:solidFill>
            <a:srgbClr val="0D1020">
              <a:alpha val="94901"/>
            </a:srgbClr>
          </a:solidFill>
          <a:ln cap="flat" cmpd="sng" w="12700">
            <a:solidFill>
              <a:srgbClr val="44D7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1298448" y="3822192"/>
            <a:ext cx="956462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다이버 적합자는 축복이 아니라 위험 신호다.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도시와 깊게 연결되어 있기 때문에 싸울 수 있지만,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그만큼 침식될 가능성도 높다.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08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ucid_assets_opt/lobby.jpg" id="166" name="Google Shape;166;p9"/>
          <p:cNvPicPr preferRelativeResize="0"/>
          <p:nvPr/>
        </p:nvPicPr>
        <p:blipFill rotWithShape="1">
          <a:blip r:embed="rId3">
            <a:alphaModFix/>
          </a:blip>
          <a:srcRect b="0" l="1" r="1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20000"/>
            </a:srgbClr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관제사는 누구인가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REMnants 소속 링크 관제사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777240" y="1508760"/>
            <a:ext cx="3246120" cy="2880360"/>
          </a:xfrm>
          <a:prstGeom prst="roundRect">
            <a:avLst>
              <a:gd fmla="val 2540" name="adj"/>
            </a:avLst>
          </a:prstGeom>
          <a:solidFill>
            <a:srgbClr val="0F1424">
              <a:alpha val="90196"/>
            </a:srgbClr>
          </a:solidFill>
          <a:ln cap="flat" cmpd="sng" w="12700">
            <a:solidFill>
              <a:srgbClr val="44D7FF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1005840" y="1783080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귀환 신호를 듣는 사람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1005840" y="2423160"/>
            <a:ext cx="2788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다이버가 현실로 돌아올 수 있도록 링크를 유지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4572000" y="1508760"/>
            <a:ext cx="3246120" cy="2880360"/>
          </a:xfrm>
          <a:prstGeom prst="roundRect">
            <a:avLst>
              <a:gd fmla="val 2540" name="adj"/>
            </a:avLst>
          </a:prstGeom>
          <a:solidFill>
            <a:srgbClr val="0F1424">
              <a:alpha val="90196"/>
            </a:srgbClr>
          </a:solidFill>
          <a:ln cap="flat" cmpd="sng" w="12700">
            <a:solidFill>
              <a:srgbClr val="9B5CFF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4800600" y="1783080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C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9B5CFF"/>
                </a:solidFill>
                <a:latin typeface="Noto Sans"/>
                <a:ea typeface="Noto Sans"/>
                <a:cs typeface="Noto Sans"/>
                <a:sym typeface="Noto Sans"/>
              </a:rPr>
              <a:t>실패 로그를 기억하는 사람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4800600" y="2423160"/>
            <a:ext cx="2788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다이버가 잊어버린 반복 실패와 구조 시도를 기록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8366760" y="1508760"/>
            <a:ext cx="3246120" cy="2880360"/>
          </a:xfrm>
          <a:prstGeom prst="roundRect">
            <a:avLst>
              <a:gd fmla="val 2540" name="adj"/>
            </a:avLst>
          </a:prstGeom>
          <a:solidFill>
            <a:srgbClr val="0F1424">
              <a:alpha val="90196"/>
            </a:srgbClr>
          </a:solidFill>
          <a:ln cap="flat" cmpd="sng" w="12700">
            <a:solidFill>
              <a:srgbClr val="F2418D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8595360" y="1783080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418D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2418D"/>
                </a:solidFill>
                <a:latin typeface="Noto Sans"/>
                <a:ea typeface="Noto Sans"/>
                <a:cs typeface="Noto Sans"/>
                <a:sym typeface="Noto Sans"/>
              </a:rPr>
              <a:t>다시 들어가게 만드는 사람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8595360" y="2423160"/>
            <a:ext cx="2788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침몽도시에 남은 기억 파편과 잔류 신호를 추적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1097280" y="5074920"/>
            <a:ext cx="9966960" cy="713232"/>
          </a:xfrm>
          <a:prstGeom prst="roundRect">
            <a:avLst>
              <a:gd fmla="val 10256" name="adj"/>
            </a:avLst>
          </a:prstGeom>
          <a:solidFill>
            <a:srgbClr val="0D1020">
              <a:alpha val="94901"/>
            </a:srgbClr>
          </a:solidFill>
          <a:ln cap="flat" cmpd="sng" w="12700">
            <a:solidFill>
              <a:srgbClr val="F7C66D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1298448" y="5239512"/>
            <a:ext cx="95646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관제사는 “착해서” 구하는 것이 아니라,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그 신호를 듣고 붙잡을 수 있는 유일한 사람이다.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09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D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관제사의 책임은 어디서 오는가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이타심이 아니라 유일성·기록·잊힌 약속에서 발생한다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3" name="Google Shape;193;p10"/>
          <p:cNvCxnSpPr/>
          <p:nvPr/>
        </p:nvCxnSpPr>
        <p:spPr>
          <a:xfrm>
            <a:off x="1828800" y="2148840"/>
            <a:ext cx="1828800" cy="0"/>
          </a:xfrm>
          <a:prstGeom prst="straightConnector1">
            <a:avLst/>
          </a:prstGeom>
          <a:noFill/>
          <a:ln cap="flat" cmpd="sng" w="12700">
            <a:solidFill>
              <a:srgbClr val="9B5C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4" name="Google Shape;194;p10"/>
          <p:cNvCxnSpPr/>
          <p:nvPr/>
        </p:nvCxnSpPr>
        <p:spPr>
          <a:xfrm>
            <a:off x="5074920" y="2148840"/>
            <a:ext cx="1828800" cy="0"/>
          </a:xfrm>
          <a:prstGeom prst="straightConnector1">
            <a:avLst/>
          </a:prstGeom>
          <a:noFill/>
          <a:ln cap="flat" cmpd="sng" w="12700">
            <a:solidFill>
              <a:srgbClr val="9B5C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5" name="Google Shape;195;p10"/>
          <p:cNvCxnSpPr/>
          <p:nvPr/>
        </p:nvCxnSpPr>
        <p:spPr>
          <a:xfrm>
            <a:off x="8366760" y="2148840"/>
            <a:ext cx="1737360" cy="0"/>
          </a:xfrm>
          <a:prstGeom prst="straightConnector1">
            <a:avLst/>
          </a:prstGeom>
          <a:noFill/>
          <a:ln cap="flat" cmpd="sng" w="12700">
            <a:solidFill>
              <a:srgbClr val="9B5C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6" name="Google Shape;196;p10"/>
          <p:cNvSpPr/>
          <p:nvPr/>
        </p:nvSpPr>
        <p:spPr>
          <a:xfrm>
            <a:off x="731520" y="1691640"/>
            <a:ext cx="2057400" cy="914400"/>
          </a:xfrm>
          <a:prstGeom prst="roundRect">
            <a:avLst>
              <a:gd fmla="val 8000" name="adj"/>
            </a:avLst>
          </a:prstGeom>
          <a:solidFill>
            <a:srgbClr val="151B2B"/>
          </a:solidFill>
          <a:ln cap="flat" cmpd="sng" w="12700">
            <a:solidFill>
              <a:srgbClr val="EF334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777240" y="1764792"/>
            <a:ext cx="19659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다이버는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실패를 잊는다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3657600" y="1691640"/>
            <a:ext cx="2057400" cy="914400"/>
          </a:xfrm>
          <a:prstGeom prst="roundRect">
            <a:avLst>
              <a:gd fmla="val 8000" name="adj"/>
            </a:avLst>
          </a:prstGeom>
          <a:solidFill>
            <a:srgbClr val="151B2B"/>
          </a:solidFill>
          <a:ln cap="flat" cmpd="sng" w="12700">
            <a:solidFill>
              <a:srgbClr val="9B5C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3703320" y="1764792"/>
            <a:ext cx="19659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침몽도시는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기억을 삼킨다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6583680" y="1691640"/>
            <a:ext cx="2057400" cy="914400"/>
          </a:xfrm>
          <a:prstGeom prst="roundRect">
            <a:avLst>
              <a:gd fmla="val 8000" name="adj"/>
            </a:avLst>
          </a:prstGeom>
          <a:solidFill>
            <a:srgbClr val="151B2B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6629400" y="1764792"/>
            <a:ext cx="19659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관제 로그만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남는다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9372600" y="1691640"/>
            <a:ext cx="2057400" cy="914400"/>
          </a:xfrm>
          <a:prstGeom prst="roundRect">
            <a:avLst>
              <a:gd fmla="val 8000" name="adj"/>
            </a:avLst>
          </a:prstGeom>
          <a:solidFill>
            <a:srgbClr val="151B2B"/>
          </a:solidFill>
          <a:ln cap="flat" cmpd="sng" w="12700">
            <a:solidFill>
              <a:srgbClr val="F7C66D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9418320" y="1764792"/>
            <a:ext cx="19659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관제사는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다시 들어간다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1188720" y="3840480"/>
            <a:ext cx="9829800" cy="804672"/>
          </a:xfrm>
          <a:prstGeom prst="roundRect">
            <a:avLst>
              <a:gd fmla="val 9091" name="adj"/>
            </a:avLst>
          </a:prstGeom>
          <a:solidFill>
            <a:srgbClr val="0D1020">
              <a:alpha val="94901"/>
            </a:srgbClr>
          </a:solidFill>
          <a:ln cap="flat" cmpd="sng" w="12700">
            <a:solidFill>
              <a:srgbClr val="F2418D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1389888" y="4005072"/>
            <a:ext cx="942746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900"/>
              <a:buFont typeface="Noto Sans"/>
              <a:buNone/>
            </a:pPr>
            <a:r>
              <a:rPr b="1" i="0" lang="en-US" sz="19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그들은 사라지는 순간을 기억하지 못하지만,</a:t>
            </a:r>
            <a:endParaRPr b="0" i="0" sz="1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900"/>
              <a:buFont typeface="Noto Sans"/>
              <a:buNone/>
            </a:pPr>
            <a:r>
              <a:rPr b="1" i="0" lang="en-US" sz="19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관제사는 마지막 귀환 신호를 들었다.</a:t>
            </a:r>
            <a:endParaRPr b="0" i="0" sz="19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ucid_assets_opt/main.jpg" id="213" name="Google Shape;213;p11"/>
          <p:cNvPicPr preferRelativeResize="0"/>
          <p:nvPr/>
        </p:nvPicPr>
        <p:blipFill rotWithShape="1">
          <a:blip r:embed="rId3">
            <a:alphaModFix/>
          </a:blip>
          <a:srcRect b="0" l="1" r="1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21960"/>
            </a:srgbClr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왜 다이버를 모집하는가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캐릭터 수집을 “귀환 신호 구조”로 재정의</a:t>
            </a:r>
            <a:endParaRPr b="0" i="0" sz="950" u="none" cap="none" strike="noStrike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777240" y="1325880"/>
            <a:ext cx="10607040" cy="676656"/>
          </a:xfrm>
          <a:prstGeom prst="rect">
            <a:avLst/>
          </a:prstGeom>
          <a:solidFill>
            <a:srgbClr val="1B2236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850392" y="1399032"/>
            <a:ext cx="445129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1080"/>
              <a:buFont typeface="Noto Sans"/>
              <a:buNone/>
            </a:pPr>
            <a:r>
              <a:rPr b="1" i="0" lang="en-US" sz="1080" u="none" cap="none" strike="noStrik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일반 수집형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5411419" y="1399032"/>
            <a:ext cx="589970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1080"/>
              <a:buFont typeface="Noto Sans"/>
              <a:buNone/>
            </a:pPr>
            <a:r>
              <a:rPr b="1" i="0" lang="en-US" sz="1080" u="none" cap="none" strike="noStrik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루시드 다이버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777240" y="2002536"/>
            <a:ext cx="10607040" cy="676656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850392" y="2075688"/>
            <a:ext cx="445129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캐릭터를 획득한다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5411419" y="2075688"/>
            <a:ext cx="589970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침몽도시에 남겨진 귀환 신호를 발견한다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777240" y="2679192"/>
            <a:ext cx="10607040" cy="676656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850392" y="2752344"/>
            <a:ext cx="445129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전투력을 강화한다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5411419" y="2752344"/>
            <a:ext cx="589970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자아 붕괴와 괴이화를 막는다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777240" y="3355848"/>
            <a:ext cx="10607040" cy="676656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850392" y="3429000"/>
            <a:ext cx="445129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호감도를 올린다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5411419" y="3429000"/>
            <a:ext cx="589970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귀환 링크의 안정도를 높인다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777240" y="4032504"/>
            <a:ext cx="10607040" cy="676656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850392" y="4105656"/>
            <a:ext cx="445129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스토리를 해금한다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5411419" y="4105656"/>
            <a:ext cx="589970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080"/>
              <a:buFont typeface="Noto Sans"/>
              <a:buNone/>
            </a:pPr>
            <a:r>
              <a:rPr b="0" i="0" lang="en-US" sz="108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구원의 과정을 확인한다</a:t>
            </a:r>
            <a:endParaRPr b="0" i="0" sz="10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1143000" y="5257800"/>
            <a:ext cx="9875520" cy="713232"/>
          </a:xfrm>
          <a:prstGeom prst="roundRect">
            <a:avLst>
              <a:gd fmla="val 10256" name="adj"/>
            </a:avLst>
          </a:prstGeom>
          <a:solidFill>
            <a:srgbClr val="0D1020">
              <a:alpha val="94901"/>
            </a:srgbClr>
          </a:solidFill>
          <a:ln cap="flat" cmpd="sng" w="12700">
            <a:solidFill>
              <a:srgbClr val="44D7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1344168" y="5422392"/>
            <a:ext cx="9473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모집은 전투 유닛 획득이 아니라,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아직 완전히 삼켜지지 않은 사람에게 링크를 거는 구조다.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ucid_assets_opt/ingameA.jpg" id="242" name="Google Shape;242;p12"/>
          <p:cNvPicPr preferRelativeResize="0"/>
          <p:nvPr/>
        </p:nvPicPr>
        <p:blipFill rotWithShape="1">
          <a:blip r:embed="rId3">
            <a:alphaModFix/>
          </a:blip>
          <a:srcRect b="0" l="10070" r="1007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30196"/>
            </a:srgbClr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왜 다시 출격하는가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출격은 파밍이 아니라, 실패한 귀환 로그를 따라 들어가는 구조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7" name="Google Shape;247;p12"/>
          <p:cNvCxnSpPr/>
          <p:nvPr/>
        </p:nvCxnSpPr>
        <p:spPr>
          <a:xfrm>
            <a:off x="3415284" y="2148840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8" name="Google Shape;248;p12"/>
          <p:cNvCxnSpPr/>
          <p:nvPr/>
        </p:nvCxnSpPr>
        <p:spPr>
          <a:xfrm>
            <a:off x="6016752" y="2148840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9" name="Google Shape;249;p12"/>
          <p:cNvCxnSpPr/>
          <p:nvPr/>
        </p:nvCxnSpPr>
        <p:spPr>
          <a:xfrm>
            <a:off x="8618220" y="2148840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0" name="Google Shape;250;p12"/>
          <p:cNvSpPr/>
          <p:nvPr/>
        </p:nvSpPr>
        <p:spPr>
          <a:xfrm>
            <a:off x="960120" y="1691640"/>
            <a:ext cx="2436876" cy="914400"/>
          </a:xfrm>
          <a:prstGeom prst="roundRect">
            <a:avLst>
              <a:gd fmla="val 8000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"/>
          <p:cNvSpPr/>
          <p:nvPr/>
        </p:nvSpPr>
        <p:spPr>
          <a:xfrm>
            <a:off x="1005840" y="1764792"/>
            <a:ext cx="234543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귀환 신호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발견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3561588" y="1691640"/>
            <a:ext cx="2436876" cy="914400"/>
          </a:xfrm>
          <a:prstGeom prst="roundRect">
            <a:avLst>
              <a:gd fmla="val 8000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3607308" y="1764792"/>
            <a:ext cx="234543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기억 파편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회수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6163056" y="1691640"/>
            <a:ext cx="2436876" cy="914400"/>
          </a:xfrm>
          <a:prstGeom prst="roundRect">
            <a:avLst>
              <a:gd fmla="val 8000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6208776" y="1764792"/>
            <a:ext cx="234543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동조율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상승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8764524" y="1691640"/>
            <a:ext cx="2436876" cy="914400"/>
          </a:xfrm>
          <a:prstGeom prst="roundRect">
            <a:avLst>
              <a:gd fmla="val 8000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8810244" y="1764792"/>
            <a:ext cx="234543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구원에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가까워짐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1051560" y="3886200"/>
            <a:ext cx="10058400" cy="914400"/>
          </a:xfrm>
          <a:prstGeom prst="roundRect">
            <a:avLst>
              <a:gd fmla="val 8000" name="adj"/>
            </a:avLst>
          </a:prstGeom>
          <a:solidFill>
            <a:srgbClr val="0D1020">
              <a:alpha val="94901"/>
            </a:srgbClr>
          </a:solidFill>
          <a:ln cap="flat" cmpd="sng" w="12700">
            <a:solidFill>
              <a:srgbClr val="F2418D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1252728" y="4050792"/>
            <a:ext cx="96560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800"/>
              <a:buFont typeface="Noto Sans"/>
              <a:buNone/>
            </a:pPr>
            <a:r>
              <a:rPr b="1" i="0" lang="en-US" sz="18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실패하면 아이템만 잃는 것이 아니다.</a:t>
            </a:r>
            <a:endParaRPr b="0" i="0" sz="1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800"/>
              <a:buFont typeface="Noto Sans"/>
              <a:buNone/>
            </a:pPr>
            <a:r>
              <a:rPr b="1" i="0" lang="en-US" sz="18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이번에 되찾을 수 있었던 기억이 다시 꿈속으로 가라앉는다.</a:t>
            </a:r>
            <a:endParaRPr b="0" i="0" sz="1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12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ucid_assets_opt/main.jpg" id="267" name="Google Shape;267;p13"/>
          <p:cNvPicPr preferRelativeResize="0"/>
          <p:nvPr/>
        </p:nvPicPr>
        <p:blipFill rotWithShape="1">
          <a:blip r:embed="rId3">
            <a:alphaModFix/>
          </a:blip>
          <a:srcRect b="0" l="1" r="1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54901"/>
            </a:srgbClr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137160" y="137160"/>
            <a:ext cx="11917375" cy="6583680"/>
          </a:xfrm>
          <a:prstGeom prst="rect">
            <a:avLst/>
          </a:prstGeom>
          <a:solidFill>
            <a:srgbClr val="05070D">
              <a:alpha val="0"/>
            </a:srgbClr>
          </a:solidFill>
          <a:ln cap="flat" cmpd="sng" w="12700">
            <a:solidFill>
              <a:srgbClr val="9B5C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685800" y="1051560"/>
            <a:ext cx="1371600" cy="292608"/>
          </a:xfrm>
          <a:prstGeom prst="roundRect">
            <a:avLst>
              <a:gd fmla="val 12500" name="adj"/>
            </a:avLst>
          </a:prstGeom>
          <a:solidFill>
            <a:srgbClr val="F2418D">
              <a:alpha val="92156"/>
            </a:srgbClr>
          </a:solidFill>
          <a:ln cap="flat" cmpd="sng" w="12700">
            <a:solidFill>
              <a:srgbClr val="F2418D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758952" y="1115568"/>
            <a:ext cx="12252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Noto San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PART 2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685800" y="192024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3200"/>
              <a:buFont typeface="Noto Sans"/>
              <a:buNone/>
            </a:pPr>
            <a:r>
              <a:rPr b="1" i="0" lang="en-US" sz="3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메인 다이버: 채린</a:t>
            </a:r>
            <a:endParaRPr b="0" i="0" sz="3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713232" y="27432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500"/>
              <a:buFont typeface="Noto Sans"/>
              <a:buNone/>
            </a:pPr>
            <a:r>
              <a:rPr b="0" i="0" lang="en-US" sz="150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최초로 불완전 귀환한 다이버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13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D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4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채린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최초로 불완전 귀환에 성공한 메인 다이버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"/>
          <p:cNvSpPr/>
          <p:nvPr/>
        </p:nvSpPr>
        <p:spPr>
          <a:xfrm>
            <a:off x="640080" y="1234440"/>
            <a:ext cx="5303520" cy="4800600"/>
          </a:xfrm>
          <a:prstGeom prst="roundRect">
            <a:avLst>
              <a:gd fmla="val 1524" name="adj"/>
            </a:avLst>
          </a:prstGeom>
          <a:solidFill>
            <a:srgbClr val="000000"/>
          </a:solidFill>
          <a:ln cap="flat" cmpd="sng" w="12700">
            <a:solidFill>
              <a:srgbClr val="324057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"/>
          <p:cNvSpPr/>
          <p:nvPr/>
        </p:nvSpPr>
        <p:spPr>
          <a:xfrm>
            <a:off x="667512" y="5650992"/>
            <a:ext cx="5248656" cy="329184"/>
          </a:xfrm>
          <a:prstGeom prst="rect">
            <a:avLst/>
          </a:prstGeom>
          <a:solidFill>
            <a:srgbClr val="000000">
              <a:alpha val="80000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"/>
          <p:cNvSpPr/>
          <p:nvPr/>
        </p:nvSpPr>
        <p:spPr>
          <a:xfrm>
            <a:off x="777240" y="5742432"/>
            <a:ext cx="5029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P0 메인 다이버: 채린 / 로비 목표 비주얼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6172200" y="1234440"/>
            <a:ext cx="5257800" cy="4480560"/>
          </a:xfrm>
          <a:prstGeom prst="roundRect">
            <a:avLst>
              <a:gd fmla="val 1633" name="adj"/>
            </a:avLst>
          </a:prstGeom>
          <a:solidFill>
            <a:srgbClr val="0E1322">
              <a:alpha val="90196"/>
            </a:srgbClr>
          </a:solidFill>
          <a:ln cap="flat" cmpd="sng" w="12700">
            <a:solidFill>
              <a:srgbClr val="9B5CFF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4"/>
          <p:cNvSpPr/>
          <p:nvPr/>
        </p:nvSpPr>
        <p:spPr>
          <a:xfrm>
            <a:off x="6446520" y="15544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CFF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9B5CFF"/>
                </a:solidFill>
                <a:latin typeface="Noto Sans"/>
                <a:ea typeface="Noto Sans"/>
                <a:cs typeface="Noto Sans"/>
                <a:sym typeface="Noto Sans"/>
              </a:rPr>
              <a:t>핵심 키워드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6446520" y="2057400"/>
            <a:ext cx="46634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0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방어적 불신: “직접 확인하지 않은 정보는 나를 죽일 수 있다.”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0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깨진 안경 렌즈가 루시드 결정화된 기억 파편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0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관제사의 목소리에 대한 설명할 수 없는 기시감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0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P0에서는 스탠딩·대사·심상 기록 01로 감정선을 검증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14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ucid_assets_opt/record.jpg" id="298" name="Google Shape;298;p15"/>
          <p:cNvPicPr preferRelativeResize="0"/>
          <p:nvPr/>
        </p:nvPicPr>
        <p:blipFill rotWithShape="1">
          <a:blip r:embed="rId3">
            <a:alphaModFix/>
          </a:blip>
          <a:srcRect b="0" l="1" r="1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18039"/>
            </a:srgbClr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5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채린과 관제사의 관계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채린은 기억하지 못하지만, 관제사는 실패 로그를 기억한다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"/>
          <p:cNvSpPr/>
          <p:nvPr/>
        </p:nvSpPr>
        <p:spPr>
          <a:xfrm>
            <a:off x="914400" y="1325880"/>
            <a:ext cx="4663440" cy="4114800"/>
          </a:xfrm>
          <a:prstGeom prst="roundRect">
            <a:avLst>
              <a:gd fmla="val 1778" name="adj"/>
            </a:avLst>
          </a:prstGeom>
          <a:solidFill>
            <a:srgbClr val="0E111C">
              <a:alpha val="90196"/>
            </a:srgbClr>
          </a:solidFill>
          <a:ln cap="flat" cmpd="sng" w="12700">
            <a:solidFill>
              <a:srgbClr val="EF3340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5"/>
          <p:cNvSpPr/>
          <p:nvPr/>
        </p:nvSpPr>
        <p:spPr>
          <a:xfrm>
            <a:off x="1234440" y="166420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3340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EF3340"/>
                </a:solidFill>
                <a:latin typeface="Noto Sans"/>
                <a:ea typeface="Noto Sans"/>
                <a:cs typeface="Noto Sans"/>
                <a:sym typeface="Noto Sans"/>
              </a:rPr>
              <a:t>관제 로그: CHR-01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1234440" y="224028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동일 대상 귀환 시도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3886200" y="224028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17회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1234440" y="280720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강제 각성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3886200" y="28072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16회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1234440" y="3374136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최종 귀환 성공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0" name="Google Shape;310;p15"/>
          <p:cNvSpPr/>
          <p:nvPr/>
        </p:nvSpPr>
        <p:spPr>
          <a:xfrm>
            <a:off x="3886200" y="337413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1회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1" name="Google Shape;311;p15"/>
          <p:cNvSpPr/>
          <p:nvPr/>
        </p:nvSpPr>
        <p:spPr>
          <a:xfrm>
            <a:off x="1234440" y="3941064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마지막 링크 유지자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3886200" y="394106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관제사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5989320" y="1874520"/>
            <a:ext cx="5303520" cy="1234440"/>
          </a:xfrm>
          <a:prstGeom prst="roundRect">
            <a:avLst>
              <a:gd fmla="val 5926" name="adj"/>
            </a:avLst>
          </a:prstGeom>
          <a:solidFill>
            <a:srgbClr val="0D1020">
              <a:alpha val="94901"/>
            </a:srgbClr>
          </a:solidFill>
          <a:ln cap="flat" cmpd="sng" w="12700">
            <a:solidFill>
              <a:srgbClr val="9B5C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5"/>
          <p:cNvSpPr/>
          <p:nvPr/>
        </p:nvSpPr>
        <p:spPr>
          <a:xfrm>
            <a:off x="6190488" y="2039112"/>
            <a:ext cx="4901184" cy="905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“기억은 안 나. 그런데…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네가 날 놓친 적 없다는 건 알겠어.”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5" name="Google Shape;315;p15"/>
          <p:cNvSpPr/>
          <p:nvPr/>
        </p:nvSpPr>
        <p:spPr>
          <a:xfrm>
            <a:off x="6172200" y="397764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300"/>
              <a:buFont typeface="Noto Sans"/>
              <a:buNone/>
            </a:pPr>
            <a:r>
              <a:rPr b="0" i="0" lang="en-US" sz="130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P0의 개인 심상 기록 01은 이 로그의 첫 조각을 열람하는 보상으로 작동한다.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15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D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6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동조율로 표현되는 감정 변화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호감도가 아니라, 귀환 링크 안정도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6"/>
          <p:cNvSpPr/>
          <p:nvPr/>
        </p:nvSpPr>
        <p:spPr>
          <a:xfrm>
            <a:off x="731520" y="1554480"/>
            <a:ext cx="2514600" cy="2971800"/>
          </a:xfrm>
          <a:prstGeom prst="roundRect">
            <a:avLst>
              <a:gd fmla="val 2909" name="adj"/>
            </a:avLst>
          </a:prstGeom>
          <a:solidFill>
            <a:srgbClr val="111827">
              <a:alpha val="90196"/>
            </a:srgbClr>
          </a:solidFill>
          <a:ln cap="flat" cmpd="sng" w="12700">
            <a:solidFill>
              <a:srgbClr val="EF3340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"/>
          <p:cNvSpPr/>
          <p:nvPr/>
        </p:nvSpPr>
        <p:spPr>
          <a:xfrm>
            <a:off x="914400" y="18288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3340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EF3340"/>
                </a:solidFill>
                <a:latin typeface="Noto Sans"/>
                <a:ea typeface="Noto Sans"/>
                <a:cs typeface="Noto Sans"/>
                <a:sym typeface="Noto Sans"/>
              </a:rPr>
              <a:t>최초 링크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960120" y="2514600"/>
            <a:ext cx="2057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“너를 믿으라고?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내가 기억도 못 하는 사람을?”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3611880" y="1554480"/>
            <a:ext cx="2514600" cy="2971800"/>
          </a:xfrm>
          <a:prstGeom prst="roundRect">
            <a:avLst>
              <a:gd fmla="val 2909" name="adj"/>
            </a:avLst>
          </a:prstGeom>
          <a:solidFill>
            <a:srgbClr val="111827">
              <a:alpha val="90196"/>
            </a:srgbClr>
          </a:solidFill>
          <a:ln cap="flat" cmpd="sng" w="12700">
            <a:solidFill>
              <a:srgbClr val="9B5CFF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6"/>
          <p:cNvSpPr/>
          <p:nvPr/>
        </p:nvSpPr>
        <p:spPr>
          <a:xfrm>
            <a:off x="3794760" y="18288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5CFF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9B5CFF"/>
                </a:solidFill>
                <a:latin typeface="Noto Sans"/>
                <a:ea typeface="Noto Sans"/>
                <a:cs typeface="Noto Sans"/>
                <a:sym typeface="Noto Sans"/>
              </a:rPr>
              <a:t>기억 파편 회수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3840480" y="2514600"/>
            <a:ext cx="2057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“이 조각…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왜 이렇게 익숙하지?”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3" name="Google Shape;333;p16"/>
          <p:cNvSpPr/>
          <p:nvPr/>
        </p:nvSpPr>
        <p:spPr>
          <a:xfrm>
            <a:off x="6492240" y="1554480"/>
            <a:ext cx="2514600" cy="2971800"/>
          </a:xfrm>
          <a:prstGeom prst="roundRect">
            <a:avLst>
              <a:gd fmla="val 2909" name="adj"/>
            </a:avLst>
          </a:prstGeom>
          <a:solidFill>
            <a:srgbClr val="111827">
              <a:alpha val="90196"/>
            </a:srgbClr>
          </a:solidFill>
          <a:ln cap="flat" cmpd="sng" w="12700">
            <a:solidFill>
              <a:srgbClr val="44D7FF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6"/>
          <p:cNvSpPr/>
          <p:nvPr/>
        </p:nvSpPr>
        <p:spPr>
          <a:xfrm>
            <a:off x="6675120" y="18288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동조율 상승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6720840" y="2514600"/>
            <a:ext cx="2057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“네 목소리,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처음 듣는 게 아닌 것 같아.”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9372600" y="1554480"/>
            <a:ext cx="2514600" cy="2971800"/>
          </a:xfrm>
          <a:prstGeom prst="roundRect">
            <a:avLst>
              <a:gd fmla="val 2909" name="adj"/>
            </a:avLst>
          </a:prstGeom>
          <a:solidFill>
            <a:srgbClr val="111827">
              <a:alpha val="90196"/>
            </a:srgbClr>
          </a:solidFill>
          <a:ln cap="flat" cmpd="sng" w="12700">
            <a:solidFill>
              <a:srgbClr val="F7C66D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/>
          <p:nvPr/>
        </p:nvSpPr>
        <p:spPr>
          <a:xfrm>
            <a:off x="9555480" y="182880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C66D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F7C66D"/>
                </a:solidFill>
                <a:latin typeface="Noto Sans"/>
                <a:ea typeface="Noto Sans"/>
                <a:cs typeface="Noto Sans"/>
                <a:sym typeface="Noto Sans"/>
              </a:rPr>
              <a:t>기록 해금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9601200" y="2514600"/>
            <a:ext cx="2057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“기억났어.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50"/>
              <a:buFont typeface="Noto Sans"/>
              <a:buNone/>
            </a:pPr>
            <a:r>
              <a:rPr b="0" i="0" lang="en-US" sz="12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너, 그때도 거기 있었지.”</a:t>
            </a:r>
            <a:endParaRPr b="0" i="0" sz="12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1371600" y="5212080"/>
            <a:ext cx="9509760" cy="548640"/>
          </a:xfrm>
          <a:prstGeom prst="roundRect">
            <a:avLst>
              <a:gd fmla="val 13333" name="adj"/>
            </a:avLst>
          </a:prstGeom>
          <a:solidFill>
            <a:srgbClr val="0D1020">
              <a:alpha val="94901"/>
            </a:srgbClr>
          </a:solidFill>
          <a:ln cap="flat" cmpd="sng" w="12700">
            <a:solidFill>
              <a:srgbClr val="44D7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6"/>
          <p:cNvSpPr/>
          <p:nvPr/>
        </p:nvSpPr>
        <p:spPr>
          <a:xfrm>
            <a:off x="1572768" y="5376672"/>
            <a:ext cx="910742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P0에서는 Lv.1 도달과 개인 심상 기록 01 해금까지만 구현한다.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1" name="Google Shape;341;p16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ucid_assets_opt/main.jpg" id="348" name="Google Shape;348;p17"/>
          <p:cNvPicPr preferRelativeResize="0"/>
          <p:nvPr/>
        </p:nvPicPr>
        <p:blipFill rotWithShape="1">
          <a:blip r:embed="rId3">
            <a:alphaModFix/>
          </a:blip>
          <a:srcRect b="0" l="1" r="1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20000"/>
            </a:srgbClr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구원된 다이버가 다시 다이브하는 이유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명령이 아니라, 자신이 구조받았기 때문에 하는 선택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3" name="Google Shape;353;p17"/>
          <p:cNvCxnSpPr/>
          <p:nvPr/>
        </p:nvCxnSpPr>
        <p:spPr>
          <a:xfrm>
            <a:off x="3369564" y="2286000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F7C66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4" name="Google Shape;354;p17"/>
          <p:cNvCxnSpPr/>
          <p:nvPr/>
        </p:nvCxnSpPr>
        <p:spPr>
          <a:xfrm>
            <a:off x="5971032" y="2286000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F7C66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5" name="Google Shape;355;p17"/>
          <p:cNvCxnSpPr/>
          <p:nvPr/>
        </p:nvCxnSpPr>
        <p:spPr>
          <a:xfrm>
            <a:off x="8572500" y="2286000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F7C66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6" name="Google Shape;356;p17"/>
          <p:cNvSpPr/>
          <p:nvPr/>
        </p:nvSpPr>
        <p:spPr>
          <a:xfrm>
            <a:off x="914400" y="1828800"/>
            <a:ext cx="2436876" cy="914400"/>
          </a:xfrm>
          <a:prstGeom prst="roundRect">
            <a:avLst>
              <a:gd fmla="val 8000" name="adj"/>
            </a:avLst>
          </a:prstGeom>
          <a:solidFill>
            <a:srgbClr val="12172A"/>
          </a:solidFill>
          <a:ln cap="flat" cmpd="sng" w="12700">
            <a:solidFill>
              <a:srgbClr val="F7C66D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7"/>
          <p:cNvSpPr/>
          <p:nvPr/>
        </p:nvSpPr>
        <p:spPr>
          <a:xfrm>
            <a:off x="960120" y="1901952"/>
            <a:ext cx="234543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자신의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기억 복구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3515868" y="1828800"/>
            <a:ext cx="2436876" cy="914400"/>
          </a:xfrm>
          <a:prstGeom prst="roundRect">
            <a:avLst>
              <a:gd fmla="val 8000" name="adj"/>
            </a:avLst>
          </a:prstGeom>
          <a:solidFill>
            <a:srgbClr val="12172A"/>
          </a:solidFill>
          <a:ln cap="flat" cmpd="sng" w="12700">
            <a:solidFill>
              <a:srgbClr val="F7C66D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7"/>
          <p:cNvSpPr/>
          <p:nvPr/>
        </p:nvSpPr>
        <p:spPr>
          <a:xfrm>
            <a:off x="3561588" y="1901952"/>
            <a:ext cx="234543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침몽의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공포를 인지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6117336" y="1828800"/>
            <a:ext cx="2436876" cy="914400"/>
          </a:xfrm>
          <a:prstGeom prst="roundRect">
            <a:avLst>
              <a:gd fmla="val 8000" name="adj"/>
            </a:avLst>
          </a:prstGeom>
          <a:solidFill>
            <a:srgbClr val="12172A"/>
          </a:solidFill>
          <a:ln cap="flat" cmpd="sng" w="12700">
            <a:solidFill>
              <a:srgbClr val="F7C66D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7"/>
          <p:cNvSpPr/>
          <p:nvPr/>
        </p:nvSpPr>
        <p:spPr>
          <a:xfrm>
            <a:off x="6163056" y="1901952"/>
            <a:ext cx="234543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다른 잔류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신호 감지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2" name="Google Shape;362;p17"/>
          <p:cNvSpPr/>
          <p:nvPr/>
        </p:nvSpPr>
        <p:spPr>
          <a:xfrm>
            <a:off x="8718804" y="1828800"/>
            <a:ext cx="2436876" cy="914400"/>
          </a:xfrm>
          <a:prstGeom prst="roundRect">
            <a:avLst>
              <a:gd fmla="val 8000" name="adj"/>
            </a:avLst>
          </a:prstGeom>
          <a:solidFill>
            <a:srgbClr val="12172A"/>
          </a:solidFill>
          <a:ln cap="flat" cmpd="sng" w="12700">
            <a:solidFill>
              <a:srgbClr val="F7C66D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7"/>
          <p:cNvSpPr/>
          <p:nvPr/>
        </p:nvSpPr>
        <p:spPr>
          <a:xfrm>
            <a:off x="8764524" y="1901952"/>
            <a:ext cx="234543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관제사와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다시 다이브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1143000" y="3977640"/>
            <a:ext cx="9921240" cy="914400"/>
          </a:xfrm>
          <a:prstGeom prst="roundRect">
            <a:avLst>
              <a:gd fmla="val 8000" name="adj"/>
            </a:avLst>
          </a:prstGeom>
          <a:solidFill>
            <a:srgbClr val="0D1020">
              <a:alpha val="94901"/>
            </a:srgbClr>
          </a:solidFill>
          <a:ln cap="flat" cmpd="sng" w="12700">
            <a:solidFill>
              <a:srgbClr val="9B5C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7"/>
          <p:cNvSpPr/>
          <p:nvPr/>
        </p:nvSpPr>
        <p:spPr>
          <a:xfrm>
            <a:off x="1344168" y="4142232"/>
            <a:ext cx="951890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800"/>
              <a:buFont typeface="Noto Sans"/>
              <a:buNone/>
            </a:pPr>
            <a:r>
              <a:rPr b="1" i="0" lang="en-US" sz="18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구원받은 다이버는 수동적인 히로인이 아니라,</a:t>
            </a:r>
            <a:endParaRPr b="0" i="0" sz="1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800"/>
              <a:buFont typeface="Noto Sans"/>
              <a:buNone/>
            </a:pPr>
            <a:r>
              <a:rPr b="1" i="0" lang="en-US" sz="18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자신과 같은 운명에 빠진 사람들을 구하러 들어가는 동료가 된다.</a:t>
            </a:r>
            <a:endParaRPr b="0" i="0" sz="1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6" name="Google Shape;366;p17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67" name="Google Shape;367;p17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17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ucid_assets_opt/main.jpg" id="373" name="Google Shape;373;p18"/>
          <p:cNvPicPr preferRelativeResize="0"/>
          <p:nvPr/>
        </p:nvPicPr>
        <p:blipFill rotWithShape="1">
          <a:blip r:embed="rId3">
            <a:alphaModFix/>
          </a:blip>
          <a:srcRect b="0" l="1" r="1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54901"/>
            </a:srgbClr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8"/>
          <p:cNvSpPr/>
          <p:nvPr/>
        </p:nvSpPr>
        <p:spPr>
          <a:xfrm>
            <a:off x="137160" y="137160"/>
            <a:ext cx="11917375" cy="6583680"/>
          </a:xfrm>
          <a:prstGeom prst="rect">
            <a:avLst/>
          </a:prstGeom>
          <a:solidFill>
            <a:srgbClr val="05070D">
              <a:alpha val="0"/>
            </a:srgbClr>
          </a:solidFill>
          <a:ln cap="flat" cmpd="sng" w="12700">
            <a:solidFill>
              <a:srgbClr val="9B5C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8"/>
          <p:cNvSpPr/>
          <p:nvPr/>
        </p:nvSpPr>
        <p:spPr>
          <a:xfrm>
            <a:off x="685800" y="1051560"/>
            <a:ext cx="1371600" cy="292608"/>
          </a:xfrm>
          <a:prstGeom prst="roundRect">
            <a:avLst>
              <a:gd fmla="val 12500" name="adj"/>
            </a:avLst>
          </a:prstGeom>
          <a:solidFill>
            <a:srgbClr val="F2418D">
              <a:alpha val="92156"/>
            </a:srgbClr>
          </a:solidFill>
          <a:ln cap="flat" cmpd="sng" w="12700">
            <a:solidFill>
              <a:srgbClr val="F2418D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8"/>
          <p:cNvSpPr/>
          <p:nvPr/>
        </p:nvSpPr>
        <p:spPr>
          <a:xfrm>
            <a:off x="758952" y="1115568"/>
            <a:ext cx="12252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Noto San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PART 3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8" name="Google Shape;378;p18"/>
          <p:cNvSpPr/>
          <p:nvPr/>
        </p:nvSpPr>
        <p:spPr>
          <a:xfrm>
            <a:off x="685800" y="192024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3200"/>
              <a:buFont typeface="Noto Sans"/>
              <a:buNone/>
            </a:pPr>
            <a:r>
              <a:rPr b="1" i="0" lang="en-US" sz="3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익스트랙션 장르 설명</a:t>
            </a:r>
            <a:endParaRPr b="0" i="0" sz="3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79" name="Google Shape;379;p18"/>
          <p:cNvSpPr/>
          <p:nvPr/>
        </p:nvSpPr>
        <p:spPr>
          <a:xfrm>
            <a:off x="713232" y="27432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500"/>
              <a:buFont typeface="Noto Sans"/>
              <a:buNone/>
            </a:pPr>
            <a:r>
              <a:rPr lang="en-US" sz="1500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익스트랙션의 구조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0" name="Google Shape;380;p18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1" name="Google Shape;381;p18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18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D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9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익스트랙션 장르란 무엇인가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89" name="Google Shape;389;p19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위험 구역에 들어가 보상을 회수하고, 성공하면 보존·실패하면 유실하는 구조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0" name="Google Shape;390;p19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1" name="Google Shape;391;p19"/>
          <p:cNvCxnSpPr/>
          <p:nvPr/>
        </p:nvCxnSpPr>
        <p:spPr>
          <a:xfrm>
            <a:off x="2675534" y="2286000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2" name="Google Shape;392;p19"/>
          <p:cNvCxnSpPr/>
          <p:nvPr/>
        </p:nvCxnSpPr>
        <p:spPr>
          <a:xfrm>
            <a:off x="4903013" y="2286000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3" name="Google Shape;393;p19"/>
          <p:cNvCxnSpPr/>
          <p:nvPr/>
        </p:nvCxnSpPr>
        <p:spPr>
          <a:xfrm>
            <a:off x="7130491" y="2286000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4" name="Google Shape;394;p19"/>
          <p:cNvCxnSpPr/>
          <p:nvPr/>
        </p:nvCxnSpPr>
        <p:spPr>
          <a:xfrm>
            <a:off x="9357970" y="2286000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5" name="Google Shape;395;p19"/>
          <p:cNvSpPr/>
          <p:nvPr/>
        </p:nvSpPr>
        <p:spPr>
          <a:xfrm>
            <a:off x="594360" y="1828800"/>
            <a:ext cx="2062886" cy="914400"/>
          </a:xfrm>
          <a:prstGeom prst="roundRect">
            <a:avLst>
              <a:gd fmla="val 8000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9"/>
          <p:cNvSpPr/>
          <p:nvPr/>
        </p:nvSpPr>
        <p:spPr>
          <a:xfrm>
            <a:off x="640080" y="1901952"/>
            <a:ext cx="197144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위험 구역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진입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7" name="Google Shape;397;p19"/>
          <p:cNvSpPr/>
          <p:nvPr/>
        </p:nvSpPr>
        <p:spPr>
          <a:xfrm>
            <a:off x="2821838" y="1828800"/>
            <a:ext cx="2062886" cy="914400"/>
          </a:xfrm>
          <a:prstGeom prst="roundRect">
            <a:avLst>
              <a:gd fmla="val 8000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9"/>
          <p:cNvSpPr/>
          <p:nvPr/>
        </p:nvSpPr>
        <p:spPr>
          <a:xfrm>
            <a:off x="2867558" y="1901952"/>
            <a:ext cx="197144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전투 / 탐색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파밍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9" name="Google Shape;399;p19"/>
          <p:cNvSpPr/>
          <p:nvPr/>
        </p:nvSpPr>
        <p:spPr>
          <a:xfrm>
            <a:off x="5049317" y="1828800"/>
            <a:ext cx="2062886" cy="914400"/>
          </a:xfrm>
          <a:prstGeom prst="roundRect">
            <a:avLst>
              <a:gd fmla="val 8000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9"/>
          <p:cNvSpPr/>
          <p:nvPr/>
        </p:nvSpPr>
        <p:spPr>
          <a:xfrm>
            <a:off x="5095037" y="1901952"/>
            <a:ext cx="197144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탈출 판단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1" name="Google Shape;401;p19"/>
          <p:cNvSpPr/>
          <p:nvPr/>
        </p:nvSpPr>
        <p:spPr>
          <a:xfrm>
            <a:off x="7276795" y="1828800"/>
            <a:ext cx="2062886" cy="914400"/>
          </a:xfrm>
          <a:prstGeom prst="roundRect">
            <a:avLst>
              <a:gd fmla="val 8000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9"/>
          <p:cNvSpPr/>
          <p:nvPr/>
        </p:nvSpPr>
        <p:spPr>
          <a:xfrm>
            <a:off x="7322515" y="1901952"/>
            <a:ext cx="197144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성공 보존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실패 유실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3" name="Google Shape;403;p19"/>
          <p:cNvSpPr/>
          <p:nvPr/>
        </p:nvSpPr>
        <p:spPr>
          <a:xfrm>
            <a:off x="9504274" y="1828800"/>
            <a:ext cx="2062886" cy="914400"/>
          </a:xfrm>
          <a:prstGeom prst="roundRect">
            <a:avLst>
              <a:gd fmla="val 8000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9"/>
          <p:cNvSpPr/>
          <p:nvPr/>
        </p:nvSpPr>
        <p:spPr>
          <a:xfrm>
            <a:off x="9549994" y="1901952"/>
            <a:ext cx="197144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다음 출격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준비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5" name="Google Shape;405;p19"/>
          <p:cNvSpPr/>
          <p:nvPr/>
        </p:nvSpPr>
        <p:spPr>
          <a:xfrm>
            <a:off x="1097280" y="4206240"/>
            <a:ext cx="9966960" cy="685800"/>
          </a:xfrm>
          <a:prstGeom prst="roundRect">
            <a:avLst>
              <a:gd fmla="val 10667" name="adj"/>
            </a:avLst>
          </a:prstGeom>
          <a:solidFill>
            <a:srgbClr val="0D1020">
              <a:alpha val="94901"/>
            </a:srgbClr>
          </a:solidFill>
          <a:ln cap="flat" cmpd="sng" w="12700">
            <a:solidFill>
              <a:srgbClr val="F2418D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9"/>
          <p:cNvSpPr/>
          <p:nvPr/>
        </p:nvSpPr>
        <p:spPr>
          <a:xfrm>
            <a:off x="1298448" y="4370832"/>
            <a:ext cx="9564624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800"/>
              <a:buFont typeface="Noto Sans"/>
              <a:buNone/>
            </a:pPr>
            <a:r>
              <a:rPr b="1" i="0" lang="en-US" sz="18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핵심 재미는 “더 욕심낼 것인가, 지금 탈출할 것인가”의 긴장감에서 발생한다.</a:t>
            </a:r>
            <a:endParaRPr b="0" i="0" sz="1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7" name="Google Shape;407;p19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8" name="Google Shape;408;p19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19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ucid_assets_opt/ingameB.jpg" id="414" name="Google Shape;414;p20"/>
          <p:cNvPicPr preferRelativeResize="0"/>
          <p:nvPr/>
        </p:nvPicPr>
        <p:blipFill rotWithShape="1">
          <a:blip r:embed="rId3">
            <a:alphaModFix/>
          </a:blip>
          <a:srcRect b="0" l="54" r="54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27843"/>
            </a:srgbClr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0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일반 익스트랙션의 보상 구조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7" name="Google Shape;417;p20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회수한 아이템이 장비와 생존 확률로 환산된다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8" name="Google Shape;418;p20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9" name="Google Shape;419;p20"/>
          <p:cNvCxnSpPr/>
          <p:nvPr/>
        </p:nvCxnSpPr>
        <p:spPr>
          <a:xfrm>
            <a:off x="2675534" y="2468880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55D68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0" name="Google Shape;420;p20"/>
          <p:cNvCxnSpPr/>
          <p:nvPr/>
        </p:nvCxnSpPr>
        <p:spPr>
          <a:xfrm>
            <a:off x="4903013" y="2468880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55D68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1" name="Google Shape;421;p20"/>
          <p:cNvCxnSpPr/>
          <p:nvPr/>
        </p:nvCxnSpPr>
        <p:spPr>
          <a:xfrm>
            <a:off x="7130491" y="2468880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55D68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2" name="Google Shape;422;p20"/>
          <p:cNvCxnSpPr/>
          <p:nvPr/>
        </p:nvCxnSpPr>
        <p:spPr>
          <a:xfrm>
            <a:off x="9357970" y="2468880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55D68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3" name="Google Shape;423;p20"/>
          <p:cNvSpPr/>
          <p:nvPr/>
        </p:nvSpPr>
        <p:spPr>
          <a:xfrm>
            <a:off x="594360" y="2011680"/>
            <a:ext cx="2062886" cy="914400"/>
          </a:xfrm>
          <a:prstGeom prst="roundRect">
            <a:avLst>
              <a:gd fmla="val 8000" name="adj"/>
            </a:avLst>
          </a:prstGeom>
          <a:solidFill>
            <a:srgbClr val="12172A"/>
          </a:solidFill>
          <a:ln cap="flat" cmpd="sng" w="12700">
            <a:solidFill>
              <a:srgbClr val="55D68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0"/>
          <p:cNvSpPr/>
          <p:nvPr/>
        </p:nvSpPr>
        <p:spPr>
          <a:xfrm>
            <a:off x="640080" y="2084832"/>
            <a:ext cx="197144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아이템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회수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5" name="Google Shape;425;p20"/>
          <p:cNvSpPr/>
          <p:nvPr/>
        </p:nvSpPr>
        <p:spPr>
          <a:xfrm>
            <a:off x="2821838" y="2011680"/>
            <a:ext cx="2062886" cy="914400"/>
          </a:xfrm>
          <a:prstGeom prst="roundRect">
            <a:avLst>
              <a:gd fmla="val 8000" name="adj"/>
            </a:avLst>
          </a:prstGeom>
          <a:solidFill>
            <a:srgbClr val="12172A"/>
          </a:solidFill>
          <a:ln cap="flat" cmpd="sng" w="12700">
            <a:solidFill>
              <a:srgbClr val="55D68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0"/>
          <p:cNvSpPr/>
          <p:nvPr/>
        </p:nvSpPr>
        <p:spPr>
          <a:xfrm>
            <a:off x="2867558" y="2084832"/>
            <a:ext cx="197144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창고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보존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7" name="Google Shape;427;p20"/>
          <p:cNvSpPr/>
          <p:nvPr/>
        </p:nvSpPr>
        <p:spPr>
          <a:xfrm>
            <a:off x="5049317" y="2011680"/>
            <a:ext cx="2062886" cy="914400"/>
          </a:xfrm>
          <a:prstGeom prst="roundRect">
            <a:avLst>
              <a:gd fmla="val 8000" name="adj"/>
            </a:avLst>
          </a:prstGeom>
          <a:solidFill>
            <a:srgbClr val="12172A"/>
          </a:solidFill>
          <a:ln cap="flat" cmpd="sng" w="12700">
            <a:solidFill>
              <a:srgbClr val="55D68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0"/>
          <p:cNvSpPr/>
          <p:nvPr/>
        </p:nvSpPr>
        <p:spPr>
          <a:xfrm>
            <a:off x="5095037" y="2084832"/>
            <a:ext cx="197144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장비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강화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29" name="Google Shape;429;p20"/>
          <p:cNvSpPr/>
          <p:nvPr/>
        </p:nvSpPr>
        <p:spPr>
          <a:xfrm>
            <a:off x="7276795" y="2011680"/>
            <a:ext cx="2062886" cy="914400"/>
          </a:xfrm>
          <a:prstGeom prst="roundRect">
            <a:avLst>
              <a:gd fmla="val 8000" name="adj"/>
            </a:avLst>
          </a:prstGeom>
          <a:solidFill>
            <a:srgbClr val="12172A"/>
          </a:solidFill>
          <a:ln cap="flat" cmpd="sng" w="12700">
            <a:solidFill>
              <a:srgbClr val="55D68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0"/>
          <p:cNvSpPr/>
          <p:nvPr/>
        </p:nvSpPr>
        <p:spPr>
          <a:xfrm>
            <a:off x="7322515" y="2084832"/>
            <a:ext cx="197144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생존 확률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상승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1" name="Google Shape;431;p20"/>
          <p:cNvSpPr/>
          <p:nvPr/>
        </p:nvSpPr>
        <p:spPr>
          <a:xfrm>
            <a:off x="9504274" y="2011680"/>
            <a:ext cx="2062886" cy="914400"/>
          </a:xfrm>
          <a:prstGeom prst="roundRect">
            <a:avLst>
              <a:gd fmla="val 8000" name="adj"/>
            </a:avLst>
          </a:prstGeom>
          <a:solidFill>
            <a:srgbClr val="12172A"/>
          </a:solidFill>
          <a:ln cap="flat" cmpd="sng" w="12700">
            <a:solidFill>
              <a:srgbClr val="55D68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0"/>
          <p:cNvSpPr/>
          <p:nvPr/>
        </p:nvSpPr>
        <p:spPr>
          <a:xfrm>
            <a:off x="9549994" y="2084832"/>
            <a:ext cx="1971446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더 깊은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구역 도전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3" name="Google Shape;433;p20"/>
          <p:cNvSpPr/>
          <p:nvPr/>
        </p:nvSpPr>
        <p:spPr>
          <a:xfrm>
            <a:off x="1188720" y="4892040"/>
            <a:ext cx="9829800" cy="685800"/>
          </a:xfrm>
          <a:prstGeom prst="roundRect">
            <a:avLst>
              <a:gd fmla="val 10667" name="adj"/>
            </a:avLst>
          </a:prstGeom>
          <a:solidFill>
            <a:srgbClr val="0D1020">
              <a:alpha val="94901"/>
            </a:srgbClr>
          </a:solidFill>
          <a:ln cap="flat" cmpd="sng" w="12700">
            <a:solidFill>
              <a:srgbClr val="9B5C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0"/>
          <p:cNvSpPr/>
          <p:nvPr/>
        </p:nvSpPr>
        <p:spPr>
          <a:xfrm>
            <a:off x="1389888" y="5056632"/>
            <a:ext cx="9427464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800"/>
              <a:buFont typeface="Noto Sans"/>
              <a:buNone/>
            </a:pPr>
            <a:r>
              <a:rPr b="1" i="0" lang="en-US" sz="18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루시드 다이버는 이 구조에 “기억 회수와 캐릭터 구원”을 추가한다.</a:t>
            </a:r>
            <a:endParaRPr b="0" i="0" sz="1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5" name="Google Shape;435;p20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6" name="Google Shape;436;p20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20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ucid_assets_opt/main.jpg" id="442" name="Google Shape;442;p21"/>
          <p:cNvPicPr preferRelativeResize="0"/>
          <p:nvPr/>
        </p:nvPicPr>
        <p:blipFill rotWithShape="1">
          <a:blip r:embed="rId3">
            <a:alphaModFix/>
          </a:blip>
          <a:srcRect b="0" l="1" r="1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16078"/>
            </a:srgbClr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1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루시드 다이버식 변형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5" name="Google Shape;445;p21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아이템 회수가 캐릭터의 기억과 관계 변화로 변환된다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6" name="Google Shape;446;p21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1"/>
          <p:cNvSpPr/>
          <p:nvPr/>
        </p:nvSpPr>
        <p:spPr>
          <a:xfrm>
            <a:off x="914400" y="1417320"/>
            <a:ext cx="10332720" cy="768096"/>
          </a:xfrm>
          <a:prstGeom prst="rect">
            <a:avLst/>
          </a:prstGeom>
          <a:solidFill>
            <a:srgbClr val="1B2236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1"/>
          <p:cNvSpPr/>
          <p:nvPr/>
        </p:nvSpPr>
        <p:spPr>
          <a:xfrm>
            <a:off x="987552" y="1490472"/>
            <a:ext cx="50566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일반 익스트랙션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9" name="Google Shape;449;p21"/>
          <p:cNvSpPr/>
          <p:nvPr/>
        </p:nvSpPr>
        <p:spPr>
          <a:xfrm>
            <a:off x="6153912" y="1490472"/>
            <a:ext cx="502005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루시드 다이버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0" name="Google Shape;450;p21"/>
          <p:cNvSpPr/>
          <p:nvPr/>
        </p:nvSpPr>
        <p:spPr>
          <a:xfrm>
            <a:off x="914400" y="2185416"/>
            <a:ext cx="10332720" cy="768096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1"/>
          <p:cNvSpPr/>
          <p:nvPr/>
        </p:nvSpPr>
        <p:spPr>
          <a:xfrm>
            <a:off x="987552" y="2258568"/>
            <a:ext cx="50566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아이템을 회수한다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2" name="Google Shape;452;p21"/>
          <p:cNvSpPr/>
          <p:nvPr/>
        </p:nvSpPr>
        <p:spPr>
          <a:xfrm>
            <a:off x="6153912" y="2258568"/>
            <a:ext cx="502005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기억을 회수한다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3" name="Google Shape;453;p21"/>
          <p:cNvSpPr/>
          <p:nvPr/>
        </p:nvSpPr>
        <p:spPr>
          <a:xfrm>
            <a:off x="914400" y="2953512"/>
            <a:ext cx="10332720" cy="768096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1"/>
          <p:cNvSpPr/>
          <p:nvPr/>
        </p:nvSpPr>
        <p:spPr>
          <a:xfrm>
            <a:off x="987552" y="3026664"/>
            <a:ext cx="50566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장비가 강해진다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5" name="Google Shape;455;p21"/>
          <p:cNvSpPr/>
          <p:nvPr/>
        </p:nvSpPr>
        <p:spPr>
          <a:xfrm>
            <a:off x="6153912" y="3026664"/>
            <a:ext cx="502005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캐릭터가 회복된다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6" name="Google Shape;456;p21"/>
          <p:cNvSpPr/>
          <p:nvPr/>
        </p:nvSpPr>
        <p:spPr>
          <a:xfrm>
            <a:off x="914400" y="3721608"/>
            <a:ext cx="10332720" cy="768096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1"/>
          <p:cNvSpPr/>
          <p:nvPr/>
        </p:nvSpPr>
        <p:spPr>
          <a:xfrm>
            <a:off x="987552" y="3794760"/>
            <a:ext cx="50566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실패하면 재화를 잃는다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8" name="Google Shape;458;p21"/>
          <p:cNvSpPr/>
          <p:nvPr/>
        </p:nvSpPr>
        <p:spPr>
          <a:xfrm>
            <a:off x="6153912" y="3794760"/>
            <a:ext cx="502005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기억이 꿈속으로 가라앉는다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9" name="Google Shape;459;p21"/>
          <p:cNvSpPr/>
          <p:nvPr/>
        </p:nvSpPr>
        <p:spPr>
          <a:xfrm>
            <a:off x="914400" y="4489704"/>
            <a:ext cx="10332720" cy="768096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1"/>
          <p:cNvSpPr/>
          <p:nvPr/>
        </p:nvSpPr>
        <p:spPr>
          <a:xfrm>
            <a:off x="987552" y="4562856"/>
            <a:ext cx="50566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다음 출격을 준비한다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1" name="Google Shape;461;p21"/>
          <p:cNvSpPr/>
          <p:nvPr/>
        </p:nvSpPr>
        <p:spPr>
          <a:xfrm>
            <a:off x="6153912" y="4562856"/>
            <a:ext cx="502005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다음 구원 시도를 준비한다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2" name="Google Shape;462;p21"/>
          <p:cNvSpPr/>
          <p:nvPr/>
        </p:nvSpPr>
        <p:spPr>
          <a:xfrm>
            <a:off x="1371600" y="5623560"/>
            <a:ext cx="9326880" cy="502920"/>
          </a:xfrm>
          <a:prstGeom prst="roundRect">
            <a:avLst>
              <a:gd fmla="val 14545" name="adj"/>
            </a:avLst>
          </a:prstGeom>
          <a:solidFill>
            <a:srgbClr val="0D1020">
              <a:alpha val="94901"/>
            </a:srgbClr>
          </a:solidFill>
          <a:ln cap="flat" cmpd="sng" w="12700">
            <a:solidFill>
              <a:srgbClr val="44D7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1"/>
          <p:cNvSpPr/>
          <p:nvPr/>
        </p:nvSpPr>
        <p:spPr>
          <a:xfrm>
            <a:off x="1572768" y="5788152"/>
            <a:ext cx="892454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하나는 캐릭터를 구하고, 하나는 다음 출격을 준비한다.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4" name="Google Shape;464;p21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5" name="Google Shape;465;p21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21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D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2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이중 보상 루프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3" name="Google Shape;473;p22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서브컬처 애착과 익스트랙션 준비가 한 세션에서 동시에 닫힌다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4" name="Google Shape;474;p22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5" name="Google Shape;475;p22"/>
          <p:cNvCxnSpPr/>
          <p:nvPr/>
        </p:nvCxnSpPr>
        <p:spPr>
          <a:xfrm>
            <a:off x="2743200" y="1874520"/>
            <a:ext cx="6583680" cy="0"/>
          </a:xfrm>
          <a:prstGeom prst="straightConnector1">
            <a:avLst/>
          </a:prstGeom>
          <a:noFill/>
          <a:ln cap="flat" cmpd="sng" w="12700">
            <a:solidFill>
              <a:srgbClr val="9B5C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6" name="Google Shape;476;p22"/>
          <p:cNvCxnSpPr/>
          <p:nvPr/>
        </p:nvCxnSpPr>
        <p:spPr>
          <a:xfrm>
            <a:off x="2743200" y="3977640"/>
            <a:ext cx="6583680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7" name="Google Shape;477;p22"/>
          <p:cNvSpPr/>
          <p:nvPr/>
        </p:nvSpPr>
        <p:spPr>
          <a:xfrm>
            <a:off x="731520" y="1417320"/>
            <a:ext cx="2011680" cy="914400"/>
          </a:xfrm>
          <a:prstGeom prst="roundRect">
            <a:avLst>
              <a:gd fmla="val 8000" name="adj"/>
            </a:avLst>
          </a:prstGeom>
          <a:solidFill>
            <a:srgbClr val="151B2B"/>
          </a:solidFill>
          <a:ln cap="flat" cmpd="sng" w="12700">
            <a:solidFill>
              <a:srgbClr val="9B5C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2"/>
          <p:cNvSpPr/>
          <p:nvPr/>
        </p:nvSpPr>
        <p:spPr>
          <a:xfrm>
            <a:off x="777240" y="1490472"/>
            <a:ext cx="192024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기억 파편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9" name="Google Shape;479;p22"/>
          <p:cNvSpPr/>
          <p:nvPr/>
        </p:nvSpPr>
        <p:spPr>
          <a:xfrm>
            <a:off x="3383280" y="1417320"/>
            <a:ext cx="2011680" cy="914400"/>
          </a:xfrm>
          <a:prstGeom prst="roundRect">
            <a:avLst>
              <a:gd fmla="val 8000" name="adj"/>
            </a:avLst>
          </a:prstGeom>
          <a:solidFill>
            <a:srgbClr val="151B2B"/>
          </a:solidFill>
          <a:ln cap="flat" cmpd="sng" w="12700">
            <a:solidFill>
              <a:srgbClr val="9B5C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2"/>
          <p:cNvSpPr/>
          <p:nvPr/>
        </p:nvSpPr>
        <p:spPr>
          <a:xfrm>
            <a:off x="3429000" y="1490472"/>
            <a:ext cx="192024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동조율 상승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1" name="Google Shape;481;p22"/>
          <p:cNvSpPr/>
          <p:nvPr/>
        </p:nvSpPr>
        <p:spPr>
          <a:xfrm>
            <a:off x="6035040" y="1417320"/>
            <a:ext cx="2011680" cy="914400"/>
          </a:xfrm>
          <a:prstGeom prst="roundRect">
            <a:avLst>
              <a:gd fmla="val 8000" name="adj"/>
            </a:avLst>
          </a:prstGeom>
          <a:solidFill>
            <a:srgbClr val="151B2B"/>
          </a:solidFill>
          <a:ln cap="flat" cmpd="sng" w="12700">
            <a:solidFill>
              <a:srgbClr val="9B5C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2"/>
          <p:cNvSpPr/>
          <p:nvPr/>
        </p:nvSpPr>
        <p:spPr>
          <a:xfrm>
            <a:off x="6080760" y="1490472"/>
            <a:ext cx="192024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심상 기록 해금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3" name="Google Shape;483;p22"/>
          <p:cNvSpPr/>
          <p:nvPr/>
        </p:nvSpPr>
        <p:spPr>
          <a:xfrm>
            <a:off x="8686800" y="1417320"/>
            <a:ext cx="2011680" cy="914400"/>
          </a:xfrm>
          <a:prstGeom prst="roundRect">
            <a:avLst>
              <a:gd fmla="val 8000" name="adj"/>
            </a:avLst>
          </a:prstGeom>
          <a:solidFill>
            <a:srgbClr val="151B2B"/>
          </a:solidFill>
          <a:ln cap="flat" cmpd="sng" w="12700">
            <a:solidFill>
              <a:srgbClr val="9B5C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2"/>
          <p:cNvSpPr/>
          <p:nvPr/>
        </p:nvSpPr>
        <p:spPr>
          <a:xfrm>
            <a:off x="8732520" y="1490472"/>
            <a:ext cx="192024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대사 변화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5" name="Google Shape;485;p22"/>
          <p:cNvSpPr/>
          <p:nvPr/>
        </p:nvSpPr>
        <p:spPr>
          <a:xfrm>
            <a:off x="731520" y="3520440"/>
            <a:ext cx="2011680" cy="914400"/>
          </a:xfrm>
          <a:prstGeom prst="roundRect">
            <a:avLst>
              <a:gd fmla="val 8000" name="adj"/>
            </a:avLst>
          </a:prstGeom>
          <a:solidFill>
            <a:srgbClr val="151B2B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2"/>
          <p:cNvSpPr/>
          <p:nvPr/>
        </p:nvSpPr>
        <p:spPr>
          <a:xfrm>
            <a:off x="777240" y="3593592"/>
            <a:ext cx="192024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마나석 / 회복약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7" name="Google Shape;487;p22"/>
          <p:cNvSpPr/>
          <p:nvPr/>
        </p:nvSpPr>
        <p:spPr>
          <a:xfrm>
            <a:off x="3383280" y="3520440"/>
            <a:ext cx="2011680" cy="914400"/>
          </a:xfrm>
          <a:prstGeom prst="roundRect">
            <a:avLst>
              <a:gd fmla="val 8000" name="adj"/>
            </a:avLst>
          </a:prstGeom>
          <a:solidFill>
            <a:srgbClr val="151B2B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2"/>
          <p:cNvSpPr/>
          <p:nvPr/>
        </p:nvSpPr>
        <p:spPr>
          <a:xfrm>
            <a:off x="3429000" y="3593592"/>
            <a:ext cx="192024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창고 저장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9" name="Google Shape;489;p22"/>
          <p:cNvSpPr/>
          <p:nvPr/>
        </p:nvSpPr>
        <p:spPr>
          <a:xfrm>
            <a:off x="6035040" y="3520440"/>
            <a:ext cx="2011680" cy="914400"/>
          </a:xfrm>
          <a:prstGeom prst="roundRect">
            <a:avLst>
              <a:gd fmla="val 8000" name="adj"/>
            </a:avLst>
          </a:prstGeom>
          <a:solidFill>
            <a:srgbClr val="151B2B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2"/>
          <p:cNvSpPr/>
          <p:nvPr/>
        </p:nvSpPr>
        <p:spPr>
          <a:xfrm>
            <a:off x="6080760" y="3593592"/>
            <a:ext cx="192024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슬롯 장착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1" name="Google Shape;491;p22"/>
          <p:cNvSpPr/>
          <p:nvPr/>
        </p:nvSpPr>
        <p:spPr>
          <a:xfrm>
            <a:off x="8686800" y="3520440"/>
            <a:ext cx="2011680" cy="914400"/>
          </a:xfrm>
          <a:prstGeom prst="roundRect">
            <a:avLst>
              <a:gd fmla="val 8000" name="adj"/>
            </a:avLst>
          </a:prstGeom>
          <a:solidFill>
            <a:srgbClr val="151B2B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2"/>
          <p:cNvSpPr/>
          <p:nvPr/>
        </p:nvSpPr>
        <p:spPr>
          <a:xfrm>
            <a:off x="8732520" y="3593592"/>
            <a:ext cx="192024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다음 세션 사용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3" name="Google Shape;493;p22"/>
          <p:cNvSpPr/>
          <p:nvPr/>
        </p:nvSpPr>
        <p:spPr>
          <a:xfrm>
            <a:off x="822960" y="102412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CFF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9B5CFF"/>
                </a:solidFill>
                <a:latin typeface="Noto Sans"/>
                <a:ea typeface="Noto Sans"/>
                <a:cs typeface="Noto Sans"/>
                <a:sym typeface="Noto Sans"/>
              </a:rPr>
              <a:t>캐릭터 구원 루프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4" name="Google Shape;494;p22"/>
          <p:cNvSpPr/>
          <p:nvPr/>
        </p:nvSpPr>
        <p:spPr>
          <a:xfrm>
            <a:off x="822960" y="31546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익스트랙션 준비 루프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5" name="Google Shape;495;p22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96" name="Google Shape;496;p22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22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ucid_assets_opt/main.jpg" id="502" name="Google Shape;502;p23"/>
          <p:cNvPicPr preferRelativeResize="0"/>
          <p:nvPr/>
        </p:nvPicPr>
        <p:blipFill rotWithShape="1">
          <a:blip r:embed="rId3">
            <a:alphaModFix/>
          </a:blip>
          <a:srcRect b="0" l="1" r="1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54901"/>
            </a:srgbClr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3"/>
          <p:cNvSpPr/>
          <p:nvPr/>
        </p:nvSpPr>
        <p:spPr>
          <a:xfrm>
            <a:off x="137160" y="137160"/>
            <a:ext cx="11917375" cy="6583680"/>
          </a:xfrm>
          <a:prstGeom prst="rect">
            <a:avLst/>
          </a:prstGeom>
          <a:solidFill>
            <a:srgbClr val="05070D">
              <a:alpha val="0"/>
            </a:srgbClr>
          </a:solidFill>
          <a:ln cap="flat" cmpd="sng" w="12700">
            <a:solidFill>
              <a:srgbClr val="9B5C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3"/>
          <p:cNvSpPr/>
          <p:nvPr/>
        </p:nvSpPr>
        <p:spPr>
          <a:xfrm>
            <a:off x="685800" y="1051560"/>
            <a:ext cx="1371600" cy="292608"/>
          </a:xfrm>
          <a:prstGeom prst="roundRect">
            <a:avLst>
              <a:gd fmla="val 12500" name="adj"/>
            </a:avLst>
          </a:prstGeom>
          <a:solidFill>
            <a:srgbClr val="F2418D">
              <a:alpha val="92156"/>
            </a:srgbClr>
          </a:solidFill>
          <a:ln cap="flat" cmpd="sng" w="12700">
            <a:solidFill>
              <a:srgbClr val="F2418D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3"/>
          <p:cNvSpPr/>
          <p:nvPr/>
        </p:nvSpPr>
        <p:spPr>
          <a:xfrm>
            <a:off x="758952" y="1115568"/>
            <a:ext cx="12252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Noto San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PART 4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7" name="Google Shape;507;p23"/>
          <p:cNvSpPr/>
          <p:nvPr/>
        </p:nvSpPr>
        <p:spPr>
          <a:xfrm>
            <a:off x="685800" y="192024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3200"/>
              <a:buFont typeface="Noto Sans"/>
              <a:buNone/>
            </a:pPr>
            <a:r>
              <a:rPr b="1" i="0" lang="en-US" sz="3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전체 게임 흐름도</a:t>
            </a:r>
            <a:endParaRPr b="0" i="0" sz="3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8" name="Google Shape;508;p23"/>
          <p:cNvSpPr/>
          <p:nvPr/>
        </p:nvSpPr>
        <p:spPr>
          <a:xfrm>
            <a:off x="713232" y="27432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500"/>
              <a:buFont typeface="Noto Sans"/>
              <a:buNone/>
            </a:pPr>
            <a:r>
              <a:rPr b="0" i="0" lang="en-US" sz="150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세션·전투·정산·로비 보상을 시각화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9" name="Google Shape;509;p23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0" name="Google Shape;510;p23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23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D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4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전체 매크로 루프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8" name="Google Shape;518;p24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로비에서 시작해 보상 확인과 다음 출격으로 돌아오는 구조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9" name="Google Shape;519;p24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0" name="Google Shape;520;p24"/>
          <p:cNvCxnSpPr/>
          <p:nvPr/>
        </p:nvCxnSpPr>
        <p:spPr>
          <a:xfrm>
            <a:off x="2734056" y="1897380"/>
            <a:ext cx="54864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1" name="Google Shape;521;p24"/>
          <p:cNvCxnSpPr/>
          <p:nvPr/>
        </p:nvCxnSpPr>
        <p:spPr>
          <a:xfrm>
            <a:off x="4946904" y="1897380"/>
            <a:ext cx="54864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2" name="Google Shape;522;p24"/>
          <p:cNvCxnSpPr/>
          <p:nvPr/>
        </p:nvCxnSpPr>
        <p:spPr>
          <a:xfrm>
            <a:off x="7159752" y="1897380"/>
            <a:ext cx="54864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3" name="Google Shape;523;p24"/>
          <p:cNvCxnSpPr/>
          <p:nvPr/>
        </p:nvCxnSpPr>
        <p:spPr>
          <a:xfrm>
            <a:off x="9372600" y="1897380"/>
            <a:ext cx="54864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4" name="Google Shape;524;p24"/>
          <p:cNvSpPr/>
          <p:nvPr/>
        </p:nvSpPr>
        <p:spPr>
          <a:xfrm>
            <a:off x="594360" y="1508760"/>
            <a:ext cx="2121408" cy="777240"/>
          </a:xfrm>
          <a:prstGeom prst="roundRect">
            <a:avLst>
              <a:gd fmla="val 9412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4"/>
          <p:cNvSpPr/>
          <p:nvPr/>
        </p:nvSpPr>
        <p:spPr>
          <a:xfrm>
            <a:off x="640080" y="1581912"/>
            <a:ext cx="2029968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관제실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6" name="Google Shape;526;p24"/>
          <p:cNvSpPr/>
          <p:nvPr/>
        </p:nvSpPr>
        <p:spPr>
          <a:xfrm>
            <a:off x="2807208" y="1508760"/>
            <a:ext cx="2121408" cy="777240"/>
          </a:xfrm>
          <a:prstGeom prst="roundRect">
            <a:avLst>
              <a:gd fmla="val 9412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4"/>
          <p:cNvSpPr/>
          <p:nvPr/>
        </p:nvSpPr>
        <p:spPr>
          <a:xfrm>
            <a:off x="2852928" y="1581912"/>
            <a:ext cx="2029968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출격 준비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28" name="Google Shape;528;p24"/>
          <p:cNvSpPr/>
          <p:nvPr/>
        </p:nvSpPr>
        <p:spPr>
          <a:xfrm>
            <a:off x="5020056" y="1508760"/>
            <a:ext cx="2121408" cy="777240"/>
          </a:xfrm>
          <a:prstGeom prst="roundRect">
            <a:avLst>
              <a:gd fmla="val 9412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4"/>
          <p:cNvSpPr/>
          <p:nvPr/>
        </p:nvSpPr>
        <p:spPr>
          <a:xfrm>
            <a:off x="5065776" y="1581912"/>
            <a:ext cx="2029968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침몽도시 진입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0" name="Google Shape;530;p24"/>
          <p:cNvSpPr/>
          <p:nvPr/>
        </p:nvSpPr>
        <p:spPr>
          <a:xfrm>
            <a:off x="7232904" y="1508760"/>
            <a:ext cx="2121408" cy="777240"/>
          </a:xfrm>
          <a:prstGeom prst="roundRect">
            <a:avLst>
              <a:gd fmla="val 9412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4"/>
          <p:cNvSpPr/>
          <p:nvPr/>
        </p:nvSpPr>
        <p:spPr>
          <a:xfrm>
            <a:off x="7278624" y="1581912"/>
            <a:ext cx="2029968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전투 / 파밍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2" name="Google Shape;532;p24"/>
          <p:cNvSpPr/>
          <p:nvPr/>
        </p:nvSpPr>
        <p:spPr>
          <a:xfrm>
            <a:off x="9445752" y="1508760"/>
            <a:ext cx="2121408" cy="777240"/>
          </a:xfrm>
          <a:prstGeom prst="roundRect">
            <a:avLst>
              <a:gd fmla="val 9412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4"/>
          <p:cNvSpPr/>
          <p:nvPr/>
        </p:nvSpPr>
        <p:spPr>
          <a:xfrm>
            <a:off x="9491472" y="1581912"/>
            <a:ext cx="2029968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탈출 판단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534" name="Google Shape;534;p24"/>
          <p:cNvCxnSpPr/>
          <p:nvPr/>
        </p:nvCxnSpPr>
        <p:spPr>
          <a:xfrm flipH="1">
            <a:off x="3840480" y="2788920"/>
            <a:ext cx="2240280" cy="1005840"/>
          </a:xfrm>
          <a:prstGeom prst="straightConnector1">
            <a:avLst/>
          </a:prstGeom>
          <a:noFill/>
          <a:ln cap="flat" cmpd="sng" w="12700">
            <a:solidFill>
              <a:srgbClr val="55D68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5" name="Google Shape;535;p24"/>
          <p:cNvCxnSpPr/>
          <p:nvPr/>
        </p:nvCxnSpPr>
        <p:spPr>
          <a:xfrm>
            <a:off x="6080760" y="2788920"/>
            <a:ext cx="2240280" cy="1005840"/>
          </a:xfrm>
          <a:prstGeom prst="straightConnector1">
            <a:avLst/>
          </a:prstGeom>
          <a:noFill/>
          <a:ln cap="flat" cmpd="sng" w="12700">
            <a:solidFill>
              <a:srgbClr val="EF334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6" name="Google Shape;536;p24"/>
          <p:cNvSpPr/>
          <p:nvPr/>
        </p:nvSpPr>
        <p:spPr>
          <a:xfrm>
            <a:off x="2240280" y="3703320"/>
            <a:ext cx="3200400" cy="841248"/>
          </a:xfrm>
          <a:prstGeom prst="roundRect">
            <a:avLst>
              <a:gd fmla="val 8696" name="adj"/>
            </a:avLst>
          </a:prstGeom>
          <a:solidFill>
            <a:srgbClr val="151B2B"/>
          </a:solidFill>
          <a:ln cap="flat" cmpd="sng" w="12700">
            <a:solidFill>
              <a:srgbClr val="55D68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4"/>
          <p:cNvSpPr/>
          <p:nvPr/>
        </p:nvSpPr>
        <p:spPr>
          <a:xfrm>
            <a:off x="2286000" y="3776472"/>
            <a:ext cx="31089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성공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기억 복구 / 회수품 보존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8" name="Google Shape;538;p24"/>
          <p:cNvSpPr/>
          <p:nvPr/>
        </p:nvSpPr>
        <p:spPr>
          <a:xfrm>
            <a:off x="6903720" y="3703320"/>
            <a:ext cx="3200400" cy="841248"/>
          </a:xfrm>
          <a:prstGeom prst="roundRect">
            <a:avLst>
              <a:gd fmla="val 8696" name="adj"/>
            </a:avLst>
          </a:prstGeom>
          <a:solidFill>
            <a:srgbClr val="151B2B"/>
          </a:solidFill>
          <a:ln cap="flat" cmpd="sng" w="12700">
            <a:solidFill>
              <a:srgbClr val="EF334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4"/>
          <p:cNvSpPr/>
          <p:nvPr/>
        </p:nvSpPr>
        <p:spPr>
          <a:xfrm>
            <a:off x="6949440" y="3776472"/>
            <a:ext cx="310896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실패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획득품 유실 / 강제 각성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540" name="Google Shape;540;p24"/>
          <p:cNvCxnSpPr/>
          <p:nvPr/>
        </p:nvCxnSpPr>
        <p:spPr>
          <a:xfrm>
            <a:off x="3840480" y="461772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55D68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1" name="Google Shape;541;p24"/>
          <p:cNvCxnSpPr/>
          <p:nvPr/>
        </p:nvCxnSpPr>
        <p:spPr>
          <a:xfrm>
            <a:off x="8321040" y="461772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EF334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2" name="Google Shape;542;p24"/>
          <p:cNvSpPr/>
          <p:nvPr/>
        </p:nvSpPr>
        <p:spPr>
          <a:xfrm>
            <a:off x="2743200" y="5102352"/>
            <a:ext cx="6720840" cy="731520"/>
          </a:xfrm>
          <a:prstGeom prst="roundRect">
            <a:avLst>
              <a:gd fmla="val 10000" name="adj"/>
            </a:avLst>
          </a:prstGeom>
          <a:solidFill>
            <a:srgbClr val="151B2B"/>
          </a:solidFill>
          <a:ln cap="flat" cmpd="sng" w="12700">
            <a:solidFill>
              <a:srgbClr val="9B5C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4"/>
          <p:cNvSpPr/>
          <p:nvPr/>
        </p:nvSpPr>
        <p:spPr>
          <a:xfrm>
            <a:off x="2788920" y="5175504"/>
            <a:ext cx="66294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로비 복귀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동조율 / 기록 / 창고 확인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4" name="Google Shape;544;p24"/>
          <p:cNvSpPr/>
          <p:nvPr/>
        </p:nvSpPr>
        <p:spPr>
          <a:xfrm>
            <a:off x="1234440" y="6053328"/>
            <a:ext cx="9738360" cy="402336"/>
          </a:xfrm>
          <a:prstGeom prst="roundRect">
            <a:avLst>
              <a:gd fmla="val 18182" name="adj"/>
            </a:avLst>
          </a:prstGeom>
          <a:solidFill>
            <a:srgbClr val="0D1020">
              <a:alpha val="94901"/>
            </a:srgbClr>
          </a:solidFill>
          <a:ln cap="flat" cmpd="sng" w="12700">
            <a:solidFill>
              <a:srgbClr val="F2418D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4"/>
          <p:cNvSpPr/>
          <p:nvPr/>
        </p:nvSpPr>
        <p:spPr>
          <a:xfrm>
            <a:off x="1435608" y="6217920"/>
            <a:ext cx="9336024" cy="73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300"/>
              <a:buFont typeface="Noto Sans"/>
              <a:buNone/>
            </a:pPr>
            <a:r>
              <a:rPr b="1" i="0" lang="en-US" sz="13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성공하면 기억과 회수품이 보존되고, 실패하면 이번 세션의 획득품이 유실된다.</a:t>
            </a:r>
            <a:endParaRPr b="0" i="0" sz="13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6" name="Google Shape;546;p24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7" name="Google Shape;547;p24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24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ucid_assets_opt/ingameA.jpg" id="553" name="Google Shape;553;p25"/>
          <p:cNvPicPr preferRelativeResize="0"/>
          <p:nvPr/>
        </p:nvPicPr>
        <p:blipFill rotWithShape="1">
          <a:blip r:embed="rId3">
            <a:alphaModFix/>
          </a:blip>
          <a:srcRect b="0" l="10070" r="1007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21960"/>
            </a:srgbClr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5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1회 세션 플레이 흐름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6" name="Google Shape;556;p25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P0에서 실제로 검증할 플레이 순서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57" name="Google Shape;557;p25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8" name="Google Shape;558;p25"/>
          <p:cNvCxnSpPr/>
          <p:nvPr/>
        </p:nvCxnSpPr>
        <p:spPr>
          <a:xfrm>
            <a:off x="1783080" y="1783080"/>
            <a:ext cx="36576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9" name="Google Shape;559;p25"/>
          <p:cNvCxnSpPr/>
          <p:nvPr/>
        </p:nvCxnSpPr>
        <p:spPr>
          <a:xfrm>
            <a:off x="3209544" y="1783080"/>
            <a:ext cx="36576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0" name="Google Shape;560;p25"/>
          <p:cNvCxnSpPr/>
          <p:nvPr/>
        </p:nvCxnSpPr>
        <p:spPr>
          <a:xfrm>
            <a:off x="4636008" y="1783080"/>
            <a:ext cx="36576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1" name="Google Shape;561;p25"/>
          <p:cNvCxnSpPr/>
          <p:nvPr/>
        </p:nvCxnSpPr>
        <p:spPr>
          <a:xfrm>
            <a:off x="6062472" y="1783080"/>
            <a:ext cx="36576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2" name="Google Shape;562;p25"/>
          <p:cNvCxnSpPr/>
          <p:nvPr/>
        </p:nvCxnSpPr>
        <p:spPr>
          <a:xfrm>
            <a:off x="7488936" y="1783080"/>
            <a:ext cx="36576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3" name="Google Shape;563;p25"/>
          <p:cNvCxnSpPr/>
          <p:nvPr/>
        </p:nvCxnSpPr>
        <p:spPr>
          <a:xfrm>
            <a:off x="8915400" y="1783080"/>
            <a:ext cx="36576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4" name="Google Shape;564;p25"/>
          <p:cNvCxnSpPr/>
          <p:nvPr/>
        </p:nvCxnSpPr>
        <p:spPr>
          <a:xfrm>
            <a:off x="10341864" y="1783080"/>
            <a:ext cx="36576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5" name="Google Shape;565;p25"/>
          <p:cNvSpPr/>
          <p:nvPr/>
        </p:nvSpPr>
        <p:spPr>
          <a:xfrm>
            <a:off x="411480" y="1417320"/>
            <a:ext cx="1353312" cy="731520"/>
          </a:xfrm>
          <a:prstGeom prst="roundRect">
            <a:avLst>
              <a:gd fmla="val 10000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5"/>
          <p:cNvSpPr/>
          <p:nvPr/>
        </p:nvSpPr>
        <p:spPr>
          <a:xfrm>
            <a:off x="457200" y="1490472"/>
            <a:ext cx="1261872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Spawn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7" name="Google Shape;567;p25"/>
          <p:cNvSpPr/>
          <p:nvPr/>
        </p:nvSpPr>
        <p:spPr>
          <a:xfrm>
            <a:off x="1837944" y="1417320"/>
            <a:ext cx="1353312" cy="731520"/>
          </a:xfrm>
          <a:prstGeom prst="roundRect">
            <a:avLst>
              <a:gd fmla="val 10000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5"/>
          <p:cNvSpPr/>
          <p:nvPr/>
        </p:nvSpPr>
        <p:spPr>
          <a:xfrm>
            <a:off x="1883664" y="1490472"/>
            <a:ext cx="1261872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이동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9" name="Google Shape;569;p25"/>
          <p:cNvSpPr/>
          <p:nvPr/>
        </p:nvSpPr>
        <p:spPr>
          <a:xfrm>
            <a:off x="3264408" y="1417320"/>
            <a:ext cx="1353312" cy="731520"/>
          </a:xfrm>
          <a:prstGeom prst="roundRect">
            <a:avLst>
              <a:gd fmla="val 10000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5"/>
          <p:cNvSpPr/>
          <p:nvPr/>
        </p:nvSpPr>
        <p:spPr>
          <a:xfrm>
            <a:off x="3310128" y="1490472"/>
            <a:ext cx="1261872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적 발견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1" name="Google Shape;571;p25"/>
          <p:cNvSpPr/>
          <p:nvPr/>
        </p:nvSpPr>
        <p:spPr>
          <a:xfrm>
            <a:off x="4690872" y="1417320"/>
            <a:ext cx="1353312" cy="731520"/>
          </a:xfrm>
          <a:prstGeom prst="roundRect">
            <a:avLst>
              <a:gd fmla="val 10000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5"/>
          <p:cNvSpPr/>
          <p:nvPr/>
        </p:nvSpPr>
        <p:spPr>
          <a:xfrm>
            <a:off x="4736592" y="1490472"/>
            <a:ext cx="1261872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조준 / 공격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3" name="Google Shape;573;p25"/>
          <p:cNvSpPr/>
          <p:nvPr/>
        </p:nvSpPr>
        <p:spPr>
          <a:xfrm>
            <a:off x="6117336" y="1417320"/>
            <a:ext cx="1353312" cy="731520"/>
          </a:xfrm>
          <a:prstGeom prst="roundRect">
            <a:avLst>
              <a:gd fmla="val 10000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5"/>
          <p:cNvSpPr/>
          <p:nvPr/>
        </p:nvSpPr>
        <p:spPr>
          <a:xfrm>
            <a:off x="6163056" y="1490472"/>
            <a:ext cx="1261872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아이템 회수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5" name="Google Shape;575;p25"/>
          <p:cNvSpPr/>
          <p:nvPr/>
        </p:nvSpPr>
        <p:spPr>
          <a:xfrm>
            <a:off x="7543800" y="1417320"/>
            <a:ext cx="1353312" cy="731520"/>
          </a:xfrm>
          <a:prstGeom prst="roundRect">
            <a:avLst>
              <a:gd fmla="val 10000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5"/>
          <p:cNvSpPr/>
          <p:nvPr/>
        </p:nvSpPr>
        <p:spPr>
          <a:xfrm>
            <a:off x="7589520" y="1490472"/>
            <a:ext cx="1261872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전화부스 탐색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7" name="Google Shape;577;p25"/>
          <p:cNvSpPr/>
          <p:nvPr/>
        </p:nvSpPr>
        <p:spPr>
          <a:xfrm>
            <a:off x="8970264" y="1417320"/>
            <a:ext cx="1353312" cy="731520"/>
          </a:xfrm>
          <a:prstGeom prst="roundRect">
            <a:avLst>
              <a:gd fmla="val 10000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5"/>
          <p:cNvSpPr/>
          <p:nvPr/>
        </p:nvSpPr>
        <p:spPr>
          <a:xfrm>
            <a:off x="9015984" y="1490472"/>
            <a:ext cx="1261872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탈출 or 각성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9" name="Google Shape;579;p25"/>
          <p:cNvSpPr/>
          <p:nvPr/>
        </p:nvSpPr>
        <p:spPr>
          <a:xfrm>
            <a:off x="10396728" y="1417320"/>
            <a:ext cx="1353312" cy="731520"/>
          </a:xfrm>
          <a:prstGeom prst="roundRect">
            <a:avLst>
              <a:gd fmla="val 10000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5"/>
          <p:cNvSpPr/>
          <p:nvPr/>
        </p:nvSpPr>
        <p:spPr>
          <a:xfrm>
            <a:off x="10442448" y="1490472"/>
            <a:ext cx="1261872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결과창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1" name="Google Shape;581;p25"/>
          <p:cNvSpPr/>
          <p:nvPr/>
        </p:nvSpPr>
        <p:spPr>
          <a:xfrm>
            <a:off x="1005840" y="2743200"/>
            <a:ext cx="4846320" cy="2743200"/>
          </a:xfrm>
          <a:prstGeom prst="roundRect">
            <a:avLst>
              <a:gd fmla="val 2667" name="adj"/>
            </a:avLst>
          </a:prstGeom>
          <a:solidFill>
            <a:srgbClr val="000000"/>
          </a:solidFill>
          <a:ln cap="flat" cmpd="sng" w="12700">
            <a:solidFill>
              <a:srgbClr val="324057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lucid_assets_opt/ingameA.jpg" id="582" name="Google Shape;582;p25"/>
          <p:cNvPicPr preferRelativeResize="0"/>
          <p:nvPr/>
        </p:nvPicPr>
        <p:blipFill rotWithShape="1">
          <a:blip r:embed="rId3">
            <a:alphaModFix/>
          </a:blip>
          <a:srcRect b="0" l="9968" r="9968" t="0"/>
          <a:stretch/>
        </p:blipFill>
        <p:spPr>
          <a:xfrm>
            <a:off x="1033272" y="2770632"/>
            <a:ext cx="4791456" cy="2688336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25"/>
          <p:cNvSpPr/>
          <p:nvPr/>
        </p:nvSpPr>
        <p:spPr>
          <a:xfrm>
            <a:off x="1033272" y="5102352"/>
            <a:ext cx="4791456" cy="329184"/>
          </a:xfrm>
          <a:prstGeom prst="rect">
            <a:avLst/>
          </a:prstGeom>
          <a:solidFill>
            <a:srgbClr val="000000">
              <a:alpha val="80000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5"/>
          <p:cNvSpPr/>
          <p:nvPr/>
        </p:nvSpPr>
        <p:spPr>
          <a:xfrm>
            <a:off x="1143000" y="5193792"/>
            <a:ext cx="4572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인게임 HUD 레퍼런스 A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5" name="Google Shape;585;p25"/>
          <p:cNvSpPr/>
          <p:nvPr/>
        </p:nvSpPr>
        <p:spPr>
          <a:xfrm>
            <a:off x="6355080" y="2743200"/>
            <a:ext cx="4846320" cy="2743200"/>
          </a:xfrm>
          <a:prstGeom prst="roundRect">
            <a:avLst>
              <a:gd fmla="val 2667" name="adj"/>
            </a:avLst>
          </a:prstGeom>
          <a:solidFill>
            <a:srgbClr val="000000"/>
          </a:solidFill>
          <a:ln cap="flat" cmpd="sng" w="12700">
            <a:solidFill>
              <a:srgbClr val="324057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lucid_assets_opt/ingameB.jpg" id="586" name="Google Shape;586;p25"/>
          <p:cNvPicPr preferRelativeResize="0"/>
          <p:nvPr/>
        </p:nvPicPr>
        <p:blipFill rotWithShape="1">
          <a:blip r:embed="rId4">
            <a:alphaModFix/>
          </a:blip>
          <a:srcRect b="74" l="0" r="0" t="74"/>
          <a:stretch/>
        </p:blipFill>
        <p:spPr>
          <a:xfrm>
            <a:off x="6382512" y="2770632"/>
            <a:ext cx="4791456" cy="2688336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25"/>
          <p:cNvSpPr/>
          <p:nvPr/>
        </p:nvSpPr>
        <p:spPr>
          <a:xfrm>
            <a:off x="6382512" y="5102352"/>
            <a:ext cx="4791456" cy="329184"/>
          </a:xfrm>
          <a:prstGeom prst="rect">
            <a:avLst/>
          </a:prstGeom>
          <a:solidFill>
            <a:srgbClr val="000000">
              <a:alpha val="80000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5"/>
          <p:cNvSpPr/>
          <p:nvPr/>
        </p:nvSpPr>
        <p:spPr>
          <a:xfrm>
            <a:off x="6492240" y="5193792"/>
            <a:ext cx="4572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인게임 HUD 레퍼런스 B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89" name="Google Shape;589;p25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0" name="Google Shape;590;p25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25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D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6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전투 순서도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8" name="Google Shape;598;p26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P0 전투는 복잡한 스킬보다 “회수 → 탈출” 루프 검증에 집중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9" name="Google Shape;599;p26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0" name="Google Shape;600;p26"/>
          <p:cNvCxnSpPr/>
          <p:nvPr/>
        </p:nvCxnSpPr>
        <p:spPr>
          <a:xfrm>
            <a:off x="1783080" y="2203704"/>
            <a:ext cx="36576" cy="0"/>
          </a:xfrm>
          <a:prstGeom prst="straightConnector1">
            <a:avLst/>
          </a:prstGeom>
          <a:noFill/>
          <a:ln cap="flat" cmpd="sng" w="12700">
            <a:solidFill>
              <a:srgbClr val="EF334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1" name="Google Shape;601;p26"/>
          <p:cNvCxnSpPr/>
          <p:nvPr/>
        </p:nvCxnSpPr>
        <p:spPr>
          <a:xfrm>
            <a:off x="3209544" y="2203704"/>
            <a:ext cx="36576" cy="0"/>
          </a:xfrm>
          <a:prstGeom prst="straightConnector1">
            <a:avLst/>
          </a:prstGeom>
          <a:noFill/>
          <a:ln cap="flat" cmpd="sng" w="12700">
            <a:solidFill>
              <a:srgbClr val="EF334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2" name="Google Shape;602;p26"/>
          <p:cNvCxnSpPr/>
          <p:nvPr/>
        </p:nvCxnSpPr>
        <p:spPr>
          <a:xfrm>
            <a:off x="4636008" y="2203704"/>
            <a:ext cx="36576" cy="0"/>
          </a:xfrm>
          <a:prstGeom prst="straightConnector1">
            <a:avLst/>
          </a:prstGeom>
          <a:noFill/>
          <a:ln cap="flat" cmpd="sng" w="12700">
            <a:solidFill>
              <a:srgbClr val="EF334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3" name="Google Shape;603;p26"/>
          <p:cNvCxnSpPr/>
          <p:nvPr/>
        </p:nvCxnSpPr>
        <p:spPr>
          <a:xfrm>
            <a:off x="6062472" y="2203704"/>
            <a:ext cx="36576" cy="0"/>
          </a:xfrm>
          <a:prstGeom prst="straightConnector1">
            <a:avLst/>
          </a:prstGeom>
          <a:noFill/>
          <a:ln cap="flat" cmpd="sng" w="12700">
            <a:solidFill>
              <a:srgbClr val="EF334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4" name="Google Shape;604;p26"/>
          <p:cNvCxnSpPr/>
          <p:nvPr/>
        </p:nvCxnSpPr>
        <p:spPr>
          <a:xfrm>
            <a:off x="7488936" y="2203704"/>
            <a:ext cx="36576" cy="0"/>
          </a:xfrm>
          <a:prstGeom prst="straightConnector1">
            <a:avLst/>
          </a:prstGeom>
          <a:noFill/>
          <a:ln cap="flat" cmpd="sng" w="12700">
            <a:solidFill>
              <a:srgbClr val="EF334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5" name="Google Shape;605;p26"/>
          <p:cNvCxnSpPr/>
          <p:nvPr/>
        </p:nvCxnSpPr>
        <p:spPr>
          <a:xfrm>
            <a:off x="8915400" y="2203704"/>
            <a:ext cx="36576" cy="0"/>
          </a:xfrm>
          <a:prstGeom prst="straightConnector1">
            <a:avLst/>
          </a:prstGeom>
          <a:noFill/>
          <a:ln cap="flat" cmpd="sng" w="12700">
            <a:solidFill>
              <a:srgbClr val="EF334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6" name="Google Shape;606;p26"/>
          <p:cNvCxnSpPr/>
          <p:nvPr/>
        </p:nvCxnSpPr>
        <p:spPr>
          <a:xfrm>
            <a:off x="10341864" y="2203704"/>
            <a:ext cx="36576" cy="0"/>
          </a:xfrm>
          <a:prstGeom prst="straightConnector1">
            <a:avLst/>
          </a:prstGeom>
          <a:noFill/>
          <a:ln cap="flat" cmpd="sng" w="12700">
            <a:solidFill>
              <a:srgbClr val="EF334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7" name="Google Shape;607;p26"/>
          <p:cNvSpPr/>
          <p:nvPr/>
        </p:nvSpPr>
        <p:spPr>
          <a:xfrm>
            <a:off x="411480" y="1828800"/>
            <a:ext cx="1353312" cy="749808"/>
          </a:xfrm>
          <a:prstGeom prst="roundRect">
            <a:avLst>
              <a:gd fmla="val 9756" name="adj"/>
            </a:avLst>
          </a:prstGeom>
          <a:solidFill>
            <a:srgbClr val="12172A"/>
          </a:solidFill>
          <a:ln cap="flat" cmpd="sng" w="12700">
            <a:solidFill>
              <a:srgbClr val="EF334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6"/>
          <p:cNvSpPr/>
          <p:nvPr/>
        </p:nvSpPr>
        <p:spPr>
          <a:xfrm>
            <a:off x="457200" y="1901952"/>
            <a:ext cx="126187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적 감지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9" name="Google Shape;609;p26"/>
          <p:cNvSpPr/>
          <p:nvPr/>
        </p:nvSpPr>
        <p:spPr>
          <a:xfrm>
            <a:off x="1837944" y="1828800"/>
            <a:ext cx="1353312" cy="749808"/>
          </a:xfrm>
          <a:prstGeom prst="roundRect">
            <a:avLst>
              <a:gd fmla="val 9756" name="adj"/>
            </a:avLst>
          </a:prstGeom>
          <a:solidFill>
            <a:srgbClr val="12172A"/>
          </a:solidFill>
          <a:ln cap="flat" cmpd="sng" w="12700">
            <a:solidFill>
              <a:srgbClr val="EF334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6"/>
          <p:cNvSpPr/>
          <p:nvPr/>
        </p:nvSpPr>
        <p:spPr>
          <a:xfrm>
            <a:off x="1883664" y="1901952"/>
            <a:ext cx="126187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적 추적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1" name="Google Shape;611;p26"/>
          <p:cNvSpPr/>
          <p:nvPr/>
        </p:nvSpPr>
        <p:spPr>
          <a:xfrm>
            <a:off x="3264408" y="1828800"/>
            <a:ext cx="1353312" cy="749808"/>
          </a:xfrm>
          <a:prstGeom prst="roundRect">
            <a:avLst>
              <a:gd fmla="val 9756" name="adj"/>
            </a:avLst>
          </a:prstGeom>
          <a:solidFill>
            <a:srgbClr val="12172A"/>
          </a:solidFill>
          <a:ln cap="flat" cmpd="sng" w="12700">
            <a:solidFill>
              <a:srgbClr val="EF334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6"/>
          <p:cNvSpPr/>
          <p:nvPr/>
        </p:nvSpPr>
        <p:spPr>
          <a:xfrm>
            <a:off x="3310128" y="1901952"/>
            <a:ext cx="126187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플레이어 조준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3" name="Google Shape;613;p26"/>
          <p:cNvSpPr/>
          <p:nvPr/>
        </p:nvSpPr>
        <p:spPr>
          <a:xfrm>
            <a:off x="4690872" y="1828800"/>
            <a:ext cx="1353312" cy="749808"/>
          </a:xfrm>
          <a:prstGeom prst="roundRect">
            <a:avLst>
              <a:gd fmla="val 9756" name="adj"/>
            </a:avLst>
          </a:prstGeom>
          <a:solidFill>
            <a:srgbClr val="12172A"/>
          </a:solidFill>
          <a:ln cap="flat" cmpd="sng" w="12700">
            <a:solidFill>
              <a:srgbClr val="EF334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6"/>
          <p:cNvSpPr/>
          <p:nvPr/>
        </p:nvSpPr>
        <p:spPr>
          <a:xfrm>
            <a:off x="4736592" y="1901952"/>
            <a:ext cx="126187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마나 소비 공격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5" name="Google Shape;615;p26"/>
          <p:cNvSpPr/>
          <p:nvPr/>
        </p:nvSpPr>
        <p:spPr>
          <a:xfrm>
            <a:off x="6117336" y="1828800"/>
            <a:ext cx="1353312" cy="749808"/>
          </a:xfrm>
          <a:prstGeom prst="roundRect">
            <a:avLst>
              <a:gd fmla="val 9756" name="adj"/>
            </a:avLst>
          </a:prstGeom>
          <a:solidFill>
            <a:srgbClr val="12172A"/>
          </a:solidFill>
          <a:ln cap="flat" cmpd="sng" w="12700">
            <a:solidFill>
              <a:srgbClr val="EF334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6"/>
          <p:cNvSpPr/>
          <p:nvPr/>
        </p:nvSpPr>
        <p:spPr>
          <a:xfrm>
            <a:off x="6163056" y="1901952"/>
            <a:ext cx="126187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적 HP 감소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7" name="Google Shape;617;p26"/>
          <p:cNvSpPr/>
          <p:nvPr/>
        </p:nvSpPr>
        <p:spPr>
          <a:xfrm>
            <a:off x="7543800" y="1828800"/>
            <a:ext cx="1353312" cy="749808"/>
          </a:xfrm>
          <a:prstGeom prst="roundRect">
            <a:avLst>
              <a:gd fmla="val 9756" name="adj"/>
            </a:avLst>
          </a:prstGeom>
          <a:solidFill>
            <a:srgbClr val="12172A"/>
          </a:solidFill>
          <a:ln cap="flat" cmpd="sng" w="12700">
            <a:solidFill>
              <a:srgbClr val="EF334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6"/>
          <p:cNvSpPr/>
          <p:nvPr/>
        </p:nvSpPr>
        <p:spPr>
          <a:xfrm>
            <a:off x="7589520" y="1901952"/>
            <a:ext cx="126187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적 사망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19" name="Google Shape;619;p26"/>
          <p:cNvSpPr/>
          <p:nvPr/>
        </p:nvSpPr>
        <p:spPr>
          <a:xfrm>
            <a:off x="8970264" y="1828800"/>
            <a:ext cx="1353312" cy="749808"/>
          </a:xfrm>
          <a:prstGeom prst="roundRect">
            <a:avLst>
              <a:gd fmla="val 9756" name="adj"/>
            </a:avLst>
          </a:prstGeom>
          <a:solidFill>
            <a:srgbClr val="12172A"/>
          </a:solidFill>
          <a:ln cap="flat" cmpd="sng" w="12700">
            <a:solidFill>
              <a:srgbClr val="EF334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6"/>
          <p:cNvSpPr/>
          <p:nvPr/>
        </p:nvSpPr>
        <p:spPr>
          <a:xfrm>
            <a:off x="9015984" y="1901952"/>
            <a:ext cx="126187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드랍 생성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1" name="Google Shape;621;p26"/>
          <p:cNvSpPr/>
          <p:nvPr/>
        </p:nvSpPr>
        <p:spPr>
          <a:xfrm>
            <a:off x="10396728" y="1828800"/>
            <a:ext cx="1353312" cy="749808"/>
          </a:xfrm>
          <a:prstGeom prst="roundRect">
            <a:avLst>
              <a:gd fmla="val 9756" name="adj"/>
            </a:avLst>
          </a:prstGeom>
          <a:solidFill>
            <a:srgbClr val="12172A"/>
          </a:solidFill>
          <a:ln cap="flat" cmpd="sng" w="12700">
            <a:solidFill>
              <a:srgbClr val="EF334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6"/>
          <p:cNvSpPr/>
          <p:nvPr/>
        </p:nvSpPr>
        <p:spPr>
          <a:xfrm>
            <a:off x="10442448" y="1901952"/>
            <a:ext cx="126187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50"/>
              <a:buFont typeface="Noto Sans"/>
              <a:buNone/>
            </a:pPr>
            <a:r>
              <a:rPr b="1" i="0" lang="en-US" sz="9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회수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3" name="Google Shape;623;p26"/>
          <p:cNvSpPr/>
          <p:nvPr/>
        </p:nvSpPr>
        <p:spPr>
          <a:xfrm>
            <a:off x="1143000" y="4251960"/>
            <a:ext cx="9921240" cy="868680"/>
          </a:xfrm>
          <a:prstGeom prst="roundRect">
            <a:avLst>
              <a:gd fmla="val 8421" name="adj"/>
            </a:avLst>
          </a:prstGeom>
          <a:solidFill>
            <a:srgbClr val="0D1020">
              <a:alpha val="94901"/>
            </a:srgbClr>
          </a:solidFill>
          <a:ln cap="flat" cmpd="sng" w="12700">
            <a:solidFill>
              <a:srgbClr val="EF3340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6"/>
          <p:cNvSpPr/>
          <p:nvPr/>
        </p:nvSpPr>
        <p:spPr>
          <a:xfrm>
            <a:off x="1344168" y="4416552"/>
            <a:ext cx="9518904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보스전·복잡한 스킬은 제외.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P0에서는 기본 공격과 적 1종으로 전투-파밍-탈출 연결을 검증한다.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5" name="Google Shape;625;p26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26" name="Google Shape;626;p26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26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ucid_assets_opt/ingameA.jpg" id="632" name="Google Shape;632;p27"/>
          <p:cNvPicPr preferRelativeResize="0"/>
          <p:nvPr/>
        </p:nvPicPr>
        <p:blipFill rotWithShape="1">
          <a:blip r:embed="rId3">
            <a:alphaModFix/>
          </a:blip>
          <a:srcRect b="0" l="10070" r="1007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20000"/>
            </a:srgbClr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7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탈출 판단 구조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5" name="Google Shape;635;p27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익스트랙션의 긴장감은 욕심과 안전 사이의 선택에서 발생한다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6" name="Google Shape;636;p27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7"/>
          <p:cNvSpPr/>
          <p:nvPr/>
        </p:nvSpPr>
        <p:spPr>
          <a:xfrm>
            <a:off x="914400" y="1828800"/>
            <a:ext cx="2834640" cy="914400"/>
          </a:xfrm>
          <a:prstGeom prst="roundRect">
            <a:avLst>
              <a:gd fmla="val 8000" name="adj"/>
            </a:avLst>
          </a:prstGeom>
          <a:solidFill>
            <a:srgbClr val="151B2B"/>
          </a:solidFill>
          <a:ln cap="flat" cmpd="sng" w="12700">
            <a:solidFill>
              <a:srgbClr val="9B5C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7"/>
          <p:cNvSpPr/>
          <p:nvPr/>
        </p:nvSpPr>
        <p:spPr>
          <a:xfrm>
            <a:off x="960120" y="1901952"/>
            <a:ext cx="27432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아이템을 더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회수할 것인가?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39" name="Google Shape;639;p27"/>
          <p:cNvCxnSpPr/>
          <p:nvPr/>
        </p:nvCxnSpPr>
        <p:spPr>
          <a:xfrm flipH="1" rot="10800000">
            <a:off x="3749040" y="1600200"/>
            <a:ext cx="1645920" cy="685800"/>
          </a:xfrm>
          <a:prstGeom prst="straightConnector1">
            <a:avLst/>
          </a:prstGeom>
          <a:noFill/>
          <a:ln cap="flat" cmpd="sng" w="12700">
            <a:solidFill>
              <a:srgbClr val="9B5C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40" name="Google Shape;640;p27"/>
          <p:cNvCxnSpPr/>
          <p:nvPr/>
        </p:nvCxnSpPr>
        <p:spPr>
          <a:xfrm>
            <a:off x="3749040" y="2286000"/>
            <a:ext cx="1645920" cy="685800"/>
          </a:xfrm>
          <a:prstGeom prst="straightConnector1">
            <a:avLst/>
          </a:prstGeom>
          <a:noFill/>
          <a:ln cap="flat" cmpd="sng" w="12700">
            <a:solidFill>
              <a:srgbClr val="9B5C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1" name="Google Shape;641;p27"/>
          <p:cNvSpPr/>
          <p:nvPr/>
        </p:nvSpPr>
        <p:spPr>
          <a:xfrm>
            <a:off x="5394960" y="1143000"/>
            <a:ext cx="2194560" cy="777240"/>
          </a:xfrm>
          <a:prstGeom prst="roundRect">
            <a:avLst>
              <a:gd fmla="val 9412" name="adj"/>
            </a:avLst>
          </a:prstGeom>
          <a:solidFill>
            <a:srgbClr val="151B2B"/>
          </a:solidFill>
          <a:ln cap="flat" cmpd="sng" w="12700">
            <a:solidFill>
              <a:srgbClr val="F7C66D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7"/>
          <p:cNvSpPr/>
          <p:nvPr/>
        </p:nvSpPr>
        <p:spPr>
          <a:xfrm>
            <a:off x="5440680" y="1216152"/>
            <a:ext cx="2103120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더 파밍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3" name="Google Shape;643;p27"/>
          <p:cNvSpPr/>
          <p:nvPr/>
        </p:nvSpPr>
        <p:spPr>
          <a:xfrm>
            <a:off x="5394960" y="2606040"/>
            <a:ext cx="2194560" cy="777240"/>
          </a:xfrm>
          <a:prstGeom prst="roundRect">
            <a:avLst>
              <a:gd fmla="val 9412" name="adj"/>
            </a:avLst>
          </a:prstGeom>
          <a:solidFill>
            <a:srgbClr val="151B2B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7"/>
          <p:cNvSpPr/>
          <p:nvPr/>
        </p:nvSpPr>
        <p:spPr>
          <a:xfrm>
            <a:off x="5440680" y="2679192"/>
            <a:ext cx="2103120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탈출 시도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45" name="Google Shape;645;p27"/>
          <p:cNvCxnSpPr/>
          <p:nvPr/>
        </p:nvCxnSpPr>
        <p:spPr>
          <a:xfrm>
            <a:off x="7589520" y="1527048"/>
            <a:ext cx="1783080" cy="0"/>
          </a:xfrm>
          <a:prstGeom prst="straightConnector1">
            <a:avLst/>
          </a:prstGeom>
          <a:noFill/>
          <a:ln cap="flat" cmpd="sng" w="12700">
            <a:solidFill>
              <a:srgbClr val="F7C66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46" name="Google Shape;646;p27"/>
          <p:cNvCxnSpPr/>
          <p:nvPr/>
        </p:nvCxnSpPr>
        <p:spPr>
          <a:xfrm>
            <a:off x="7589520" y="2990088"/>
            <a:ext cx="1783080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7" name="Google Shape;647;p27"/>
          <p:cNvSpPr/>
          <p:nvPr/>
        </p:nvSpPr>
        <p:spPr>
          <a:xfrm>
            <a:off x="9372600" y="1143000"/>
            <a:ext cx="2148840" cy="777240"/>
          </a:xfrm>
          <a:prstGeom prst="roundRect">
            <a:avLst>
              <a:gd fmla="val 9412" name="adj"/>
            </a:avLst>
          </a:prstGeom>
          <a:solidFill>
            <a:srgbClr val="151B2B"/>
          </a:solidFill>
          <a:ln cap="flat" cmpd="sng" w="12700">
            <a:solidFill>
              <a:srgbClr val="EF3340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7"/>
          <p:cNvSpPr/>
          <p:nvPr/>
        </p:nvSpPr>
        <p:spPr>
          <a:xfrm>
            <a:off x="9418320" y="1216152"/>
            <a:ext cx="2057400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위험 증가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강제 각성 가능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9" name="Google Shape;649;p27"/>
          <p:cNvSpPr/>
          <p:nvPr/>
        </p:nvSpPr>
        <p:spPr>
          <a:xfrm>
            <a:off x="9372600" y="2606040"/>
            <a:ext cx="2148840" cy="777240"/>
          </a:xfrm>
          <a:prstGeom prst="roundRect">
            <a:avLst>
              <a:gd fmla="val 9412" name="adj"/>
            </a:avLst>
          </a:prstGeom>
          <a:solidFill>
            <a:srgbClr val="151B2B"/>
          </a:solidFill>
          <a:ln cap="flat" cmpd="sng" w="12700">
            <a:solidFill>
              <a:srgbClr val="55D68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7"/>
          <p:cNvSpPr/>
          <p:nvPr/>
        </p:nvSpPr>
        <p:spPr>
          <a:xfrm>
            <a:off x="9418320" y="2679192"/>
            <a:ext cx="2057400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전화부스 접촉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즉시 탈출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1" name="Google Shape;651;p27"/>
          <p:cNvSpPr/>
          <p:nvPr/>
        </p:nvSpPr>
        <p:spPr>
          <a:xfrm>
            <a:off x="1463040" y="4983480"/>
            <a:ext cx="9326880" cy="658368"/>
          </a:xfrm>
          <a:prstGeom prst="roundRect">
            <a:avLst>
              <a:gd fmla="val 11111" name="adj"/>
            </a:avLst>
          </a:prstGeom>
          <a:solidFill>
            <a:srgbClr val="0D1020">
              <a:alpha val="94901"/>
            </a:srgbClr>
          </a:solidFill>
          <a:ln cap="flat" cmpd="sng" w="12700">
            <a:solidFill>
              <a:srgbClr val="44D7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7"/>
          <p:cNvSpPr/>
          <p:nvPr/>
        </p:nvSpPr>
        <p:spPr>
          <a:xfrm>
            <a:off x="1664208" y="5148072"/>
            <a:ext cx="89245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P0에서는 전화부스 Collider 접촉 즉시 탈출.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3초 채널링은 P0.5 이후 검토.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3" name="Google Shape;653;p27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54" name="Google Shape;654;p27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27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D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8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결과 정산 구조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2" name="Google Shape;662;p28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성공 보존 / 실패 유실의 차이가 보상 체감을 만든다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3" name="Google Shape;663;p28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8"/>
          <p:cNvSpPr/>
          <p:nvPr/>
        </p:nvSpPr>
        <p:spPr>
          <a:xfrm>
            <a:off x="914400" y="1325880"/>
            <a:ext cx="10378440" cy="655320"/>
          </a:xfrm>
          <a:prstGeom prst="rect">
            <a:avLst/>
          </a:prstGeom>
          <a:solidFill>
            <a:srgbClr val="1B2236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8"/>
          <p:cNvSpPr/>
          <p:nvPr/>
        </p:nvSpPr>
        <p:spPr>
          <a:xfrm>
            <a:off x="987552" y="1399032"/>
            <a:ext cx="2796235" cy="545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1120"/>
              <a:buFont typeface="Noto Sans"/>
              <a:buNone/>
            </a:pPr>
            <a:r>
              <a:rPr b="1" i="0" lang="en-US" sz="1120" u="none" cap="none" strike="noStrik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항목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6" name="Google Shape;666;p28"/>
          <p:cNvSpPr/>
          <p:nvPr/>
        </p:nvSpPr>
        <p:spPr>
          <a:xfrm>
            <a:off x="3893515" y="1399032"/>
            <a:ext cx="7326173" cy="545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1120"/>
              <a:buFont typeface="Noto Sans"/>
              <a:buNone/>
            </a:pPr>
            <a:r>
              <a:rPr b="1" i="0" lang="en-US" sz="1120" u="none" cap="none" strike="noStrik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탈출 성공 / 강제 각성 실패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7" name="Google Shape;667;p28"/>
          <p:cNvSpPr/>
          <p:nvPr/>
        </p:nvSpPr>
        <p:spPr>
          <a:xfrm>
            <a:off x="914400" y="1981200"/>
            <a:ext cx="10378440" cy="655320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8"/>
          <p:cNvSpPr/>
          <p:nvPr/>
        </p:nvSpPr>
        <p:spPr>
          <a:xfrm>
            <a:off x="987552" y="2054352"/>
            <a:ext cx="2796235" cy="545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기억 파편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9" name="Google Shape;669;p28"/>
          <p:cNvSpPr/>
          <p:nvPr/>
        </p:nvSpPr>
        <p:spPr>
          <a:xfrm>
            <a:off x="3893515" y="2054352"/>
            <a:ext cx="7326173" cy="545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성공: 자동 소모 → 동조율 상승 / 실패: 유실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0" name="Google Shape;670;p28"/>
          <p:cNvSpPr/>
          <p:nvPr/>
        </p:nvSpPr>
        <p:spPr>
          <a:xfrm>
            <a:off x="914400" y="2636520"/>
            <a:ext cx="10378440" cy="65532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8"/>
          <p:cNvSpPr/>
          <p:nvPr/>
        </p:nvSpPr>
        <p:spPr>
          <a:xfrm>
            <a:off x="987552" y="2709672"/>
            <a:ext cx="2796235" cy="545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마나석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2" name="Google Shape;672;p28"/>
          <p:cNvSpPr/>
          <p:nvPr/>
        </p:nvSpPr>
        <p:spPr>
          <a:xfrm>
            <a:off x="3893515" y="2709672"/>
            <a:ext cx="7326173" cy="545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성공: 창고 저장 / 실패: 유실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3" name="Google Shape;673;p28"/>
          <p:cNvSpPr/>
          <p:nvPr/>
        </p:nvSpPr>
        <p:spPr>
          <a:xfrm>
            <a:off x="914400" y="3291840"/>
            <a:ext cx="10378440" cy="655320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8"/>
          <p:cNvSpPr/>
          <p:nvPr/>
        </p:nvSpPr>
        <p:spPr>
          <a:xfrm>
            <a:off x="987552" y="3364992"/>
            <a:ext cx="2796235" cy="545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회복약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5" name="Google Shape;675;p28"/>
          <p:cNvSpPr/>
          <p:nvPr/>
        </p:nvSpPr>
        <p:spPr>
          <a:xfrm>
            <a:off x="3893515" y="3364992"/>
            <a:ext cx="7326173" cy="545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성공: 창고 저장 / 실패: 유실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6" name="Google Shape;676;p28"/>
          <p:cNvSpPr/>
          <p:nvPr/>
        </p:nvSpPr>
        <p:spPr>
          <a:xfrm>
            <a:off x="914400" y="3947160"/>
            <a:ext cx="10378440" cy="65532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8"/>
          <p:cNvSpPr/>
          <p:nvPr/>
        </p:nvSpPr>
        <p:spPr>
          <a:xfrm>
            <a:off x="987552" y="4020312"/>
            <a:ext cx="2796235" cy="545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심상 기록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8" name="Google Shape;678;p28"/>
          <p:cNvSpPr/>
          <p:nvPr/>
        </p:nvSpPr>
        <p:spPr>
          <a:xfrm>
            <a:off x="3893515" y="4020312"/>
            <a:ext cx="7326173" cy="545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성공: 조건 충족 시 해금 / 실패: 해금 없음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79" name="Google Shape;679;p28"/>
          <p:cNvSpPr/>
          <p:nvPr/>
        </p:nvSpPr>
        <p:spPr>
          <a:xfrm>
            <a:off x="914400" y="4602480"/>
            <a:ext cx="10378440" cy="655320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8"/>
          <p:cNvSpPr/>
          <p:nvPr/>
        </p:nvSpPr>
        <p:spPr>
          <a:xfrm>
            <a:off x="987552" y="4675632"/>
            <a:ext cx="2796235" cy="545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귀환 대사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1" name="Google Shape;681;p28"/>
          <p:cNvSpPr/>
          <p:nvPr/>
        </p:nvSpPr>
        <p:spPr>
          <a:xfrm>
            <a:off x="3893515" y="4675632"/>
            <a:ext cx="7326173" cy="545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120"/>
              <a:buFont typeface="Noto Sans"/>
              <a:buNone/>
            </a:pPr>
            <a:r>
              <a:rPr b="0" i="0" lang="en-US" sz="112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성공/해금 대사 / 실패 대사</a:t>
            </a:r>
            <a:endParaRPr b="0" i="0" sz="11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2" name="Google Shape;682;p28"/>
          <p:cNvSpPr/>
          <p:nvPr/>
        </p:nvSpPr>
        <p:spPr>
          <a:xfrm>
            <a:off x="1234440" y="5623560"/>
            <a:ext cx="9738360" cy="530352"/>
          </a:xfrm>
          <a:prstGeom prst="roundRect">
            <a:avLst>
              <a:gd fmla="val 13793" name="adj"/>
            </a:avLst>
          </a:prstGeom>
          <a:solidFill>
            <a:srgbClr val="0D1020">
              <a:alpha val="94901"/>
            </a:srgbClr>
          </a:solidFill>
          <a:ln cap="flat" cmpd="sng" w="12700">
            <a:solidFill>
              <a:srgbClr val="9B5C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8"/>
          <p:cNvSpPr/>
          <p:nvPr/>
        </p:nvSpPr>
        <p:spPr>
          <a:xfrm>
            <a:off x="1435608" y="5788152"/>
            <a:ext cx="93360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기억 파편은 창고 자원이 아니다.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탈출 성공 시 동조율과 기록 해금으로 즉시 변환된다.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4" name="Google Shape;684;p28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5" name="Google Shape;685;p28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28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ucid_assets_opt/main.jpg" id="691" name="Google Shape;691;p29"/>
          <p:cNvPicPr preferRelativeResize="0"/>
          <p:nvPr/>
        </p:nvPicPr>
        <p:blipFill rotWithShape="1">
          <a:blip r:embed="rId3">
            <a:alphaModFix/>
          </a:blip>
          <a:srcRect b="0" l="1" r="1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2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54901"/>
            </a:srgbClr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29"/>
          <p:cNvSpPr/>
          <p:nvPr/>
        </p:nvSpPr>
        <p:spPr>
          <a:xfrm>
            <a:off x="137160" y="137160"/>
            <a:ext cx="11917375" cy="6583680"/>
          </a:xfrm>
          <a:prstGeom prst="rect">
            <a:avLst/>
          </a:prstGeom>
          <a:solidFill>
            <a:srgbClr val="05070D">
              <a:alpha val="0"/>
            </a:srgbClr>
          </a:solidFill>
          <a:ln cap="flat" cmpd="sng" w="12700">
            <a:solidFill>
              <a:srgbClr val="9B5C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9"/>
          <p:cNvSpPr/>
          <p:nvPr/>
        </p:nvSpPr>
        <p:spPr>
          <a:xfrm>
            <a:off x="685800" y="1051560"/>
            <a:ext cx="1371600" cy="292608"/>
          </a:xfrm>
          <a:prstGeom prst="roundRect">
            <a:avLst>
              <a:gd fmla="val 12500" name="adj"/>
            </a:avLst>
          </a:prstGeom>
          <a:solidFill>
            <a:srgbClr val="F2418D">
              <a:alpha val="92156"/>
            </a:srgbClr>
          </a:solidFill>
          <a:ln cap="flat" cmpd="sng" w="12700">
            <a:solidFill>
              <a:srgbClr val="F2418D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9"/>
          <p:cNvSpPr/>
          <p:nvPr/>
        </p:nvSpPr>
        <p:spPr>
          <a:xfrm>
            <a:off x="758952" y="1115568"/>
            <a:ext cx="12252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Noto San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PART 5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6" name="Google Shape;696;p29"/>
          <p:cNvSpPr/>
          <p:nvPr/>
        </p:nvSpPr>
        <p:spPr>
          <a:xfrm>
            <a:off x="685800" y="192024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3200"/>
              <a:buFont typeface="Noto Sans"/>
              <a:buNone/>
            </a:pPr>
            <a:r>
              <a:rPr b="1" i="0" lang="en-US" sz="3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P0 버티컬 슬라이스</a:t>
            </a:r>
            <a:endParaRPr b="0" i="0" sz="3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7" name="Google Shape;697;p29"/>
          <p:cNvSpPr/>
          <p:nvPr/>
        </p:nvSpPr>
        <p:spPr>
          <a:xfrm>
            <a:off x="713232" y="27432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500"/>
              <a:buFont typeface="Noto Sans"/>
              <a:buNone/>
            </a:pPr>
            <a:r>
              <a:rPr b="0" i="0" lang="en-US" sz="150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무엇을 검증하고, 무엇을 제외하는가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8" name="Google Shape;698;p29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99" name="Google Shape;699;p29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29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ucid_assets_opt/success.jpg" id="705" name="Google Shape;705;p30"/>
          <p:cNvPicPr preferRelativeResize="0"/>
          <p:nvPr/>
        </p:nvPicPr>
        <p:blipFill rotWithShape="1">
          <a:blip r:embed="rId3">
            <a:alphaModFix/>
          </a:blip>
          <a:srcRect b="0" l="1" r="1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3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20000"/>
            </a:srgbClr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30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P0에서 검증할 것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8" name="Google Shape;708;p30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완성형 게임이 아니라 핵심 경험의 작동 여부를 증명하는 빌드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09" name="Google Shape;709;p30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30"/>
          <p:cNvSpPr/>
          <p:nvPr/>
        </p:nvSpPr>
        <p:spPr>
          <a:xfrm>
            <a:off x="868680" y="1371600"/>
            <a:ext cx="10469880" cy="1463040"/>
          </a:xfrm>
          <a:prstGeom prst="roundRect">
            <a:avLst>
              <a:gd fmla="val 5000" name="adj"/>
            </a:avLst>
          </a:prstGeom>
          <a:solidFill>
            <a:srgbClr val="0D1020">
              <a:alpha val="94901"/>
            </a:srgbClr>
          </a:solidFill>
          <a:ln cap="flat" cmpd="sng" w="12700">
            <a:solidFill>
              <a:srgbClr val="44D7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30"/>
          <p:cNvSpPr/>
          <p:nvPr/>
        </p:nvSpPr>
        <p:spPr>
          <a:xfrm>
            <a:off x="1069848" y="1536192"/>
            <a:ext cx="10067544" cy="1133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세션에서 회수한 보상이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캐릭터의 기억, 동조율, 기록 해금, 귀환 대사 변화로 이어질 때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000"/>
              <a:buFont typeface="Noto Sans"/>
              <a:buNone/>
            </a:pPr>
            <a:r>
              <a:rPr b="1" i="0" lang="en-US" sz="20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익스트랙션 루프와 캐릭터 애착 루프가 서로 강화되는가?</a:t>
            </a:r>
            <a:endParaRPr b="0" i="0" sz="2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712" name="Google Shape;712;p30"/>
          <p:cNvCxnSpPr/>
          <p:nvPr/>
        </p:nvCxnSpPr>
        <p:spPr>
          <a:xfrm>
            <a:off x="2849270" y="4261104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F2418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3" name="Google Shape;713;p30"/>
          <p:cNvCxnSpPr/>
          <p:nvPr/>
        </p:nvCxnSpPr>
        <p:spPr>
          <a:xfrm>
            <a:off x="4930445" y="4261104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F2418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4" name="Google Shape;714;p30"/>
          <p:cNvCxnSpPr/>
          <p:nvPr/>
        </p:nvCxnSpPr>
        <p:spPr>
          <a:xfrm>
            <a:off x="7011619" y="4261104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F2418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5" name="Google Shape;715;p30"/>
          <p:cNvCxnSpPr/>
          <p:nvPr/>
        </p:nvCxnSpPr>
        <p:spPr>
          <a:xfrm>
            <a:off x="9092794" y="4261104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F2418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6" name="Google Shape;716;p30"/>
          <p:cNvSpPr/>
          <p:nvPr/>
        </p:nvSpPr>
        <p:spPr>
          <a:xfrm>
            <a:off x="914400" y="3840480"/>
            <a:ext cx="1916582" cy="841248"/>
          </a:xfrm>
          <a:prstGeom prst="roundRect">
            <a:avLst>
              <a:gd fmla="val 8696" name="adj"/>
            </a:avLst>
          </a:prstGeom>
          <a:solidFill>
            <a:srgbClr val="12172A"/>
          </a:solidFill>
          <a:ln cap="flat" cmpd="sng" w="12700">
            <a:solidFill>
              <a:srgbClr val="F2418D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0"/>
          <p:cNvSpPr/>
          <p:nvPr/>
        </p:nvSpPr>
        <p:spPr>
          <a:xfrm>
            <a:off x="960120" y="3913632"/>
            <a:ext cx="182514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기억 파편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회수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18" name="Google Shape;718;p30"/>
          <p:cNvSpPr/>
          <p:nvPr/>
        </p:nvSpPr>
        <p:spPr>
          <a:xfrm>
            <a:off x="2995574" y="3840480"/>
            <a:ext cx="1916582" cy="841248"/>
          </a:xfrm>
          <a:prstGeom prst="roundRect">
            <a:avLst>
              <a:gd fmla="val 8696" name="adj"/>
            </a:avLst>
          </a:prstGeom>
          <a:solidFill>
            <a:srgbClr val="12172A"/>
          </a:solidFill>
          <a:ln cap="flat" cmpd="sng" w="12700">
            <a:solidFill>
              <a:srgbClr val="F2418D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0"/>
          <p:cNvSpPr/>
          <p:nvPr/>
        </p:nvSpPr>
        <p:spPr>
          <a:xfrm>
            <a:off x="3041294" y="3913632"/>
            <a:ext cx="182514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탈출 성공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0" name="Google Shape;720;p30"/>
          <p:cNvSpPr/>
          <p:nvPr/>
        </p:nvSpPr>
        <p:spPr>
          <a:xfrm>
            <a:off x="5076749" y="3840480"/>
            <a:ext cx="1916582" cy="841248"/>
          </a:xfrm>
          <a:prstGeom prst="roundRect">
            <a:avLst>
              <a:gd fmla="val 8696" name="adj"/>
            </a:avLst>
          </a:prstGeom>
          <a:solidFill>
            <a:srgbClr val="12172A"/>
          </a:solidFill>
          <a:ln cap="flat" cmpd="sng" w="12700">
            <a:solidFill>
              <a:srgbClr val="F2418D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0"/>
          <p:cNvSpPr/>
          <p:nvPr/>
        </p:nvSpPr>
        <p:spPr>
          <a:xfrm>
            <a:off x="5122469" y="3913632"/>
            <a:ext cx="182514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동조율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Lv.1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2" name="Google Shape;722;p30"/>
          <p:cNvSpPr/>
          <p:nvPr/>
        </p:nvSpPr>
        <p:spPr>
          <a:xfrm>
            <a:off x="7157923" y="3840480"/>
            <a:ext cx="1916582" cy="841248"/>
          </a:xfrm>
          <a:prstGeom prst="roundRect">
            <a:avLst>
              <a:gd fmla="val 8696" name="adj"/>
            </a:avLst>
          </a:prstGeom>
          <a:solidFill>
            <a:srgbClr val="12172A"/>
          </a:solidFill>
          <a:ln cap="flat" cmpd="sng" w="12700">
            <a:solidFill>
              <a:srgbClr val="F2418D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0"/>
          <p:cNvSpPr/>
          <p:nvPr/>
        </p:nvSpPr>
        <p:spPr>
          <a:xfrm>
            <a:off x="7203643" y="3913632"/>
            <a:ext cx="182514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심상 기록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01 해금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4" name="Google Shape;724;p30"/>
          <p:cNvSpPr/>
          <p:nvPr/>
        </p:nvSpPr>
        <p:spPr>
          <a:xfrm>
            <a:off x="9239098" y="3840480"/>
            <a:ext cx="1916582" cy="841248"/>
          </a:xfrm>
          <a:prstGeom prst="roundRect">
            <a:avLst>
              <a:gd fmla="val 8696" name="adj"/>
            </a:avLst>
          </a:prstGeom>
          <a:solidFill>
            <a:srgbClr val="12172A"/>
          </a:solidFill>
          <a:ln cap="flat" cmpd="sng" w="12700">
            <a:solidFill>
              <a:srgbClr val="F2418D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0"/>
          <p:cNvSpPr/>
          <p:nvPr/>
        </p:nvSpPr>
        <p:spPr>
          <a:xfrm>
            <a:off x="9284818" y="3913632"/>
            <a:ext cx="182514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로비 대사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변화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6" name="Google Shape;726;p30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27" name="Google Shape;727;p30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30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D"/>
        </a:solid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1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P0-Core 구현 범위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5" name="Google Shape;735;p31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기능 확장을 막기 위해 필수 범위를 명확히 고정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6" name="Google Shape;736;p31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31"/>
          <p:cNvSpPr/>
          <p:nvPr/>
        </p:nvSpPr>
        <p:spPr>
          <a:xfrm>
            <a:off x="685800" y="1234440"/>
            <a:ext cx="10835640" cy="588645"/>
          </a:xfrm>
          <a:prstGeom prst="rect">
            <a:avLst/>
          </a:prstGeom>
          <a:solidFill>
            <a:srgbClr val="1B2236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1"/>
          <p:cNvSpPr/>
          <p:nvPr/>
        </p:nvSpPr>
        <p:spPr>
          <a:xfrm>
            <a:off x="758952" y="1307592"/>
            <a:ext cx="2599182" cy="4789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구분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39" name="Google Shape;739;p31"/>
          <p:cNvSpPr/>
          <p:nvPr/>
        </p:nvSpPr>
        <p:spPr>
          <a:xfrm>
            <a:off x="3467862" y="1307592"/>
            <a:ext cx="7980426" cy="4789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980"/>
              <a:buFont typeface="Noto Sans"/>
              <a:buNone/>
            </a:pPr>
            <a:r>
              <a:rPr b="1" i="0" lang="en-US" sz="980" u="none" cap="none" strike="noStrik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P0-Core 구현 내용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0" name="Google Shape;740;p31"/>
          <p:cNvSpPr/>
          <p:nvPr/>
        </p:nvSpPr>
        <p:spPr>
          <a:xfrm>
            <a:off x="685800" y="1823085"/>
            <a:ext cx="10835640" cy="588645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1"/>
          <p:cNvSpPr/>
          <p:nvPr/>
        </p:nvSpPr>
        <p:spPr>
          <a:xfrm>
            <a:off x="758952" y="1896237"/>
            <a:ext cx="2599182" cy="4789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로비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2" name="Google Shape;742;p31"/>
          <p:cNvSpPr/>
          <p:nvPr/>
        </p:nvSpPr>
        <p:spPr>
          <a:xfrm>
            <a:off x="3467862" y="1896237"/>
            <a:ext cx="7980426" cy="4789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관제실, 출격, 다이버/기록, 창고 메뉴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3" name="Google Shape;743;p31"/>
          <p:cNvSpPr/>
          <p:nvPr/>
        </p:nvSpPr>
        <p:spPr>
          <a:xfrm>
            <a:off x="685800" y="2411730"/>
            <a:ext cx="10835640" cy="588645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1"/>
          <p:cNvSpPr/>
          <p:nvPr/>
        </p:nvSpPr>
        <p:spPr>
          <a:xfrm>
            <a:off x="758952" y="2484882"/>
            <a:ext cx="2599182" cy="4789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인게임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5" name="Google Shape;745;p31"/>
          <p:cNvSpPr/>
          <p:nvPr/>
        </p:nvSpPr>
        <p:spPr>
          <a:xfrm>
            <a:off x="3467862" y="2484882"/>
            <a:ext cx="7980426" cy="4789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이동, 조준, 공격, HP/Mana, 적 1종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6" name="Google Shape;746;p31"/>
          <p:cNvSpPr/>
          <p:nvPr/>
        </p:nvSpPr>
        <p:spPr>
          <a:xfrm>
            <a:off x="685800" y="3000375"/>
            <a:ext cx="10835640" cy="588645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1"/>
          <p:cNvSpPr/>
          <p:nvPr/>
        </p:nvSpPr>
        <p:spPr>
          <a:xfrm>
            <a:off x="758952" y="3073527"/>
            <a:ext cx="2599182" cy="4789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파밍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8" name="Google Shape;748;p31"/>
          <p:cNvSpPr/>
          <p:nvPr/>
        </p:nvSpPr>
        <p:spPr>
          <a:xfrm>
            <a:off x="3467862" y="3073527"/>
            <a:ext cx="7980426" cy="4789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기억 파편, 마나석, 회복약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49" name="Google Shape;749;p31"/>
          <p:cNvSpPr/>
          <p:nvPr/>
        </p:nvSpPr>
        <p:spPr>
          <a:xfrm>
            <a:off x="685800" y="3589020"/>
            <a:ext cx="10835640" cy="588645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1"/>
          <p:cNvSpPr/>
          <p:nvPr/>
        </p:nvSpPr>
        <p:spPr>
          <a:xfrm>
            <a:off x="758952" y="3662172"/>
            <a:ext cx="2599182" cy="4789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탈출/실패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1" name="Google Shape;751;p31"/>
          <p:cNvSpPr/>
          <p:nvPr/>
        </p:nvSpPr>
        <p:spPr>
          <a:xfrm>
            <a:off x="3467862" y="3662172"/>
            <a:ext cx="7980426" cy="4789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전화부스 즉시 탈출, HP 0 강제 각성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2" name="Google Shape;752;p31"/>
          <p:cNvSpPr/>
          <p:nvPr/>
        </p:nvSpPr>
        <p:spPr>
          <a:xfrm>
            <a:off x="685800" y="4177665"/>
            <a:ext cx="10835640" cy="588645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1"/>
          <p:cNvSpPr/>
          <p:nvPr/>
        </p:nvSpPr>
        <p:spPr>
          <a:xfrm>
            <a:off x="758952" y="4250817"/>
            <a:ext cx="2599182" cy="4789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결과창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4" name="Google Shape;754;p31"/>
          <p:cNvSpPr/>
          <p:nvPr/>
        </p:nvSpPr>
        <p:spPr>
          <a:xfrm>
            <a:off x="3467862" y="4250817"/>
            <a:ext cx="7980426" cy="4789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성공/실패, 플레이 시간, 기억 파편 정산, 회수품 정산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5" name="Google Shape;755;p31"/>
          <p:cNvSpPr/>
          <p:nvPr/>
        </p:nvSpPr>
        <p:spPr>
          <a:xfrm>
            <a:off x="685800" y="4766310"/>
            <a:ext cx="10835640" cy="588645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1"/>
          <p:cNvSpPr/>
          <p:nvPr/>
        </p:nvSpPr>
        <p:spPr>
          <a:xfrm>
            <a:off x="758952" y="4839462"/>
            <a:ext cx="2599182" cy="4789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애착 루프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7" name="Google Shape;757;p31"/>
          <p:cNvSpPr/>
          <p:nvPr/>
        </p:nvSpPr>
        <p:spPr>
          <a:xfrm>
            <a:off x="3467862" y="4839462"/>
            <a:ext cx="7980426" cy="4789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동조율 상승, 심상 기록 01 해금, 귀환 대사 변화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8" name="Google Shape;758;p31"/>
          <p:cNvSpPr/>
          <p:nvPr/>
        </p:nvSpPr>
        <p:spPr>
          <a:xfrm>
            <a:off x="685800" y="5354955"/>
            <a:ext cx="10835640" cy="588645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31"/>
          <p:cNvSpPr/>
          <p:nvPr/>
        </p:nvSpPr>
        <p:spPr>
          <a:xfrm>
            <a:off x="758952" y="5428107"/>
            <a:ext cx="2599182" cy="4789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창고/준비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0" name="Google Shape;760;p31"/>
          <p:cNvSpPr/>
          <p:nvPr/>
        </p:nvSpPr>
        <p:spPr>
          <a:xfrm>
            <a:off x="3467862" y="5428107"/>
            <a:ext cx="7980426" cy="4789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80"/>
              <a:buFont typeface="Noto Sans"/>
              <a:buNone/>
            </a:pPr>
            <a:r>
              <a:rPr b="0" i="0" lang="en-US" sz="98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마나석/회복약 저장, 퀵슬롯 2칸, 다음 출격 반입</a:t>
            </a:r>
            <a:endParaRPr b="0" i="0" sz="9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1" name="Google Shape;761;p31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62" name="Google Shape;762;p31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31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ucid_assets_opt/main.jpg" id="768" name="Google Shape;768;p32"/>
          <p:cNvPicPr preferRelativeResize="0"/>
          <p:nvPr/>
        </p:nvPicPr>
        <p:blipFill rotWithShape="1">
          <a:blip r:embed="rId3">
            <a:alphaModFix/>
          </a:blip>
          <a:srcRect b="0" l="1" r="1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3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12941"/>
            </a:srgbClr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2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P0에서 구현하지 않는 것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1" name="Google Shape;771;p32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이번 서사 확장으로 생긴 오해를 방지하기 위한 제외 항목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2" name="Google Shape;772;p32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2"/>
          <p:cNvSpPr/>
          <p:nvPr/>
        </p:nvSpPr>
        <p:spPr>
          <a:xfrm>
            <a:off x="685800" y="1325880"/>
            <a:ext cx="5257800" cy="3931920"/>
          </a:xfrm>
          <a:prstGeom prst="roundRect">
            <a:avLst>
              <a:gd fmla="val 1860" name="adj"/>
            </a:avLst>
          </a:prstGeom>
          <a:solidFill>
            <a:srgbClr val="111827">
              <a:alpha val="90196"/>
            </a:srgbClr>
          </a:solidFill>
          <a:ln cap="flat" cmpd="sng" w="12700">
            <a:solidFill>
              <a:srgbClr val="9B5CFF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2"/>
          <p:cNvSpPr/>
          <p:nvPr/>
        </p:nvSpPr>
        <p:spPr>
          <a:xfrm>
            <a:off x="6309360" y="1325880"/>
            <a:ext cx="5257800" cy="3931920"/>
          </a:xfrm>
          <a:prstGeom prst="roundRect">
            <a:avLst>
              <a:gd fmla="val 1860" name="adj"/>
            </a:avLst>
          </a:prstGeom>
          <a:solidFill>
            <a:srgbClr val="111827">
              <a:alpha val="90196"/>
            </a:srgbClr>
          </a:solidFill>
          <a:ln cap="flat" cmpd="sng" w="12700">
            <a:solidFill>
              <a:srgbClr val="44D7FF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2"/>
          <p:cNvSpPr/>
          <p:nvPr/>
        </p:nvSpPr>
        <p:spPr>
          <a:xfrm>
            <a:off x="914400" y="1527048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C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9B5CFF"/>
                </a:solidFill>
                <a:latin typeface="Noto Sans"/>
                <a:ea typeface="Noto Sans"/>
                <a:cs typeface="Noto Sans"/>
                <a:sym typeface="Noto Sans"/>
              </a:rPr>
              <a:t>시스템 제외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6" name="Google Shape;776;p32"/>
          <p:cNvSpPr/>
          <p:nvPr/>
        </p:nvSpPr>
        <p:spPr>
          <a:xfrm>
            <a:off x="960120" y="2011680"/>
            <a:ext cx="47091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멀티플레이 / 대기방 / 소생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캐릭터 영입 / 가챠 / 교체 편성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보스전 / 시간 제한 / 위상 변화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방어구 / 장비 강화 / 크래프팅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인벤토리 그리드 / 드래그 UX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7" name="Google Shape;777;p32"/>
          <p:cNvSpPr/>
          <p:nvPr/>
        </p:nvSpPr>
        <p:spPr>
          <a:xfrm>
            <a:off x="6537960" y="1527048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서사/연출 제외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8" name="Google Shape;778;p32"/>
          <p:cNvSpPr/>
          <p:nvPr/>
        </p:nvSpPr>
        <p:spPr>
          <a:xfrm>
            <a:off x="6583680" y="2011680"/>
            <a:ext cx="47091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실제 시간 루프 시스템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여러 다이버 구원 시스템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괴이 변질 캐릭터 전투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프롤로그 10단계 / 선택지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Live2D / 풀보이스 / 선물하기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79" name="Google Shape;779;p32"/>
          <p:cNvSpPr/>
          <p:nvPr/>
        </p:nvSpPr>
        <p:spPr>
          <a:xfrm>
            <a:off x="1463040" y="5623560"/>
            <a:ext cx="9235440" cy="502920"/>
          </a:xfrm>
          <a:prstGeom prst="roundRect">
            <a:avLst>
              <a:gd fmla="val 14545" name="adj"/>
            </a:avLst>
          </a:prstGeom>
          <a:solidFill>
            <a:srgbClr val="0D1020">
              <a:alpha val="94901"/>
            </a:srgbClr>
          </a:solidFill>
          <a:ln cap="flat" cmpd="sng" w="12700">
            <a:solidFill>
              <a:srgbClr val="EF3340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2"/>
          <p:cNvSpPr/>
          <p:nvPr/>
        </p:nvSpPr>
        <p:spPr>
          <a:xfrm>
            <a:off x="1664208" y="5788152"/>
            <a:ext cx="88331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P0 안정화 전까지 P0.5 기능은 구현하지 않는다.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1" name="Google Shape;781;p32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82" name="Google Shape;782;p32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32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ucid_assets_opt/success.jpg" id="788" name="Google Shape;788;p33"/>
          <p:cNvPicPr preferRelativeResize="0"/>
          <p:nvPr/>
        </p:nvPicPr>
        <p:blipFill rotWithShape="1">
          <a:blip r:embed="rId3">
            <a:alphaModFix/>
          </a:blip>
          <a:srcRect b="0" l="1" r="1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3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18039"/>
            </a:srgbClr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33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P0 성공 판정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1" name="Google Shape;791;p33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익스트랙션 보상이 캐릭터 구원 보상으로 변환되는 경험을 증명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2" name="Google Shape;792;p33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3" name="Google Shape;793;p33"/>
          <p:cNvCxnSpPr/>
          <p:nvPr/>
        </p:nvCxnSpPr>
        <p:spPr>
          <a:xfrm>
            <a:off x="2721254" y="1943100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9B5C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4" name="Google Shape;794;p33"/>
          <p:cNvCxnSpPr/>
          <p:nvPr/>
        </p:nvCxnSpPr>
        <p:spPr>
          <a:xfrm>
            <a:off x="4948733" y="1943100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9B5C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5" name="Google Shape;795;p33"/>
          <p:cNvCxnSpPr/>
          <p:nvPr/>
        </p:nvCxnSpPr>
        <p:spPr>
          <a:xfrm>
            <a:off x="7176211" y="1943100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9B5C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6" name="Google Shape;796;p33"/>
          <p:cNvCxnSpPr/>
          <p:nvPr/>
        </p:nvCxnSpPr>
        <p:spPr>
          <a:xfrm>
            <a:off x="9403690" y="1943100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9B5C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7" name="Google Shape;797;p33"/>
          <p:cNvSpPr/>
          <p:nvPr/>
        </p:nvSpPr>
        <p:spPr>
          <a:xfrm>
            <a:off x="640080" y="1508760"/>
            <a:ext cx="2062886" cy="868680"/>
          </a:xfrm>
          <a:prstGeom prst="roundRect">
            <a:avLst>
              <a:gd fmla="val 8421" name="adj"/>
            </a:avLst>
          </a:prstGeom>
          <a:solidFill>
            <a:srgbClr val="12172A"/>
          </a:solidFill>
          <a:ln cap="flat" cmpd="sng" w="12700">
            <a:solidFill>
              <a:srgbClr val="9B5C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33"/>
          <p:cNvSpPr/>
          <p:nvPr/>
        </p:nvSpPr>
        <p:spPr>
          <a:xfrm>
            <a:off x="685800" y="1581912"/>
            <a:ext cx="1971446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기억 파편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획득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9" name="Google Shape;799;p33"/>
          <p:cNvSpPr/>
          <p:nvPr/>
        </p:nvSpPr>
        <p:spPr>
          <a:xfrm>
            <a:off x="2867558" y="1508760"/>
            <a:ext cx="2062886" cy="868680"/>
          </a:xfrm>
          <a:prstGeom prst="roundRect">
            <a:avLst>
              <a:gd fmla="val 8421" name="adj"/>
            </a:avLst>
          </a:prstGeom>
          <a:solidFill>
            <a:srgbClr val="12172A"/>
          </a:solidFill>
          <a:ln cap="flat" cmpd="sng" w="12700">
            <a:solidFill>
              <a:srgbClr val="9B5C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3"/>
          <p:cNvSpPr/>
          <p:nvPr/>
        </p:nvSpPr>
        <p:spPr>
          <a:xfrm>
            <a:off x="2913278" y="1581912"/>
            <a:ext cx="1971446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탈출 성공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1" name="Google Shape;801;p33"/>
          <p:cNvSpPr/>
          <p:nvPr/>
        </p:nvSpPr>
        <p:spPr>
          <a:xfrm>
            <a:off x="5095037" y="1508760"/>
            <a:ext cx="2062886" cy="868680"/>
          </a:xfrm>
          <a:prstGeom prst="roundRect">
            <a:avLst>
              <a:gd fmla="val 8421" name="adj"/>
            </a:avLst>
          </a:prstGeom>
          <a:solidFill>
            <a:srgbClr val="12172A"/>
          </a:solidFill>
          <a:ln cap="flat" cmpd="sng" w="12700">
            <a:solidFill>
              <a:srgbClr val="9B5C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3"/>
          <p:cNvSpPr/>
          <p:nvPr/>
        </p:nvSpPr>
        <p:spPr>
          <a:xfrm>
            <a:off x="5140757" y="1581912"/>
            <a:ext cx="1971446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동조율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상승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3" name="Google Shape;803;p33"/>
          <p:cNvSpPr/>
          <p:nvPr/>
        </p:nvSpPr>
        <p:spPr>
          <a:xfrm>
            <a:off x="7322515" y="1508760"/>
            <a:ext cx="2062886" cy="868680"/>
          </a:xfrm>
          <a:prstGeom prst="roundRect">
            <a:avLst>
              <a:gd fmla="val 8421" name="adj"/>
            </a:avLst>
          </a:prstGeom>
          <a:solidFill>
            <a:srgbClr val="12172A"/>
          </a:solidFill>
          <a:ln cap="flat" cmpd="sng" w="12700">
            <a:solidFill>
              <a:srgbClr val="9B5C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3"/>
          <p:cNvSpPr/>
          <p:nvPr/>
        </p:nvSpPr>
        <p:spPr>
          <a:xfrm>
            <a:off x="7368235" y="1581912"/>
            <a:ext cx="1971446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기록 01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해금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05" name="Google Shape;805;p33"/>
          <p:cNvSpPr/>
          <p:nvPr/>
        </p:nvSpPr>
        <p:spPr>
          <a:xfrm>
            <a:off x="9549994" y="1508760"/>
            <a:ext cx="2062886" cy="868680"/>
          </a:xfrm>
          <a:prstGeom prst="roundRect">
            <a:avLst>
              <a:gd fmla="val 8421" name="adj"/>
            </a:avLst>
          </a:prstGeom>
          <a:solidFill>
            <a:srgbClr val="12172A"/>
          </a:solidFill>
          <a:ln cap="flat" cmpd="sng" w="12700">
            <a:solidFill>
              <a:srgbClr val="9B5C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3"/>
          <p:cNvSpPr/>
          <p:nvPr/>
        </p:nvSpPr>
        <p:spPr>
          <a:xfrm>
            <a:off x="9595714" y="1581912"/>
            <a:ext cx="1971446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대사 변화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807" name="Google Shape;807;p33"/>
          <p:cNvCxnSpPr/>
          <p:nvPr/>
        </p:nvCxnSpPr>
        <p:spPr>
          <a:xfrm>
            <a:off x="2721254" y="3589020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8" name="Google Shape;808;p33"/>
          <p:cNvCxnSpPr/>
          <p:nvPr/>
        </p:nvCxnSpPr>
        <p:spPr>
          <a:xfrm>
            <a:off x="4948733" y="3589020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9" name="Google Shape;809;p33"/>
          <p:cNvCxnSpPr/>
          <p:nvPr/>
        </p:nvCxnSpPr>
        <p:spPr>
          <a:xfrm>
            <a:off x="7176211" y="3589020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0" name="Google Shape;810;p33"/>
          <p:cNvCxnSpPr/>
          <p:nvPr/>
        </p:nvCxnSpPr>
        <p:spPr>
          <a:xfrm>
            <a:off x="9403690" y="3589020"/>
            <a:ext cx="128016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1" name="Google Shape;811;p33"/>
          <p:cNvSpPr/>
          <p:nvPr/>
        </p:nvSpPr>
        <p:spPr>
          <a:xfrm>
            <a:off x="640080" y="3154680"/>
            <a:ext cx="2062886" cy="868680"/>
          </a:xfrm>
          <a:prstGeom prst="roundRect">
            <a:avLst>
              <a:gd fmla="val 8421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3"/>
          <p:cNvSpPr/>
          <p:nvPr/>
        </p:nvSpPr>
        <p:spPr>
          <a:xfrm>
            <a:off x="685800" y="3227832"/>
            <a:ext cx="1971446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마나석/회복약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획득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3" name="Google Shape;813;p33"/>
          <p:cNvSpPr/>
          <p:nvPr/>
        </p:nvSpPr>
        <p:spPr>
          <a:xfrm>
            <a:off x="2867558" y="3154680"/>
            <a:ext cx="2062886" cy="868680"/>
          </a:xfrm>
          <a:prstGeom prst="roundRect">
            <a:avLst>
              <a:gd fmla="val 8421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3"/>
          <p:cNvSpPr/>
          <p:nvPr/>
        </p:nvSpPr>
        <p:spPr>
          <a:xfrm>
            <a:off x="2913278" y="3227832"/>
            <a:ext cx="1971446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탈출 성공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5" name="Google Shape;815;p33"/>
          <p:cNvSpPr/>
          <p:nvPr/>
        </p:nvSpPr>
        <p:spPr>
          <a:xfrm>
            <a:off x="5095037" y="3154680"/>
            <a:ext cx="2062886" cy="868680"/>
          </a:xfrm>
          <a:prstGeom prst="roundRect">
            <a:avLst>
              <a:gd fmla="val 8421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33"/>
          <p:cNvSpPr/>
          <p:nvPr/>
        </p:nvSpPr>
        <p:spPr>
          <a:xfrm>
            <a:off x="5140757" y="3227832"/>
            <a:ext cx="1971446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창고 저장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7" name="Google Shape;817;p33"/>
          <p:cNvSpPr/>
          <p:nvPr/>
        </p:nvSpPr>
        <p:spPr>
          <a:xfrm>
            <a:off x="7322515" y="3154680"/>
            <a:ext cx="2062886" cy="868680"/>
          </a:xfrm>
          <a:prstGeom prst="roundRect">
            <a:avLst>
              <a:gd fmla="val 8421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3"/>
          <p:cNvSpPr/>
          <p:nvPr/>
        </p:nvSpPr>
        <p:spPr>
          <a:xfrm>
            <a:off x="7368235" y="3227832"/>
            <a:ext cx="1971446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퀵슬롯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장착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9" name="Google Shape;819;p33"/>
          <p:cNvSpPr/>
          <p:nvPr/>
        </p:nvSpPr>
        <p:spPr>
          <a:xfrm>
            <a:off x="9549994" y="3154680"/>
            <a:ext cx="2062886" cy="868680"/>
          </a:xfrm>
          <a:prstGeom prst="roundRect">
            <a:avLst>
              <a:gd fmla="val 8421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33"/>
          <p:cNvSpPr/>
          <p:nvPr/>
        </p:nvSpPr>
        <p:spPr>
          <a:xfrm>
            <a:off x="9595714" y="3227832"/>
            <a:ext cx="1971446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다음 세션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50"/>
              <a:buFont typeface="Noto Sans"/>
              <a:buNone/>
            </a:pPr>
            <a:r>
              <a:rPr b="1" i="0" lang="en-US" sz="11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사용</a:t>
            </a:r>
            <a:endParaRPr b="0" i="0" sz="11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1" name="Google Shape;821;p33"/>
          <p:cNvSpPr/>
          <p:nvPr/>
        </p:nvSpPr>
        <p:spPr>
          <a:xfrm>
            <a:off x="1051560" y="5257800"/>
            <a:ext cx="10058400" cy="548640"/>
          </a:xfrm>
          <a:prstGeom prst="roundRect">
            <a:avLst>
              <a:gd fmla="val 13333" name="adj"/>
            </a:avLst>
          </a:prstGeom>
          <a:solidFill>
            <a:srgbClr val="0D1020">
              <a:alpha val="94901"/>
            </a:srgbClr>
          </a:solidFill>
          <a:ln cap="flat" cmpd="sng" w="12700">
            <a:solidFill>
              <a:srgbClr val="F7C66D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33"/>
          <p:cNvSpPr/>
          <p:nvPr/>
        </p:nvSpPr>
        <p:spPr>
          <a:xfrm>
            <a:off x="1252728" y="5422392"/>
            <a:ext cx="96560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파밍해서 탈출하면 캐릭터가 변하고, 창고가 채워지며, 다음 출격의 이유가 생긴다.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3" name="Google Shape;823;p33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4" name="Google Shape;824;p33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33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ucid_assets_opt/main.jpg" id="830" name="Google Shape;830;p34"/>
          <p:cNvPicPr preferRelativeResize="0"/>
          <p:nvPr/>
        </p:nvPicPr>
        <p:blipFill rotWithShape="1">
          <a:blip r:embed="rId3">
            <a:alphaModFix/>
          </a:blip>
          <a:srcRect b="0" l="1" r="1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3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54901"/>
            </a:srgbClr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34"/>
          <p:cNvSpPr/>
          <p:nvPr/>
        </p:nvSpPr>
        <p:spPr>
          <a:xfrm>
            <a:off x="137160" y="137160"/>
            <a:ext cx="11917375" cy="6583680"/>
          </a:xfrm>
          <a:prstGeom prst="rect">
            <a:avLst/>
          </a:prstGeom>
          <a:solidFill>
            <a:srgbClr val="05070D">
              <a:alpha val="0"/>
            </a:srgbClr>
          </a:solidFill>
          <a:ln cap="flat" cmpd="sng" w="12700">
            <a:solidFill>
              <a:srgbClr val="9B5C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4"/>
          <p:cNvSpPr/>
          <p:nvPr/>
        </p:nvSpPr>
        <p:spPr>
          <a:xfrm>
            <a:off x="685800" y="1051560"/>
            <a:ext cx="1371600" cy="292608"/>
          </a:xfrm>
          <a:prstGeom prst="roundRect">
            <a:avLst>
              <a:gd fmla="val 12500" name="adj"/>
            </a:avLst>
          </a:prstGeom>
          <a:solidFill>
            <a:srgbClr val="F2418D">
              <a:alpha val="92156"/>
            </a:srgbClr>
          </a:solidFill>
          <a:ln cap="flat" cmpd="sng" w="12700">
            <a:solidFill>
              <a:srgbClr val="F2418D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4"/>
          <p:cNvSpPr/>
          <p:nvPr/>
        </p:nvSpPr>
        <p:spPr>
          <a:xfrm>
            <a:off x="758952" y="1115568"/>
            <a:ext cx="12252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Noto San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PART 6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35" name="Google Shape;835;p34"/>
          <p:cNvSpPr/>
          <p:nvPr/>
        </p:nvSpPr>
        <p:spPr>
          <a:xfrm>
            <a:off x="685800" y="192024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3200"/>
              <a:buFont typeface="Noto Sans"/>
              <a:buNone/>
            </a:pPr>
            <a:r>
              <a:rPr b="1" i="0" lang="en-US" sz="3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주요 화면 / UI</a:t>
            </a:r>
            <a:endParaRPr b="0" i="0" sz="3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36" name="Google Shape;836;p34"/>
          <p:cNvSpPr/>
          <p:nvPr/>
        </p:nvSpPr>
        <p:spPr>
          <a:xfrm>
            <a:off x="713232" y="27432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500"/>
              <a:buFont typeface="Noto Sans"/>
              <a:buNone/>
            </a:pPr>
            <a:r>
              <a:rPr b="0" i="0" lang="en-US" sz="150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시각 레퍼런스로 보는 P0 시연 흐름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37" name="Google Shape;837;p34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38" name="Google Shape;838;p34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34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D"/>
        </a:solidFill>
      </p:bgPr>
    </p:bg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3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35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로비 / 관제실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6" name="Google Shape;846;p35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출격 전후로 캐릭터 변화가 체감되는 허브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47" name="Google Shape;847;p35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lucid_assets_opt/lobby.jpg" id="848" name="Google Shape;848;p35"/>
          <p:cNvPicPr preferRelativeResize="0"/>
          <p:nvPr/>
        </p:nvPicPr>
        <p:blipFill rotWithShape="1">
          <a:blip r:embed="rId3">
            <a:alphaModFix/>
          </a:blip>
          <a:srcRect b="11337" l="0" r="0" t="11337"/>
          <a:stretch/>
        </p:blipFill>
        <p:spPr>
          <a:xfrm>
            <a:off x="457200" y="1207008"/>
            <a:ext cx="11247120" cy="4892040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35"/>
          <p:cNvSpPr/>
          <p:nvPr/>
        </p:nvSpPr>
        <p:spPr>
          <a:xfrm>
            <a:off x="457200" y="5852160"/>
            <a:ext cx="11247120" cy="292608"/>
          </a:xfrm>
          <a:prstGeom prst="rect">
            <a:avLst/>
          </a:prstGeom>
          <a:solidFill>
            <a:srgbClr val="000000">
              <a:alpha val="74901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35"/>
          <p:cNvSpPr/>
          <p:nvPr/>
        </p:nvSpPr>
        <p:spPr>
          <a:xfrm>
            <a:off x="640080" y="5934456"/>
            <a:ext cx="1088136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동조율, NEW 알림, 귀환 대사가 로비에서 반영된다.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1" name="Google Shape;851;p35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52" name="Google Shape;852;p35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35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D"/>
        </a:solidFill>
      </p:bgPr>
    </p:bg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3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36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출격 준비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0" name="Google Shape;860;p36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다음 세션에 가져갈 소비 기물을 선택하는 화면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1" name="Google Shape;861;p36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lucid_assets_opt/sortie.jpg" id="862" name="Google Shape;862;p36"/>
          <p:cNvPicPr preferRelativeResize="0"/>
          <p:nvPr/>
        </p:nvPicPr>
        <p:blipFill rotWithShape="1">
          <a:blip r:embed="rId3">
            <a:alphaModFix/>
          </a:blip>
          <a:srcRect b="11337" l="0" r="0" t="11337"/>
          <a:stretch/>
        </p:blipFill>
        <p:spPr>
          <a:xfrm>
            <a:off x="457200" y="1207008"/>
            <a:ext cx="11247120" cy="4892040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36"/>
          <p:cNvSpPr/>
          <p:nvPr/>
        </p:nvSpPr>
        <p:spPr>
          <a:xfrm>
            <a:off x="457200" y="5852160"/>
            <a:ext cx="11247120" cy="292608"/>
          </a:xfrm>
          <a:prstGeom prst="rect">
            <a:avLst/>
          </a:prstGeom>
          <a:solidFill>
            <a:srgbClr val="000000">
              <a:alpha val="74901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36"/>
          <p:cNvSpPr/>
          <p:nvPr/>
        </p:nvSpPr>
        <p:spPr>
          <a:xfrm>
            <a:off x="640080" y="5934456"/>
            <a:ext cx="1088136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P0에서는 회복약과 마나석을 2칸 퀵슬롯에 장착하는 구조만 구현한다.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5" name="Google Shape;865;p36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6" name="Google Shape;866;p36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36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D"/>
        </a:solidFill>
      </p:bgPr>
    </p:bg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3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37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인게임 HUD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4" name="Google Shape;874;p37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전투, 기억 파편 카운터, HP/Mana, 퀵슬롯을 동시에 전달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5" name="Google Shape;875;p37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37"/>
          <p:cNvSpPr/>
          <p:nvPr/>
        </p:nvSpPr>
        <p:spPr>
          <a:xfrm>
            <a:off x="594360" y="1188720"/>
            <a:ext cx="5440680" cy="4297680"/>
          </a:xfrm>
          <a:prstGeom prst="roundRect">
            <a:avLst>
              <a:gd fmla="val 1702" name="adj"/>
            </a:avLst>
          </a:prstGeom>
          <a:solidFill>
            <a:srgbClr val="000000"/>
          </a:solidFill>
          <a:ln cap="flat" cmpd="sng" w="12700">
            <a:solidFill>
              <a:srgbClr val="324057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lucid_assets_opt/ingameA.jpg" id="877" name="Google Shape;877;p37"/>
          <p:cNvPicPr preferRelativeResize="0"/>
          <p:nvPr/>
        </p:nvPicPr>
        <p:blipFill rotWithShape="1">
          <a:blip r:embed="rId3">
            <a:alphaModFix/>
          </a:blip>
          <a:srcRect b="0" l="21488" r="21488" t="0"/>
          <a:stretch/>
        </p:blipFill>
        <p:spPr>
          <a:xfrm>
            <a:off x="621792" y="1216152"/>
            <a:ext cx="5385816" cy="4242816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37"/>
          <p:cNvSpPr/>
          <p:nvPr/>
        </p:nvSpPr>
        <p:spPr>
          <a:xfrm>
            <a:off x="621792" y="5102352"/>
            <a:ext cx="5385816" cy="329184"/>
          </a:xfrm>
          <a:prstGeom prst="rect">
            <a:avLst/>
          </a:prstGeom>
          <a:solidFill>
            <a:srgbClr val="000000">
              <a:alpha val="80000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37"/>
          <p:cNvSpPr/>
          <p:nvPr/>
        </p:nvSpPr>
        <p:spPr>
          <a:xfrm>
            <a:off x="731520" y="5193792"/>
            <a:ext cx="5166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루시드 다이버 지향 인게임 톤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0" name="Google Shape;880;p37"/>
          <p:cNvSpPr/>
          <p:nvPr/>
        </p:nvSpPr>
        <p:spPr>
          <a:xfrm>
            <a:off x="6172200" y="1188720"/>
            <a:ext cx="5440680" cy="4297680"/>
          </a:xfrm>
          <a:prstGeom prst="roundRect">
            <a:avLst>
              <a:gd fmla="val 1702" name="adj"/>
            </a:avLst>
          </a:prstGeom>
          <a:solidFill>
            <a:srgbClr val="000000"/>
          </a:solidFill>
          <a:ln cap="flat" cmpd="sng" w="12700">
            <a:solidFill>
              <a:srgbClr val="324057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lucid_assets_opt/ingameB.jpg" id="881" name="Google Shape;881;p37"/>
          <p:cNvPicPr preferRelativeResize="0"/>
          <p:nvPr/>
        </p:nvPicPr>
        <p:blipFill rotWithShape="1">
          <a:blip r:embed="rId4">
            <a:alphaModFix/>
          </a:blip>
          <a:srcRect b="0" l="14336" r="14336" t="0"/>
          <a:stretch/>
        </p:blipFill>
        <p:spPr>
          <a:xfrm>
            <a:off x="6199632" y="1216152"/>
            <a:ext cx="5385816" cy="4242816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37"/>
          <p:cNvSpPr/>
          <p:nvPr/>
        </p:nvSpPr>
        <p:spPr>
          <a:xfrm>
            <a:off x="6199632" y="5102352"/>
            <a:ext cx="5385816" cy="329184"/>
          </a:xfrm>
          <a:prstGeom prst="rect">
            <a:avLst/>
          </a:prstGeom>
          <a:solidFill>
            <a:srgbClr val="000000">
              <a:alpha val="80000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37"/>
          <p:cNvSpPr/>
          <p:nvPr/>
        </p:nvSpPr>
        <p:spPr>
          <a:xfrm>
            <a:off x="6309360" y="5193792"/>
            <a:ext cx="5166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익스트랙션/전투 레퍼런스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4" name="Google Shape;884;p37"/>
          <p:cNvSpPr/>
          <p:nvPr/>
        </p:nvSpPr>
        <p:spPr>
          <a:xfrm>
            <a:off x="1280160" y="5806440"/>
            <a:ext cx="9601200" cy="457200"/>
          </a:xfrm>
          <a:prstGeom prst="roundRect">
            <a:avLst>
              <a:gd fmla="val 16000" name="adj"/>
            </a:avLst>
          </a:prstGeom>
          <a:solidFill>
            <a:srgbClr val="0D1020">
              <a:alpha val="94901"/>
            </a:srgbClr>
          </a:solidFill>
          <a:ln cap="flat" cmpd="sng" w="12700">
            <a:solidFill>
              <a:srgbClr val="44D7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37"/>
          <p:cNvSpPr/>
          <p:nvPr/>
        </p:nvSpPr>
        <p:spPr>
          <a:xfrm>
            <a:off x="1481328" y="5971032"/>
            <a:ext cx="919886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P0 전투는 “회수 → 탈출 정산” 루프를 작동시키는 최소 전투로 설계한다.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6" name="Google Shape;886;p37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7" name="Google Shape;887;p37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37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D"/>
        </a:solidFill>
      </p:bgPr>
    </p:bg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3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8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결과창: 성공과 실패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5" name="Google Shape;895;p38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기억 복구와 유실을 가장 명확하게 보여주는 화면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6" name="Google Shape;896;p38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8"/>
          <p:cNvSpPr/>
          <p:nvPr/>
        </p:nvSpPr>
        <p:spPr>
          <a:xfrm>
            <a:off x="594360" y="1143000"/>
            <a:ext cx="5669280" cy="4343400"/>
          </a:xfrm>
          <a:prstGeom prst="roundRect">
            <a:avLst>
              <a:gd fmla="val 1684" name="adj"/>
            </a:avLst>
          </a:prstGeom>
          <a:solidFill>
            <a:srgbClr val="000000"/>
          </a:solidFill>
          <a:ln cap="flat" cmpd="sng" w="12700">
            <a:solidFill>
              <a:srgbClr val="324057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lucid_assets_opt/success.jpg" id="898" name="Google Shape;898;p38"/>
          <p:cNvPicPr preferRelativeResize="0"/>
          <p:nvPr/>
        </p:nvPicPr>
        <p:blipFill rotWithShape="1">
          <a:blip r:embed="rId3">
            <a:alphaModFix/>
          </a:blip>
          <a:srcRect b="0" l="13180" r="13180" t="0"/>
          <a:stretch/>
        </p:blipFill>
        <p:spPr>
          <a:xfrm>
            <a:off x="621792" y="1170432"/>
            <a:ext cx="5614416" cy="4288536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38"/>
          <p:cNvSpPr/>
          <p:nvPr/>
        </p:nvSpPr>
        <p:spPr>
          <a:xfrm>
            <a:off x="621792" y="5102352"/>
            <a:ext cx="5614416" cy="329184"/>
          </a:xfrm>
          <a:prstGeom prst="rect">
            <a:avLst/>
          </a:prstGeom>
          <a:solidFill>
            <a:srgbClr val="000000">
              <a:alpha val="80000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38"/>
          <p:cNvSpPr/>
          <p:nvPr/>
        </p:nvSpPr>
        <p:spPr>
          <a:xfrm>
            <a:off x="731520" y="5193792"/>
            <a:ext cx="53949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탈출 성공: 기억 파편 자동 소모 → 동조율 상승 → 기록 해금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1" name="Google Shape;901;p38"/>
          <p:cNvSpPr/>
          <p:nvPr/>
        </p:nvSpPr>
        <p:spPr>
          <a:xfrm>
            <a:off x="6537960" y="1143000"/>
            <a:ext cx="4297680" cy="4343400"/>
          </a:xfrm>
          <a:prstGeom prst="roundRect">
            <a:avLst>
              <a:gd fmla="val 1702" name="adj"/>
            </a:avLst>
          </a:prstGeom>
          <a:solidFill>
            <a:srgbClr val="000000"/>
          </a:solidFill>
          <a:ln cap="flat" cmpd="sng" w="12700">
            <a:solidFill>
              <a:srgbClr val="324057">
                <a:alpha val="5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lucid_assets_opt/fail.jpg" id="902" name="Google Shape;902;p38"/>
          <p:cNvPicPr preferRelativeResize="0"/>
          <p:nvPr/>
        </p:nvPicPr>
        <p:blipFill rotWithShape="1">
          <a:blip r:embed="rId4">
            <a:alphaModFix/>
          </a:blip>
          <a:srcRect b="0" l="533" r="533" t="0"/>
          <a:stretch/>
        </p:blipFill>
        <p:spPr>
          <a:xfrm>
            <a:off x="6565392" y="1170432"/>
            <a:ext cx="4242816" cy="4288536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38"/>
          <p:cNvSpPr/>
          <p:nvPr/>
        </p:nvSpPr>
        <p:spPr>
          <a:xfrm>
            <a:off x="6565392" y="5102352"/>
            <a:ext cx="4242816" cy="329184"/>
          </a:xfrm>
          <a:prstGeom prst="rect">
            <a:avLst/>
          </a:prstGeom>
          <a:solidFill>
            <a:srgbClr val="000000">
              <a:alpha val="80000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8"/>
          <p:cNvSpPr/>
          <p:nvPr/>
        </p:nvSpPr>
        <p:spPr>
          <a:xfrm>
            <a:off x="6675120" y="5193792"/>
            <a:ext cx="40233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강제 각성: 회수품 유실 / 기록 해금 실패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5" name="Google Shape;905;p38"/>
          <p:cNvSpPr/>
          <p:nvPr/>
        </p:nvSpPr>
        <p:spPr>
          <a:xfrm>
            <a:off x="1097280" y="5760720"/>
            <a:ext cx="9966960" cy="457200"/>
          </a:xfrm>
          <a:prstGeom prst="roundRect">
            <a:avLst>
              <a:gd fmla="val 16000" name="adj"/>
            </a:avLst>
          </a:prstGeom>
          <a:solidFill>
            <a:srgbClr val="0D1020">
              <a:alpha val="94901"/>
            </a:srgbClr>
          </a:solidFill>
          <a:ln cap="flat" cmpd="sng" w="12700">
            <a:solidFill>
              <a:srgbClr val="F2418D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38"/>
          <p:cNvSpPr/>
          <p:nvPr/>
        </p:nvSpPr>
        <p:spPr>
          <a:xfrm>
            <a:off x="1298448" y="5925312"/>
            <a:ext cx="956462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350"/>
              <a:buFont typeface="Noto Sans"/>
              <a:buNone/>
            </a:pPr>
            <a:r>
              <a:rPr b="1" i="0" lang="en-US" sz="13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성공과 실패의 차이는 숫자가 아니라, “되찾을 수 있었던 기억”의 유실로 체감된다.</a:t>
            </a:r>
            <a:endParaRPr b="0" i="0" sz="13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7" name="Google Shape;907;p38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08" name="Google Shape;908;p38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38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D"/>
        </a:solidFill>
      </p:bgPr>
    </p:bg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39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다이버 / 기록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6" name="Google Shape;916;p39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동조율 상승으로 해금된 개인 심상 기록을 확인하는 화면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17" name="Google Shape;917;p39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lucid_assets_opt/record.jpg" id="918" name="Google Shape;918;p39"/>
          <p:cNvPicPr preferRelativeResize="0"/>
          <p:nvPr/>
        </p:nvPicPr>
        <p:blipFill rotWithShape="1">
          <a:blip r:embed="rId3">
            <a:alphaModFix/>
          </a:blip>
          <a:srcRect b="11337" l="0" r="0" t="11337"/>
          <a:stretch/>
        </p:blipFill>
        <p:spPr>
          <a:xfrm>
            <a:off x="457200" y="1207008"/>
            <a:ext cx="11247120" cy="4892040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39"/>
          <p:cNvSpPr/>
          <p:nvPr/>
        </p:nvSpPr>
        <p:spPr>
          <a:xfrm>
            <a:off x="457200" y="5852160"/>
            <a:ext cx="11247120" cy="292608"/>
          </a:xfrm>
          <a:prstGeom prst="rect">
            <a:avLst/>
          </a:prstGeom>
          <a:solidFill>
            <a:srgbClr val="000000">
              <a:alpha val="74901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39"/>
          <p:cNvSpPr/>
          <p:nvPr/>
        </p:nvSpPr>
        <p:spPr>
          <a:xfrm>
            <a:off x="640080" y="5934456"/>
            <a:ext cx="1088136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P0에서는 채린의 ‘끊어진 귀환 로그’ 1개만 구현한다.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1" name="Google Shape;921;p39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2" name="Google Shape;922;p39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39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D"/>
        </a:solidFill>
      </p:bgPr>
    </p:bg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4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40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창고 / 인벤토리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0" name="Google Shape;930;p40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탈출 성공으로 보존한 마나석/회복약을 다음 출격 준비로 연결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1" name="Google Shape;931;p40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lucid_assets_opt/storage.jpg" id="932" name="Google Shape;932;p40"/>
          <p:cNvPicPr preferRelativeResize="0"/>
          <p:nvPr/>
        </p:nvPicPr>
        <p:blipFill rotWithShape="1">
          <a:blip r:embed="rId3">
            <a:alphaModFix/>
          </a:blip>
          <a:srcRect b="11337" l="0" r="0" t="11337"/>
          <a:stretch/>
        </p:blipFill>
        <p:spPr>
          <a:xfrm>
            <a:off x="457200" y="1207008"/>
            <a:ext cx="11247120" cy="4892040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40"/>
          <p:cNvSpPr/>
          <p:nvPr/>
        </p:nvSpPr>
        <p:spPr>
          <a:xfrm>
            <a:off x="457200" y="5852160"/>
            <a:ext cx="11247120" cy="292608"/>
          </a:xfrm>
          <a:prstGeom prst="rect">
            <a:avLst/>
          </a:prstGeom>
          <a:solidFill>
            <a:srgbClr val="000000">
              <a:alpha val="74901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40"/>
          <p:cNvSpPr/>
          <p:nvPr/>
        </p:nvSpPr>
        <p:spPr>
          <a:xfrm>
            <a:off x="640080" y="5934456"/>
            <a:ext cx="1088136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750"/>
              <a:buFont typeface="Noto Sans"/>
              <a:buNone/>
            </a:pPr>
            <a:r>
              <a:rPr b="0" i="0" lang="en-US" sz="7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UI 이미지는 목표 비주얼 레퍼런스이며, 실제 구현 범위는 P0 시스템 명세를 우선한다.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5" name="Google Shape;935;p40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36" name="Google Shape;936;p40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40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ucid_assets_opt/main.jpg" id="942" name="Google Shape;942;p41"/>
          <p:cNvPicPr preferRelativeResize="0"/>
          <p:nvPr/>
        </p:nvPicPr>
        <p:blipFill rotWithShape="1">
          <a:blip r:embed="rId3">
            <a:alphaModFix/>
          </a:blip>
          <a:srcRect b="0" l="1" r="1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4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54901"/>
            </a:srgbClr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41"/>
          <p:cNvSpPr/>
          <p:nvPr/>
        </p:nvSpPr>
        <p:spPr>
          <a:xfrm>
            <a:off x="137160" y="137160"/>
            <a:ext cx="11917375" cy="6583680"/>
          </a:xfrm>
          <a:prstGeom prst="rect">
            <a:avLst/>
          </a:prstGeom>
          <a:solidFill>
            <a:srgbClr val="05070D">
              <a:alpha val="0"/>
            </a:srgbClr>
          </a:solidFill>
          <a:ln cap="flat" cmpd="sng" w="12700">
            <a:solidFill>
              <a:srgbClr val="9B5C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41"/>
          <p:cNvSpPr/>
          <p:nvPr/>
        </p:nvSpPr>
        <p:spPr>
          <a:xfrm>
            <a:off x="685800" y="1051560"/>
            <a:ext cx="1371600" cy="292608"/>
          </a:xfrm>
          <a:prstGeom prst="roundRect">
            <a:avLst>
              <a:gd fmla="val 12500" name="adj"/>
            </a:avLst>
          </a:prstGeom>
          <a:solidFill>
            <a:srgbClr val="F2418D">
              <a:alpha val="92156"/>
            </a:srgbClr>
          </a:solidFill>
          <a:ln cap="flat" cmpd="sng" w="12700">
            <a:solidFill>
              <a:srgbClr val="F2418D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41"/>
          <p:cNvSpPr/>
          <p:nvPr/>
        </p:nvSpPr>
        <p:spPr>
          <a:xfrm>
            <a:off x="758952" y="1115568"/>
            <a:ext cx="12252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Noto Sans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PART 7</a:t>
            </a:r>
            <a:endParaRPr b="0" i="0" sz="7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7" name="Google Shape;947;p41"/>
          <p:cNvSpPr/>
          <p:nvPr/>
        </p:nvSpPr>
        <p:spPr>
          <a:xfrm>
            <a:off x="685800" y="192024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3200"/>
              <a:buFont typeface="Noto Sans"/>
              <a:buNone/>
            </a:pPr>
            <a:r>
              <a:rPr b="1" i="0" lang="en-US" sz="3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트레일러 방향과 개발 계획</a:t>
            </a:r>
            <a:endParaRPr b="0" i="0" sz="3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8" name="Google Shape;948;p41"/>
          <p:cNvSpPr/>
          <p:nvPr/>
        </p:nvSpPr>
        <p:spPr>
          <a:xfrm>
            <a:off x="713232" y="27432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500"/>
              <a:buFont typeface="Noto Sans"/>
              <a:buNone/>
            </a:pPr>
            <a:r>
              <a:rPr b="0" i="0" lang="en-US" sz="150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설득용 시연 흐름과 리스크 통제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9" name="Google Shape;949;p41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0" name="Google Shape;950;p41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41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ucid_assets_opt/main.jpg" id="956" name="Google Shape;956;p42"/>
          <p:cNvPicPr preferRelativeResize="0"/>
          <p:nvPr/>
        </p:nvPicPr>
        <p:blipFill rotWithShape="1">
          <a:blip r:embed="rId3">
            <a:alphaModFix/>
          </a:blip>
          <a:srcRect b="0" l="1" r="1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4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21960"/>
            </a:srgbClr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42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30초 트레일러 콘티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9" name="Google Shape;959;p42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추후 영상 제작 시 보여줄 핵심 감정선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0" name="Google Shape;960;p42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42"/>
          <p:cNvSpPr/>
          <p:nvPr/>
        </p:nvSpPr>
        <p:spPr>
          <a:xfrm>
            <a:off x="822960" y="1325880"/>
            <a:ext cx="10607040" cy="723900"/>
          </a:xfrm>
          <a:prstGeom prst="rect">
            <a:avLst/>
          </a:prstGeom>
          <a:solidFill>
            <a:srgbClr val="1B2236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42"/>
          <p:cNvSpPr/>
          <p:nvPr/>
        </p:nvSpPr>
        <p:spPr>
          <a:xfrm>
            <a:off x="896112" y="1399032"/>
            <a:ext cx="1799539" cy="61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구간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3" name="Google Shape;963;p42"/>
          <p:cNvSpPr/>
          <p:nvPr/>
        </p:nvSpPr>
        <p:spPr>
          <a:xfrm>
            <a:off x="2805379" y="1399032"/>
            <a:ext cx="8551469" cy="61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장면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4" name="Google Shape;964;p42"/>
          <p:cNvSpPr/>
          <p:nvPr/>
        </p:nvSpPr>
        <p:spPr>
          <a:xfrm>
            <a:off x="822960" y="2049780"/>
            <a:ext cx="10607040" cy="723900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42"/>
          <p:cNvSpPr/>
          <p:nvPr/>
        </p:nvSpPr>
        <p:spPr>
          <a:xfrm>
            <a:off x="896112" y="2122932"/>
            <a:ext cx="1799539" cy="61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0~5초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6" name="Google Shape;966;p42"/>
          <p:cNvSpPr/>
          <p:nvPr/>
        </p:nvSpPr>
        <p:spPr>
          <a:xfrm>
            <a:off x="2805379" y="2122932"/>
            <a:ext cx="8551469" cy="61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보라색 균열이 도시를 삼킨다. “도시는 꿈에 잠겼다.”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7" name="Google Shape;967;p42"/>
          <p:cNvSpPr/>
          <p:nvPr/>
        </p:nvSpPr>
        <p:spPr>
          <a:xfrm>
            <a:off x="822960" y="2773680"/>
            <a:ext cx="10607040" cy="7239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42"/>
          <p:cNvSpPr/>
          <p:nvPr/>
        </p:nvSpPr>
        <p:spPr>
          <a:xfrm>
            <a:off x="896112" y="2846832"/>
            <a:ext cx="1799539" cy="61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5~10초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9" name="Google Shape;969;p42"/>
          <p:cNvSpPr/>
          <p:nvPr/>
        </p:nvSpPr>
        <p:spPr>
          <a:xfrm>
            <a:off x="2805379" y="2846832"/>
            <a:ext cx="8551469" cy="61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채린이 눈을 뜬다. “넌 누구야… 왜 네 목소리가 익숙하지?”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0" name="Google Shape;970;p42"/>
          <p:cNvSpPr/>
          <p:nvPr/>
        </p:nvSpPr>
        <p:spPr>
          <a:xfrm>
            <a:off x="822960" y="3497580"/>
            <a:ext cx="10607040" cy="723900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42"/>
          <p:cNvSpPr/>
          <p:nvPr/>
        </p:nvSpPr>
        <p:spPr>
          <a:xfrm>
            <a:off x="896112" y="3570732"/>
            <a:ext cx="1799539" cy="61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10~18초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2" name="Google Shape;972;p42"/>
          <p:cNvSpPr/>
          <p:nvPr/>
        </p:nvSpPr>
        <p:spPr>
          <a:xfrm>
            <a:off x="2805379" y="3570732"/>
            <a:ext cx="8551469" cy="61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인게임 전투, 기억 파편 회수, 전화부스 탈출.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3" name="Google Shape;973;p42"/>
          <p:cNvSpPr/>
          <p:nvPr/>
        </p:nvSpPr>
        <p:spPr>
          <a:xfrm>
            <a:off x="822960" y="4221480"/>
            <a:ext cx="10607040" cy="7239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42"/>
          <p:cNvSpPr/>
          <p:nvPr/>
        </p:nvSpPr>
        <p:spPr>
          <a:xfrm>
            <a:off x="896112" y="4294632"/>
            <a:ext cx="1799539" cy="61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18~24초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5" name="Google Shape;975;p42"/>
          <p:cNvSpPr/>
          <p:nvPr/>
        </p:nvSpPr>
        <p:spPr>
          <a:xfrm>
            <a:off x="2805379" y="4294632"/>
            <a:ext cx="8551469" cy="61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결과창. 기억 파편 자동 소모 → 동조율 상승 → 기록 해금.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6" name="Google Shape;976;p42"/>
          <p:cNvSpPr/>
          <p:nvPr/>
        </p:nvSpPr>
        <p:spPr>
          <a:xfrm>
            <a:off x="822960" y="4945380"/>
            <a:ext cx="10607040" cy="723900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42"/>
          <p:cNvSpPr/>
          <p:nvPr/>
        </p:nvSpPr>
        <p:spPr>
          <a:xfrm>
            <a:off x="896112" y="5018532"/>
            <a:ext cx="1799539" cy="61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24~30초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8" name="Google Shape;978;p42"/>
          <p:cNvSpPr/>
          <p:nvPr/>
        </p:nvSpPr>
        <p:spPr>
          <a:xfrm>
            <a:off x="2805379" y="5018532"/>
            <a:ext cx="8551469" cy="61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로비 복귀. “기억났어. 너, 그때도 거기 있었지.”</a:t>
            </a:r>
            <a:endParaRPr b="0" i="0" sz="1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9" name="Google Shape;979;p42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0" name="Google Shape;980;p42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42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D"/>
        </a:solidFill>
      </p:bgPr>
    </p:bg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4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43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개발 계획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8" name="Google Shape;988;p43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날짜보다 마일스톤 기준으로 현실성을 재검토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9" name="Google Shape;989;p43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0" name="Google Shape;990;p43"/>
          <p:cNvCxnSpPr/>
          <p:nvPr/>
        </p:nvCxnSpPr>
        <p:spPr>
          <a:xfrm>
            <a:off x="2258568" y="2423160"/>
            <a:ext cx="36576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1" name="Google Shape;991;p43"/>
          <p:cNvCxnSpPr/>
          <p:nvPr/>
        </p:nvCxnSpPr>
        <p:spPr>
          <a:xfrm>
            <a:off x="4160520" y="2423160"/>
            <a:ext cx="36576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2" name="Google Shape;992;p43"/>
          <p:cNvCxnSpPr/>
          <p:nvPr/>
        </p:nvCxnSpPr>
        <p:spPr>
          <a:xfrm>
            <a:off x="6062472" y="2423160"/>
            <a:ext cx="36576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3" name="Google Shape;993;p43"/>
          <p:cNvCxnSpPr/>
          <p:nvPr/>
        </p:nvCxnSpPr>
        <p:spPr>
          <a:xfrm>
            <a:off x="7964424" y="2423160"/>
            <a:ext cx="36576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4" name="Google Shape;994;p43"/>
          <p:cNvCxnSpPr/>
          <p:nvPr/>
        </p:nvCxnSpPr>
        <p:spPr>
          <a:xfrm>
            <a:off x="9866376" y="2423160"/>
            <a:ext cx="36576" cy="0"/>
          </a:xfrm>
          <a:prstGeom prst="straightConnector1">
            <a:avLst/>
          </a:prstGeom>
          <a:noFill/>
          <a:ln cap="flat" cmpd="sng" w="12700">
            <a:solidFill>
              <a:srgbClr val="44D7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5" name="Google Shape;995;p43"/>
          <p:cNvSpPr/>
          <p:nvPr/>
        </p:nvSpPr>
        <p:spPr>
          <a:xfrm>
            <a:off x="411480" y="1965960"/>
            <a:ext cx="1828800" cy="914400"/>
          </a:xfrm>
          <a:prstGeom prst="roundRect">
            <a:avLst>
              <a:gd fmla="val 8000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43"/>
          <p:cNvSpPr/>
          <p:nvPr/>
        </p:nvSpPr>
        <p:spPr>
          <a:xfrm>
            <a:off x="457200" y="2039112"/>
            <a:ext cx="17373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M1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기획 동결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7" name="Google Shape;997;p43"/>
          <p:cNvSpPr/>
          <p:nvPr/>
        </p:nvSpPr>
        <p:spPr>
          <a:xfrm>
            <a:off x="2313432" y="1965960"/>
            <a:ext cx="1828800" cy="914400"/>
          </a:xfrm>
          <a:prstGeom prst="roundRect">
            <a:avLst>
              <a:gd fmla="val 8000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43"/>
          <p:cNvSpPr/>
          <p:nvPr/>
        </p:nvSpPr>
        <p:spPr>
          <a:xfrm>
            <a:off x="2359152" y="2039112"/>
            <a:ext cx="17373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M2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P0 Core 1차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99" name="Google Shape;999;p43"/>
          <p:cNvSpPr/>
          <p:nvPr/>
        </p:nvSpPr>
        <p:spPr>
          <a:xfrm>
            <a:off x="4215384" y="1965960"/>
            <a:ext cx="1828800" cy="914400"/>
          </a:xfrm>
          <a:prstGeom prst="roundRect">
            <a:avLst>
              <a:gd fmla="val 8000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43"/>
          <p:cNvSpPr/>
          <p:nvPr/>
        </p:nvSpPr>
        <p:spPr>
          <a:xfrm>
            <a:off x="4261104" y="2039112"/>
            <a:ext cx="17373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M3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정산 루프 통합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1" name="Google Shape;1001;p43"/>
          <p:cNvSpPr/>
          <p:nvPr/>
        </p:nvSpPr>
        <p:spPr>
          <a:xfrm>
            <a:off x="6117336" y="1965960"/>
            <a:ext cx="1828800" cy="914400"/>
          </a:xfrm>
          <a:prstGeom prst="roundRect">
            <a:avLst>
              <a:gd fmla="val 8000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43"/>
          <p:cNvSpPr/>
          <p:nvPr/>
        </p:nvSpPr>
        <p:spPr>
          <a:xfrm>
            <a:off x="6163056" y="2039112"/>
            <a:ext cx="17373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M4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QA 안정화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3" name="Google Shape;1003;p43"/>
          <p:cNvSpPr/>
          <p:nvPr/>
        </p:nvSpPr>
        <p:spPr>
          <a:xfrm>
            <a:off x="8019288" y="1965960"/>
            <a:ext cx="1828800" cy="914400"/>
          </a:xfrm>
          <a:prstGeom prst="roundRect">
            <a:avLst>
              <a:gd fmla="val 8000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43"/>
          <p:cNvSpPr/>
          <p:nvPr/>
        </p:nvSpPr>
        <p:spPr>
          <a:xfrm>
            <a:off x="8065008" y="2039112"/>
            <a:ext cx="17373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M5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리소스 적용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5" name="Google Shape;1005;p43"/>
          <p:cNvSpPr/>
          <p:nvPr/>
        </p:nvSpPr>
        <p:spPr>
          <a:xfrm>
            <a:off x="9921240" y="1965960"/>
            <a:ext cx="1828800" cy="914400"/>
          </a:xfrm>
          <a:prstGeom prst="roundRect">
            <a:avLst>
              <a:gd fmla="val 8000" name="adj"/>
            </a:avLst>
          </a:prstGeom>
          <a:solidFill>
            <a:srgbClr val="12172A"/>
          </a:solidFill>
          <a:ln cap="flat" cmpd="sng" w="12700">
            <a:solidFill>
              <a:srgbClr val="44D7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43"/>
          <p:cNvSpPr/>
          <p:nvPr/>
        </p:nvSpPr>
        <p:spPr>
          <a:xfrm>
            <a:off x="9966960" y="2039112"/>
            <a:ext cx="17373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M6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발표 빌드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7" name="Google Shape;1007;p43"/>
          <p:cNvSpPr/>
          <p:nvPr/>
        </p:nvSpPr>
        <p:spPr>
          <a:xfrm>
            <a:off x="1234440" y="4206240"/>
            <a:ext cx="9738360" cy="786384"/>
          </a:xfrm>
          <a:prstGeom prst="roundRect">
            <a:avLst>
              <a:gd fmla="val 9302" name="adj"/>
            </a:avLst>
          </a:prstGeom>
          <a:solidFill>
            <a:srgbClr val="0D1020">
              <a:alpha val="94901"/>
            </a:srgbClr>
          </a:solidFill>
          <a:ln cap="flat" cmpd="sng" w="12700">
            <a:solidFill>
              <a:srgbClr val="F7C66D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43"/>
          <p:cNvSpPr/>
          <p:nvPr/>
        </p:nvSpPr>
        <p:spPr>
          <a:xfrm>
            <a:off x="1435608" y="4370832"/>
            <a:ext cx="93360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일정은 팀 전체 직군 협의 후 재확정.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비현실적인 날짜보다 “동작하는 루프”를 우선한다.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09" name="Google Shape;1009;p43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10" name="Google Shape;1010;p43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43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70D"/>
        </a:solidFill>
      </p:bgPr>
    </p:bg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4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44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리스크 통제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18" name="Google Shape;1018;p44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서사 확장과 구현 범위를 분리한다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19" name="Google Shape;1019;p44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44"/>
          <p:cNvSpPr/>
          <p:nvPr/>
        </p:nvSpPr>
        <p:spPr>
          <a:xfrm>
            <a:off x="777240" y="1188720"/>
            <a:ext cx="10698480" cy="672737"/>
          </a:xfrm>
          <a:prstGeom prst="rect">
            <a:avLst/>
          </a:prstGeom>
          <a:solidFill>
            <a:srgbClr val="1B2236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44"/>
          <p:cNvSpPr/>
          <p:nvPr/>
        </p:nvSpPr>
        <p:spPr>
          <a:xfrm>
            <a:off x="850392" y="1261872"/>
            <a:ext cx="3741725" cy="563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리스크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2" name="Google Shape;1022;p44"/>
          <p:cNvSpPr/>
          <p:nvPr/>
        </p:nvSpPr>
        <p:spPr>
          <a:xfrm>
            <a:off x="4701845" y="1261872"/>
            <a:ext cx="6700723" cy="563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7FF"/>
              </a:buClr>
              <a:buSzPts val="1050"/>
              <a:buFont typeface="Noto Sans"/>
              <a:buNone/>
            </a:pPr>
            <a:r>
              <a:rPr b="1" i="0" lang="en-US" sz="1050" u="none" cap="none" strike="noStrike">
                <a:solidFill>
                  <a:srgbClr val="44D7FF"/>
                </a:solidFill>
                <a:latin typeface="Noto Sans"/>
                <a:ea typeface="Noto Sans"/>
                <a:cs typeface="Noto Sans"/>
                <a:sym typeface="Noto Sans"/>
              </a:rPr>
              <a:t>대응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3" name="Google Shape;1023;p44"/>
          <p:cNvSpPr/>
          <p:nvPr/>
        </p:nvSpPr>
        <p:spPr>
          <a:xfrm>
            <a:off x="777240" y="1861457"/>
            <a:ext cx="10698480" cy="672737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44"/>
          <p:cNvSpPr/>
          <p:nvPr/>
        </p:nvSpPr>
        <p:spPr>
          <a:xfrm>
            <a:off x="850392" y="1934609"/>
            <a:ext cx="3741725" cy="563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서사 확장으로 범위 증가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5" name="Google Shape;1025;p44"/>
          <p:cNvSpPr/>
          <p:nvPr/>
        </p:nvSpPr>
        <p:spPr>
          <a:xfrm>
            <a:off x="4701845" y="1934609"/>
            <a:ext cx="6700723" cy="563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P0는 채린 1명, 기록 01만 구현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6" name="Google Shape;1026;p44"/>
          <p:cNvSpPr/>
          <p:nvPr/>
        </p:nvSpPr>
        <p:spPr>
          <a:xfrm>
            <a:off x="777240" y="2534194"/>
            <a:ext cx="10698480" cy="672737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44"/>
          <p:cNvSpPr/>
          <p:nvPr/>
        </p:nvSpPr>
        <p:spPr>
          <a:xfrm>
            <a:off x="850392" y="2607346"/>
            <a:ext cx="3741725" cy="563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루프 시스템 오해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8" name="Google Shape;1028;p44"/>
          <p:cNvSpPr/>
          <p:nvPr/>
        </p:nvSpPr>
        <p:spPr>
          <a:xfrm>
            <a:off x="4701845" y="2607346"/>
            <a:ext cx="6700723" cy="563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실제 회차 시스템은 P0 제외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9" name="Google Shape;1029;p44"/>
          <p:cNvSpPr/>
          <p:nvPr/>
        </p:nvSpPr>
        <p:spPr>
          <a:xfrm>
            <a:off x="777240" y="3206931"/>
            <a:ext cx="10698480" cy="672737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44"/>
          <p:cNvSpPr/>
          <p:nvPr/>
        </p:nvSpPr>
        <p:spPr>
          <a:xfrm>
            <a:off x="850392" y="3280083"/>
            <a:ext cx="3741725" cy="563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괴이 변질 시스템 오해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1" name="Google Shape;1031;p44"/>
          <p:cNvSpPr/>
          <p:nvPr/>
        </p:nvSpPr>
        <p:spPr>
          <a:xfrm>
            <a:off x="4701845" y="3280083"/>
            <a:ext cx="6700723" cy="563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P0에서는 설정/장기 목표로만 제시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2" name="Google Shape;1032;p44"/>
          <p:cNvSpPr/>
          <p:nvPr/>
        </p:nvSpPr>
        <p:spPr>
          <a:xfrm>
            <a:off x="777240" y="3879669"/>
            <a:ext cx="10698480" cy="672737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44"/>
          <p:cNvSpPr/>
          <p:nvPr/>
        </p:nvSpPr>
        <p:spPr>
          <a:xfrm>
            <a:off x="850392" y="3952821"/>
            <a:ext cx="3741725" cy="563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UI 과잉 구현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4" name="Google Shape;1034;p44"/>
          <p:cNvSpPr/>
          <p:nvPr/>
        </p:nvSpPr>
        <p:spPr>
          <a:xfrm>
            <a:off x="4701845" y="3952821"/>
            <a:ext cx="6700723" cy="563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P0 시스템 명세 우선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5" name="Google Shape;1035;p44"/>
          <p:cNvSpPr/>
          <p:nvPr/>
        </p:nvSpPr>
        <p:spPr>
          <a:xfrm>
            <a:off x="777240" y="4552406"/>
            <a:ext cx="10698480" cy="672737"/>
          </a:xfrm>
          <a:prstGeom prst="rect">
            <a:avLst/>
          </a:prstGeom>
          <a:solidFill>
            <a:srgbClr val="0B1020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44"/>
          <p:cNvSpPr/>
          <p:nvPr/>
        </p:nvSpPr>
        <p:spPr>
          <a:xfrm>
            <a:off x="850392" y="4625558"/>
            <a:ext cx="3741725" cy="563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일정 불확실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7" name="Google Shape;1037;p44"/>
          <p:cNvSpPr/>
          <p:nvPr/>
        </p:nvSpPr>
        <p:spPr>
          <a:xfrm>
            <a:off x="4701845" y="4625558"/>
            <a:ext cx="6700723" cy="563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팀 협의 후 마일스톤 재확정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8" name="Google Shape;1038;p44"/>
          <p:cNvSpPr/>
          <p:nvPr/>
        </p:nvSpPr>
        <p:spPr>
          <a:xfrm>
            <a:off x="777240" y="5225143"/>
            <a:ext cx="10698480" cy="672737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324057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44"/>
          <p:cNvSpPr/>
          <p:nvPr/>
        </p:nvSpPr>
        <p:spPr>
          <a:xfrm>
            <a:off x="850392" y="5298295"/>
            <a:ext cx="3741725" cy="563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P0.5 욕심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0" name="Google Shape;1040;p44"/>
          <p:cNvSpPr/>
          <p:nvPr/>
        </p:nvSpPr>
        <p:spPr>
          <a:xfrm>
            <a:off x="4701845" y="5298295"/>
            <a:ext cx="6700723" cy="563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P0 안정화 전까지 구현 금지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1" name="Google Shape;1041;p44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42" name="Google Shape;1042;p44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44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ucid_assets_opt/lobby.jpg" id="1048" name="Google Shape;1048;p45"/>
          <p:cNvPicPr preferRelativeResize="0"/>
          <p:nvPr/>
        </p:nvPicPr>
        <p:blipFill rotWithShape="1">
          <a:blip r:embed="rId3">
            <a:alphaModFix/>
          </a:blip>
          <a:srcRect b="0" l="1" r="1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4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14117"/>
            </a:srgbClr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45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피드백 요청 항목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51" name="Google Shape;1051;p45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퍼블리셔/코치 관점에서 검토받을 질문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52" name="Google Shape;1052;p45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45"/>
          <p:cNvSpPr/>
          <p:nvPr/>
        </p:nvSpPr>
        <p:spPr>
          <a:xfrm>
            <a:off x="914400" y="1463040"/>
            <a:ext cx="10287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600"/>
              <a:buFont typeface="Noto Sans"/>
              <a:buNone/>
            </a:pPr>
            <a:r>
              <a:rPr b="0" i="0" lang="en-US" sz="16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플레이어가 다이버를 구해야 하는 서사적 동기가 설득력 있는가?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600"/>
              <a:buFont typeface="Noto Sans"/>
              <a:buNone/>
            </a:pPr>
            <a:r>
              <a:rPr b="0" i="0" lang="en-US" sz="16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익스트랙션 구조가 처음 보는 사람도 이해할 수 있게 설명되었는가?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600"/>
              <a:buFont typeface="Noto Sans"/>
              <a:buNone/>
            </a:pPr>
            <a:r>
              <a:rPr b="0" i="0" lang="en-US" sz="16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기억 파편 → 동조율 → 구원 루프가 보상으로 매력적인가?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600"/>
              <a:buFont typeface="Noto Sans"/>
              <a:buNone/>
            </a:pPr>
            <a:r>
              <a:rPr b="0" i="0" lang="en-US" sz="16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P0에서 보여줄 범위가 적절한가? 반대로 줄여야 할 기능은 무엇인가?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600"/>
              <a:buFont typeface="Noto Sans"/>
              <a:buNone/>
            </a:pPr>
            <a:r>
              <a:rPr b="0" i="0" lang="en-US" sz="16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◆ 트레일러에서 가장 먼저 보여줘야 할 장면은 무엇인가?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54" name="Google Shape;1054;p45"/>
          <p:cNvSpPr/>
          <p:nvPr/>
        </p:nvSpPr>
        <p:spPr>
          <a:xfrm>
            <a:off x="1188720" y="5349240"/>
            <a:ext cx="9829800" cy="749808"/>
          </a:xfrm>
          <a:prstGeom prst="roundRect">
            <a:avLst>
              <a:gd fmla="val 9756" name="adj"/>
            </a:avLst>
          </a:prstGeom>
          <a:solidFill>
            <a:srgbClr val="0D1020">
              <a:alpha val="94901"/>
            </a:srgbClr>
          </a:solidFill>
          <a:ln cap="flat" cmpd="sng" w="12700">
            <a:solidFill>
              <a:srgbClr val="9B5C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45"/>
          <p:cNvSpPr/>
          <p:nvPr/>
        </p:nvSpPr>
        <p:spPr>
          <a:xfrm>
            <a:off x="1389888" y="5513832"/>
            <a:ext cx="942746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질문은 “많이 만들 수 있는가”가 아니라,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1700"/>
              <a:buFont typeface="Noto Sans"/>
              <a:buNone/>
            </a:pPr>
            <a:r>
              <a:rPr b="1" i="0" lang="en-US" sz="17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“이 루프가 유저에게 반복 출격의 이유를 주는가”에 집중한다.</a:t>
            </a:r>
            <a:endParaRPr b="0" i="0" sz="17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56" name="Google Shape;1056;p45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57" name="Google Shape;1057;p45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45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ucid_assets_opt/main.jpg" id="1063" name="Google Shape;1063;p46"/>
          <p:cNvPicPr preferRelativeResize="0"/>
          <p:nvPr/>
        </p:nvPicPr>
        <p:blipFill rotWithShape="1">
          <a:blip r:embed="rId3">
            <a:alphaModFix/>
          </a:blip>
          <a:srcRect b="0" l="1" r="1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4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>
              <a:alpha val="45098"/>
            </a:srgbClr>
          </a:solidFill>
          <a:ln cap="flat" cmpd="sng" w="12700">
            <a:solidFill>
              <a:srgbClr val="05070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46"/>
          <p:cNvSpPr/>
          <p:nvPr/>
        </p:nvSpPr>
        <p:spPr>
          <a:xfrm>
            <a:off x="502920" y="347472"/>
            <a:ext cx="7680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Team REMnants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66" name="Google Shape;1066;p46"/>
          <p:cNvSpPr/>
          <p:nvPr/>
        </p:nvSpPr>
        <p:spPr>
          <a:xfrm>
            <a:off x="502920" y="841248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950"/>
              <a:buFont typeface="Noto Sans"/>
              <a:buNone/>
            </a:pPr>
            <a:r>
              <a:rPr b="0" i="0" lang="en-US" sz="95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REM 수면의 잔재, 꿈에 남겨진 기억을 회수하는 팀</a:t>
            </a:r>
            <a:endParaRPr b="0" i="0" sz="9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67" name="Google Shape;1067;p46"/>
          <p:cNvSpPr/>
          <p:nvPr/>
        </p:nvSpPr>
        <p:spPr>
          <a:xfrm>
            <a:off x="457200" y="1243584"/>
            <a:ext cx="438912" cy="45720"/>
          </a:xfrm>
          <a:prstGeom prst="rect">
            <a:avLst/>
          </a:prstGeom>
          <a:solidFill>
            <a:srgbClr val="F2418D"/>
          </a:solidFill>
          <a:ln cap="flat" cmpd="sng" w="12700">
            <a:solidFill>
              <a:srgbClr val="F2418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46"/>
          <p:cNvSpPr/>
          <p:nvPr/>
        </p:nvSpPr>
        <p:spPr>
          <a:xfrm>
            <a:off x="1325880" y="1874520"/>
            <a:ext cx="9509760" cy="914400"/>
          </a:xfrm>
          <a:prstGeom prst="roundRect">
            <a:avLst>
              <a:gd fmla="val 8000" name="adj"/>
            </a:avLst>
          </a:prstGeom>
          <a:solidFill>
            <a:srgbClr val="0D1020">
              <a:alpha val="94901"/>
            </a:srgbClr>
          </a:solidFill>
          <a:ln cap="flat" cmpd="sng" w="12700">
            <a:solidFill>
              <a:srgbClr val="44D7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46"/>
          <p:cNvSpPr/>
          <p:nvPr/>
        </p:nvSpPr>
        <p:spPr>
          <a:xfrm>
            <a:off x="1527048" y="2039112"/>
            <a:ext cx="9107424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200"/>
              <a:buFont typeface="Noto Sans"/>
              <a:buNone/>
            </a:pPr>
            <a:r>
              <a:rPr b="1" i="0" lang="en-US" sz="2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REM = 꿈 수면 단계</a:t>
            </a:r>
            <a:endParaRPr b="0" i="0" sz="2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200"/>
              <a:buFont typeface="Noto Sans"/>
              <a:buNone/>
            </a:pPr>
            <a:r>
              <a:rPr b="1" i="0" lang="en-US" sz="22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Remnants = 잔재, 남은 것들</a:t>
            </a:r>
            <a:endParaRPr b="0" i="0" sz="2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70" name="Google Shape;1070;p46"/>
          <p:cNvSpPr/>
          <p:nvPr/>
        </p:nvSpPr>
        <p:spPr>
          <a:xfrm>
            <a:off x="1828800" y="3703320"/>
            <a:ext cx="8595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600"/>
              <a:buFont typeface="Noto Sans"/>
              <a:buNone/>
            </a:pPr>
            <a:r>
              <a:rPr b="0" i="0" lang="en-US" sz="160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프로젝트와 팀 이름이 동일한 감정축을 공유한다.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600"/>
              <a:buFont typeface="Noto Sans"/>
              <a:buNone/>
            </a:pPr>
            <a:r>
              <a:rPr b="0" i="0" lang="en-US" sz="160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침몽도시에 남겨진 기억의 잔재를 회수하는 사람들.</a:t>
            </a:r>
            <a:endParaRPr b="0" i="0" sz="16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71" name="Google Shape;1071;p46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72" name="Google Shape;1072;p46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46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ucid_assets_opt/main.jpg" id="1078" name="Google Shape;1078;p47"/>
          <p:cNvPicPr preferRelativeResize="0"/>
          <p:nvPr/>
        </p:nvPicPr>
        <p:blipFill rotWithShape="1">
          <a:blip r:embed="rId3">
            <a:alphaModFix/>
          </a:blip>
          <a:srcRect b="0" l="1" r="1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p4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4901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47"/>
          <p:cNvSpPr/>
          <p:nvPr/>
        </p:nvSpPr>
        <p:spPr>
          <a:xfrm>
            <a:off x="731520" y="4709160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7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F4F7FF"/>
                </a:solidFill>
                <a:latin typeface="Noto Sans"/>
                <a:ea typeface="Noto Sans"/>
                <a:cs typeface="Noto Sans"/>
                <a:sym typeface="Noto Sans"/>
              </a:rPr>
              <a:t>그녀는 당신을 기억하지 못한다.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81" name="Google Shape;1081;p47"/>
          <p:cNvSpPr/>
          <p:nvPr/>
        </p:nvSpPr>
        <p:spPr>
          <a:xfrm>
            <a:off x="731520" y="5349240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5CFF"/>
              </a:buClr>
              <a:buSzPts val="2400"/>
              <a:buFont typeface="Noto Sans"/>
              <a:buNone/>
            </a:pPr>
            <a:r>
              <a:rPr b="1" i="0" lang="en-US" sz="2400" u="none" cap="none" strike="noStrike">
                <a:solidFill>
                  <a:srgbClr val="9B5CFF"/>
                </a:solidFill>
                <a:latin typeface="Noto Sans"/>
                <a:ea typeface="Noto Sans"/>
                <a:cs typeface="Noto Sans"/>
                <a:sym typeface="Noto Sans"/>
              </a:rPr>
              <a:t>하지만 당신은, 그녀를 다시 구하러 간다.</a:t>
            </a:r>
            <a:endParaRPr b="0" i="0" sz="2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82" name="Google Shape;1082;p47"/>
          <p:cNvSpPr/>
          <p:nvPr/>
        </p:nvSpPr>
        <p:spPr>
          <a:xfrm>
            <a:off x="731520" y="6144768"/>
            <a:ext cx="10698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C1D9"/>
              </a:buClr>
              <a:buSzPts val="1000"/>
              <a:buFont typeface="Noto Sans"/>
              <a:buNone/>
            </a:pPr>
            <a:r>
              <a:rPr b="0" i="0" lang="en-US" sz="1000" u="none" cap="none" strike="noStrike">
                <a:solidFill>
                  <a:srgbClr val="B7C1D9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Team REMnants</a:t>
            </a:r>
            <a:endParaRPr b="0" i="0" sz="10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83" name="Google Shape;1083;p47"/>
          <p:cNvSpPr/>
          <p:nvPr/>
        </p:nvSpPr>
        <p:spPr>
          <a:xfrm>
            <a:off x="411480" y="6528816"/>
            <a:ext cx="4754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580"/>
              <a:buFont typeface="Noto Sans"/>
              <a:buNone/>
            </a:pPr>
            <a:r>
              <a:rPr b="0" i="0" lang="en-US" sz="58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침몽도시: 루시드 다이버  ·  P0 제안서 v2.0</a:t>
            </a:r>
            <a:endParaRPr b="0" i="0" sz="58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84" name="Google Shape;1084;p47"/>
          <p:cNvSpPr/>
          <p:nvPr/>
        </p:nvSpPr>
        <p:spPr>
          <a:xfrm>
            <a:off x="11567160" y="6501384"/>
            <a:ext cx="274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87"/>
              </a:buClr>
              <a:buSzPts val="650"/>
              <a:buFont typeface="Noto Sans"/>
              <a:buNone/>
            </a:pPr>
            <a:r>
              <a:rPr b="0" i="0" lang="en-US" sz="650" u="none" cap="none" strike="noStrike">
                <a:solidFill>
                  <a:srgbClr val="647087"/>
                </a:solidFill>
                <a:latin typeface="Noto Sans"/>
                <a:ea typeface="Noto Sans"/>
                <a:cs typeface="Noto Sans"/>
                <a:sym typeface="Noto Sans"/>
              </a:rPr>
              <a:t>47</a:t>
            </a:r>
            <a:endParaRPr b="0" i="0" sz="6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2026-06-19T11:20:05Z</dcterms:created>
  <dc:creator>OpenAI</dc:creator>
</cp:coreProperties>
</file>