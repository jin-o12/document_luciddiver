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02" r:id="rId19"/>
    <p:sldId id="273" r:id="rId20"/>
    <p:sldId id="274" r:id="rId21"/>
    <p:sldId id="275" r:id="rId22"/>
    <p:sldId id="276" r:id="rId23"/>
    <p:sldId id="277" r:id="rId24"/>
    <p:sldId id="303" r:id="rId25"/>
    <p:sldId id="278" r:id="rId26"/>
    <p:sldId id="279" r:id="rId27"/>
    <p:sldId id="280" r:id="rId28"/>
    <p:sldId id="281" r:id="rId29"/>
    <p:sldId id="282" r:id="rId30"/>
    <p:sldId id="283" r:id="rId31"/>
    <p:sldId id="304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305" r:id="rId47"/>
    <p:sldId id="298" r:id="rId48"/>
    <p:sldId id="299" r:id="rId49"/>
    <p:sldId id="300" r:id="rId50"/>
    <p:sldId id="301" r:id="rId51"/>
  </p:sldIdLst>
  <p:sldSz cx="12192000" cy="6858000"/>
  <p:notesSz cx="6858000" cy="12192000"/>
  <p:embeddedFontLst>
    <p:embeddedFont>
      <p:font typeface="Noto Sans" panose="020B0502040204020203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gHboqsl0u2mdw15X/Qy+7A7NDG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5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9" name="Google Shape;49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9" name="Google Shape;629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7" name="Google Shape;65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2" name="Google Shape;702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0" name="Google Shape;73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5" name="Google Shape;78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7" name="Google Shape;82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1" name="Google Shape;84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5" name="Google Shape;8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9" name="Google Shape;86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0" name="Google Shape;890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9" name="Google Shape;939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3" name="Google Shape;95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3" name="Google Shape;98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5" name="Google Shape;104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0" name="Google Shape;1060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5" name="Google Shape;107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5098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64008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3232" y="13441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Lucid Divers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534924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58952" y="5413248"/>
            <a:ext cx="21396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P0 PROTOTYPE PROPOSAL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800" y="5650992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다이버는 잊는다. 관제사는 기록한다.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그리고 다시, 구하러 들어간다.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326880" y="6172200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850"/>
              <a:buFont typeface="Noto Sans"/>
              <a:buNone/>
            </a:pPr>
            <a:r>
              <a:rPr lang="en-US" sz="8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Team REMnants · 2026.06</a:t>
            </a:r>
            <a:endParaRPr sz="8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" descr="/mnt/data/lucid_assets_opt/mai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5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05070D">
              <a:alpha val="50199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한 줄 피치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서브컬처 캐릭터 구원 서사와 PvE 익스트랙션 루프의 결합</a:t>
            </a:r>
            <a:endParaRPr sz="950" b="0" i="0" u="none" strike="noStrike" cap="non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1325880"/>
            <a:ext cx="10835640" cy="1417320"/>
          </a:xfrm>
          <a:prstGeom prst="roundRect">
            <a:avLst>
              <a:gd name="adj" fmla="val 5161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86968" y="1490472"/>
            <a:ext cx="10433304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꿈에 침식된 도시에서 다이버의 기억을 회수하고,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그들이 괴이로 변질되기 전에 현실로 되돌리는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서브컬처 PvE 익스트랙션 액션 RPG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3506724" y="407822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" name="Google Shape;40;p2"/>
          <p:cNvCxnSpPr/>
          <p:nvPr/>
        </p:nvCxnSpPr>
        <p:spPr>
          <a:xfrm>
            <a:off x="6016752" y="407822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" name="Google Shape;41;p2"/>
          <p:cNvCxnSpPr/>
          <p:nvPr/>
        </p:nvCxnSpPr>
        <p:spPr>
          <a:xfrm>
            <a:off x="8526780" y="407822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" name="Google Shape;42;p2"/>
          <p:cNvSpPr/>
          <p:nvPr/>
        </p:nvSpPr>
        <p:spPr>
          <a:xfrm>
            <a:off x="1143000" y="3657600"/>
            <a:ext cx="2345436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88720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PvE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3028" y="3657600"/>
            <a:ext cx="2345436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98748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회수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63056" y="3657600"/>
            <a:ext cx="2345436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08776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73084" y="3657600"/>
            <a:ext cx="2345436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718804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lang="en-US" sz="15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검증: “회수품”이 단순 재화가 아니라 기억·관계·다음 출격 동기로 변환되는가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3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r="3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0196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13232" y="14173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000"/>
              <a:buFont typeface="Noto Sans"/>
              <a:buNone/>
            </a:pPr>
            <a:r>
              <a:rPr lang="en-US" sz="3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그녀는 당신을 기억하지 못한다.</a:t>
            </a:r>
            <a:endParaRPr sz="3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" y="22128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3000"/>
              <a:buFont typeface="Noto Sans"/>
              <a:buNone/>
            </a:pPr>
            <a:r>
              <a:rPr lang="en-US" sz="30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하지만 당신은, 그녀를 다시 구하러 간다.</a:t>
            </a:r>
            <a:endParaRPr sz="3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2194560" y="3657600"/>
            <a:ext cx="7772400" cy="0"/>
          </a:xfrm>
          <a:prstGeom prst="straightConnector1">
            <a:avLst/>
          </a:prstGeom>
          <a:noFill/>
          <a:ln w="12700" cap="flat" cmpd="sng">
            <a:solidFill>
              <a:srgbClr val="44D7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3"/>
          <p:cNvSpPr/>
          <p:nvPr/>
        </p:nvSpPr>
        <p:spPr>
          <a:xfrm>
            <a:off x="2011680" y="398678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반복되는 침몽 세션 속에서 다이버는 실패를 잊고,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관제사는 실패 로그를 기억한다.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5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5098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프로젝트 개요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서브컬처 캐릭터 구원과 PvE 익스트랙션을 결합한 P0 프로토타입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85800" y="132588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" name="Google Shape;78;p5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t="127" b="127"/>
          <a:stretch/>
        </p:blipFill>
        <p:spPr>
          <a:xfrm>
            <a:off x="713232" y="135331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713232" y="368503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22960" y="377647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메인 키비주얼 / 목표 감성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806440" y="1325880"/>
            <a:ext cx="5715000" cy="556260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879592" y="139903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항목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479792" y="139903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내용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06440" y="1882140"/>
            <a:ext cx="5715000" cy="55626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879592" y="195529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장르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79792" y="195529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2.5D 탑다운 PvE 익스트랙션 액션 + 서브컬처 캐릭터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806440" y="2438400"/>
            <a:ext cx="5715000" cy="55626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879592" y="251155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엔진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79792" y="251155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Unity 2022 URP / PC 프로토타입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806440" y="2994660"/>
            <a:ext cx="5715000" cy="55626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879592" y="306781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검증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479792" y="306781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회수한 보상이 기억·동조율·다음 출격으로 연결되는가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806440" y="3550920"/>
            <a:ext cx="5715000" cy="55626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879592" y="362407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범위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479792" y="362407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메인 다이버 1명 · 단일 세션 · 결과 정산 · 로비 복귀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806440" y="4107180"/>
            <a:ext cx="5715000" cy="55626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879592" y="418033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팀명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479792" y="418033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Team REMnants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68680" y="5166360"/>
            <a:ext cx="10424160" cy="731520"/>
          </a:xfrm>
          <a:prstGeom prst="roundRect">
            <a:avLst>
              <a:gd name="adj" fmla="val 10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069848" y="5330952"/>
            <a:ext cx="1002182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게임의 목표는 “아이템 획득”이 아니라,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기억을 되찾아 다이버가 괴이로 변질되는 것을 막는 경험이다.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6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세계관과 플레이어 목적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왜 다이버를 구해야 하는가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7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70D">
              <a:alpha val="2784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침몽도시란 무엇인가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꿈과 현실이 겹쳐진 반복 재난 구역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492240" y="1097280"/>
            <a:ext cx="5074920" cy="2971800"/>
          </a:xfrm>
          <a:prstGeom prst="roundRect">
            <a:avLst>
              <a:gd name="adj" fmla="val 2462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7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597" r="1597"/>
          <a:stretch/>
        </p:blipFill>
        <p:spPr>
          <a:xfrm>
            <a:off x="6519672" y="1124712"/>
            <a:ext cx="5020056" cy="29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6519672" y="3685032"/>
            <a:ext cx="50200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629400" y="3776472"/>
            <a:ext cx="48006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 비주얼 목표: 네온 / 악몽 / 보라색 균열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7240" y="1325880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도시는 실패한 귀환, 잃어버린 기억, 반복된 죽음을 재료로 매 세션 재구성된다.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현실 무기는 몽막에 의해 무력화되고, 꿈속 심상무장만이 유효하다.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탈출 실패는 즉시 죽음이 아니라 강제 각성으로 처리되지만, 기억과 회수품은 유실된다.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반복 실패로 자아가 붕괴되면 다이버는 침몽도시의 괴이로 변질된다.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51560" y="5486400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EF3340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252728" y="5650992"/>
            <a:ext cx="96560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“구조하지 못하면, 다음 세션의 적이 된다.”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 descr="/mnt/data/lucid_assets_opt/main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5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-15100" y="0"/>
            <a:ext cx="12191700" cy="6858000"/>
          </a:xfrm>
          <a:prstGeom prst="rect">
            <a:avLst/>
          </a:prstGeom>
          <a:solidFill>
            <a:srgbClr val="05070D">
              <a:alpha val="50199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다이버란 무엇인가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전투원이기 전에, 아직 완전히 삼켜지지 않은 생존자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3392424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8"/>
          <p:cNvCxnSpPr/>
          <p:nvPr/>
        </p:nvCxnSpPr>
        <p:spPr>
          <a:xfrm>
            <a:off x="6016752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8" name="Google Shape;148;p8"/>
          <p:cNvCxnSpPr/>
          <p:nvPr/>
        </p:nvCxnSpPr>
        <p:spPr>
          <a:xfrm>
            <a:off x="8641080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9" name="Google Shape;149;p8"/>
          <p:cNvSpPr/>
          <p:nvPr/>
        </p:nvSpPr>
        <p:spPr>
          <a:xfrm>
            <a:off x="914400" y="1828800"/>
            <a:ext cx="245973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960120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침몽도시와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공명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538728" y="1828800"/>
            <a:ext cx="245973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584448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심상무장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형성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163056" y="1828800"/>
            <a:ext cx="245973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208776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손상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진행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787384" y="1828800"/>
            <a:ext cx="245973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833104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구조 실패 시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괴이화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097280" y="365760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298448" y="3822192"/>
            <a:ext cx="9564624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 적합자는 축복이 아니라 위험 신호다.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도시와 깊게 연결되어 있기 때문에 싸울 수 있지만,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그만큼 침식될 가능성도 높다.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9" descr="/mnt/data/lucid_assets_opt/lobby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누구인가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REMnants 소속 링크 관제사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77240" y="15087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0F1424">
              <a:alpha val="90196"/>
            </a:srgbClr>
          </a:solidFill>
          <a:ln w="12700" cap="flat" cmpd="sng">
            <a:solidFill>
              <a:srgbClr val="44D7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00584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귀환 신호를 듣는 사람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0584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다이버가 현실로 돌아올 수 있도록 링크를 유지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0" y="15087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0F1424">
              <a:alpha val="90196"/>
            </a:srgbClr>
          </a:solidFill>
          <a:ln w="12700" cap="flat" cmpd="sng">
            <a:solidFill>
              <a:srgbClr val="9B5C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80060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실패 로그를 기억하는 사람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80060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다이버가 잊어버린 반복 실패와 구조 시도를 기록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366760" y="150876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0F1424">
              <a:alpha val="90196"/>
            </a:srgbClr>
          </a:solidFill>
          <a:ln w="12700" cap="flat" cmpd="sng">
            <a:solidFill>
              <a:srgbClr val="F2418D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859536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418D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2418D"/>
                </a:solidFill>
                <a:latin typeface="Noto Sans"/>
                <a:ea typeface="Noto Sans"/>
                <a:cs typeface="Noto Sans"/>
                <a:sym typeface="Noto Sans"/>
              </a:rPr>
              <a:t>다시 들어가게 만드는 사람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59536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남은 기억 파편과 잔류 신호를 추적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097280" y="5074920"/>
            <a:ext cx="9966960" cy="713232"/>
          </a:xfrm>
          <a:prstGeom prst="roundRect">
            <a:avLst>
              <a:gd name="adj" fmla="val 10256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7C66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1298448" y="5239512"/>
            <a:ext cx="956462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“착해서” 구하는 것이 아니라,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 신호를 듣고 붙잡을 수 있는 유일한 사람이다.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관제사의 책임은 어디서 오는가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이타심이 아니라 유일성·기록·잊힌 약속에서 발생한다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" name="Google Shape;193;p10"/>
          <p:cNvCxnSpPr/>
          <p:nvPr/>
        </p:nvCxnSpPr>
        <p:spPr>
          <a:xfrm>
            <a:off x="1828800" y="2148840"/>
            <a:ext cx="1828800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0"/>
          <p:cNvCxnSpPr/>
          <p:nvPr/>
        </p:nvCxnSpPr>
        <p:spPr>
          <a:xfrm>
            <a:off x="5074920" y="2148840"/>
            <a:ext cx="1828800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8366760" y="2148840"/>
            <a:ext cx="1737360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6" name="Google Shape;196;p10"/>
          <p:cNvSpPr/>
          <p:nvPr/>
        </p:nvSpPr>
        <p:spPr>
          <a:xfrm>
            <a:off x="73152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77724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다이버는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실패를 잊는다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370332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침몽도시는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기억을 삼킨다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58368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662940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 로그만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남는다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372600" y="169164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41832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다시 들어간다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88720" y="3840480"/>
            <a:ext cx="9829800" cy="804672"/>
          </a:xfrm>
          <a:prstGeom prst="roundRect">
            <a:avLst>
              <a:gd name="adj" fmla="val 9091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2418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389888" y="4005072"/>
            <a:ext cx="942746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900"/>
              <a:buFont typeface="Noto Sans"/>
              <a:buNone/>
            </a:pPr>
            <a:r>
              <a:rPr lang="en-US" sz="19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그들은 사라지는 순간을 기억하지 못하지만,</a:t>
            </a:r>
            <a:endParaRPr sz="19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900"/>
              <a:buFont typeface="Noto Sans"/>
              <a:buNone/>
            </a:pPr>
            <a:r>
              <a:rPr lang="en-US" sz="19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마지막 귀환 신호를 들었다.</a:t>
            </a:r>
            <a:endParaRPr sz="19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1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다이버를 모집하는가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캐릭터 수집을 “귀환 신호 구조”로 재정의</a:t>
            </a:r>
            <a:endParaRPr sz="950" b="0" i="0" u="none" strike="noStrike" cap="non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77240" y="1325880"/>
            <a:ext cx="10607040" cy="676656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850392" y="1399032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80"/>
              <a:buFont typeface="Noto Sans"/>
              <a:buNone/>
            </a:pPr>
            <a:r>
              <a:rPr lang="en-US" sz="108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일반 수집형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11419" y="1399032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80"/>
              <a:buFont typeface="Noto Sans"/>
              <a:buNone/>
            </a:pPr>
            <a:r>
              <a:rPr lang="en-US" sz="108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77240" y="2002536"/>
            <a:ext cx="10607040" cy="676656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50392" y="2075688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캐릭터를 획득한다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11419" y="2075688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남겨진 귀환 신호를 발견한다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77240" y="2679192"/>
            <a:ext cx="10607040" cy="676656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850392" y="2752344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전투력을 강화한다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11419" y="2752344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자아 붕괴와 괴이화를 막는다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77240" y="3355848"/>
            <a:ext cx="10607040" cy="676656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50392" y="3429000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호감도를 올린다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11419" y="3429000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귀환 링크의 안정도를 높인다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77240" y="4032504"/>
            <a:ext cx="10607040" cy="676656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850392" y="4105656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스토리를 해금한다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411419" y="4105656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lang="en-US" sz="10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구원의 과정을 확인한다</a:t>
            </a:r>
            <a:endParaRPr sz="10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143000" y="5257800"/>
            <a:ext cx="9875520" cy="713232"/>
          </a:xfrm>
          <a:prstGeom prst="roundRect">
            <a:avLst>
              <a:gd name="adj" fmla="val 10256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1344168" y="5422392"/>
            <a:ext cx="947318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모집은 전투 유닛 획득이 아니라,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아직 완전히 삼켜지지 않은 사람에게 링크를 거는 구조다.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12" descr="/mnt/data/lucid_assets_opt/ingameA.jpg"/>
          <p:cNvPicPr preferRelativeResize="0"/>
          <p:nvPr/>
        </p:nvPicPr>
        <p:blipFill rotWithShape="1">
          <a:blip r:embed="rId3">
            <a:alphaModFix/>
          </a:blip>
          <a:srcRect l="10070" r="1007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30196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다시 출격하는가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출격은 파밍이 아니라, 실패한 귀환 로그를 따라 들어가는 구조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" name="Google Shape;247;p12"/>
          <p:cNvCxnSpPr/>
          <p:nvPr/>
        </p:nvCxnSpPr>
        <p:spPr>
          <a:xfrm>
            <a:off x="3415284" y="214884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8" name="Google Shape;248;p12"/>
          <p:cNvCxnSpPr/>
          <p:nvPr/>
        </p:nvCxnSpPr>
        <p:spPr>
          <a:xfrm>
            <a:off x="6016752" y="214884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9" name="Google Shape;249;p12"/>
          <p:cNvCxnSpPr/>
          <p:nvPr/>
        </p:nvCxnSpPr>
        <p:spPr>
          <a:xfrm>
            <a:off x="8618220" y="214884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0" name="Google Shape;250;p12"/>
          <p:cNvSpPr/>
          <p:nvPr/>
        </p:nvSpPr>
        <p:spPr>
          <a:xfrm>
            <a:off x="960120" y="169164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1005840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귀환 신호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발견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561588" y="169164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3607308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63056" y="169164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208776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764524" y="169164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8810244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구원에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가까워짐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051560" y="3886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2418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1252728" y="4050792"/>
            <a:ext cx="965606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실패하면 아이템만 잃는 것이 아니다.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이번에 되찾을 수 있었던 기억이 다시 꿈속으로 가라앉는다.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3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2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메인 다이버: 채린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최초로 불완전 귀환한 다이버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채린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최초로 불완전 귀환에 성공한 메인 다이버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40080" y="1234440"/>
            <a:ext cx="5303520" cy="4800600"/>
          </a:xfrm>
          <a:prstGeom prst="roundRect">
            <a:avLst>
              <a:gd name="adj" fmla="val 1524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67512" y="5650992"/>
            <a:ext cx="52486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777240" y="5742432"/>
            <a:ext cx="50292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메인 다이버: 채린 / 로비 목표 비주얼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172200" y="12344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0E1322">
              <a:alpha val="90196"/>
            </a:srgbClr>
          </a:solidFill>
          <a:ln w="12700" cap="flat" cmpd="sng">
            <a:solidFill>
              <a:srgbClr val="9B5C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44652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핵심 키워드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446520" y="20574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방어적 불신: “직접 확인하지 않은 정보는 나를 죽일 수 있다.”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깨진 안경 렌즈가 루시드 결정화된 기억 파편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관제사의 목소리에 대한 설명할 수 없는 기시감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P0에서는 스탠딩·대사·심상 기록 01로 감정선을 검증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7560000" y="6336000"/>
            <a:ext cx="414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8B5CF6"/>
                </a:solidFill>
              </a:rPr>
              <a:t>▲ 채린 콘셉트아트 (단일 대표 비주얼)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5" descr="/mnt/data/lucid_assets_opt/record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8039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채린과 관제사의 관계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채린은 기억하지 못하지만, 관제사는 실패 로그를 기억한다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914400" y="132588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0E111C">
              <a:alpha val="90196"/>
            </a:srgbClr>
          </a:solidFill>
          <a:ln w="12700" cap="flat" cmpd="sng">
            <a:solidFill>
              <a:srgbClr val="EF334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234440" y="166420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3340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EF3340"/>
                </a:solidFill>
                <a:latin typeface="Noto Sans"/>
                <a:ea typeface="Noto Sans"/>
                <a:cs typeface="Noto Sans"/>
                <a:sym typeface="Noto Sans"/>
              </a:rPr>
              <a:t>관제 로그: CHR-01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234440" y="22402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동일 대상 귀환 시도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3886200" y="22402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17회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234440" y="28072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강제 각성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886200" y="28072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16회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234440" y="33741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최종 귀환 성공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3886200" y="33741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1회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234440" y="394106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마지막 링크 유지자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3886200" y="39410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989320" y="1874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190488" y="2039112"/>
            <a:ext cx="4901184" cy="90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“기억은 안 나. 그런데…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네가 날 놓친 적 없다는 건 알겠어.”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6172200" y="39776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300"/>
              <a:buFont typeface="Noto Sans"/>
              <a:buNone/>
            </a:pPr>
            <a:r>
              <a:rPr lang="en-US" sz="13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P0의 개인 심상 기록 01은 이 로그의 첫 조각을 열람하는 보상으로 작동한다.</a:t>
            </a:r>
            <a:endParaRPr sz="13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9" name="TextBox 318"/>
          <p:cNvSpPr txBox="1"/>
          <p:nvPr/>
        </p:nvSpPr>
        <p:spPr>
          <a:xfrm>
            <a:off x="8280000" y="5652000"/>
            <a:ext cx="34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2DD4BF"/>
                </a:solidFill>
              </a:rPr>
              <a:t>채린의 몽흔 반응 (오팔 프리즘)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동조율로 표현되는 감정 변화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호감도가 아니라, 귀환 링크 안정도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731520" y="155448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EF3340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1440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3340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EF3340"/>
                </a:solidFill>
                <a:latin typeface="Noto Sans"/>
                <a:ea typeface="Noto Sans"/>
                <a:cs typeface="Noto Sans"/>
                <a:sym typeface="Noto Sans"/>
              </a:rPr>
              <a:t>최초 링크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96012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“너를 믿으라고?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내가 기억도 못 하는 사람을?”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611880" y="155448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9B5C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79476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기억 파편 회수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84048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“이 조각…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이렇게 익숙하지?”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492240" y="155448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44D7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667512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동조율 상승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72084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“네 목소리,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처음 듣는 게 아닌 것 같아.”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9372600" y="1554480"/>
            <a:ext cx="2514600" cy="2971800"/>
          </a:xfrm>
          <a:prstGeom prst="roundRect">
            <a:avLst>
              <a:gd name="adj" fmla="val 2909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F7C66D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955548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7C66D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F7C66D"/>
                </a:solidFill>
                <a:latin typeface="Noto Sans"/>
                <a:ea typeface="Noto Sans"/>
                <a:cs typeface="Noto Sans"/>
                <a:sym typeface="Noto Sans"/>
              </a:rPr>
              <a:t>기록 해금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960120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“기억났어.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lang="en-US" sz="12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너, 그때도 거기 있었지.”</a:t>
            </a:r>
            <a:endParaRPr sz="12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1371600" y="5212080"/>
            <a:ext cx="9509760" cy="548640"/>
          </a:xfrm>
          <a:prstGeom prst="roundRect">
            <a:avLst>
              <a:gd name="adj" fmla="val 13333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1572768" y="5376672"/>
            <a:ext cx="910742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Lv.1 도달과 개인 심상 기록 01 해금까지만 구현한다.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17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구원된 다이버가 다시 다이브하는 이유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명령이 아니라, 자신이 구조받았기 때문에 하는 선택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3" name="Google Shape;353;p17"/>
          <p:cNvCxnSpPr/>
          <p:nvPr/>
        </p:nvCxnSpPr>
        <p:spPr>
          <a:xfrm>
            <a:off x="3369564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7C66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4" name="Google Shape;354;p17"/>
          <p:cNvCxnSpPr/>
          <p:nvPr/>
        </p:nvCxnSpPr>
        <p:spPr>
          <a:xfrm>
            <a:off x="5971032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7C66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5" name="Google Shape;355;p17"/>
          <p:cNvCxnSpPr/>
          <p:nvPr/>
        </p:nvCxnSpPr>
        <p:spPr>
          <a:xfrm>
            <a:off x="8572500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7C66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6" name="Google Shape;356;p17"/>
          <p:cNvSpPr/>
          <p:nvPr/>
        </p:nvSpPr>
        <p:spPr>
          <a:xfrm>
            <a:off x="914400" y="182880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960120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자신의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복구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515868" y="182880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3561588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침몽의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공포를 인지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6117336" y="182880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6163056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다른 잔류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신호 감지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8718804" y="1828800"/>
            <a:ext cx="243687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764524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관제사와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다시 다이브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143000" y="3977640"/>
            <a:ext cx="9921240" cy="914400"/>
          </a:xfrm>
          <a:prstGeom prst="roundRect">
            <a:avLst>
              <a:gd name="adj" fmla="val 8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1344168" y="4142232"/>
            <a:ext cx="951890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구원받은 다이버는 수동적인 히로인이 아니라,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자신과 같은 운명에 빠진 사람들을 구하러 들어가는 동료가 된다.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18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3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장르 설명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익스트랙션의 구조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000" y="432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채린의 감정선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4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5CF6"/>
                </a:solidFill>
              </a:rPr>
              <a:t>당신이 이 다이버를 구해야 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04000"/>
            <a:ext cx="4680000" cy="1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0000" y="1620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🔴 원망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62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4CC"/>
                </a:solidFill>
              </a:rPr>
              <a:t>믿어주지 않은 세상에 대한
지독한 서운함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196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🟡 절망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0000" y="2196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4CC"/>
                </a:solidFill>
              </a:rPr>
              <a:t>혼자 살아남았다는
생존자 죄책감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772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⚫ 후회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772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4CC"/>
                </a:solidFill>
              </a:rPr>
              <a:t>더 강하게 붙잡지 못했다는
뼈아픈 자책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3348000"/>
            <a:ext cx="12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🟣 방어적 불신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334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4C4CC"/>
                </a:solidFill>
              </a:rPr>
              <a:t>"내 눈으로 직접 확인한 것만
믿겠다"는 심리 방벽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24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D4BF"/>
                </a:solidFill>
              </a:rPr>
              <a:t>귀환 대사 발췌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57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4C4CC"/>
                </a:solidFill>
              </a:rPr>
              <a:t>세션 성공: "탈출 성공. ...수고했어. 네 목소리 덕분에 살았어."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5075999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4C4CC"/>
                </a:solidFill>
              </a:rPr>
              <a:t>세션 실패: "윽, 머리 아파... 어쨌든 안전하게 돌아왔네. 살았다..."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5579999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4C4CC"/>
                </a:solidFill>
              </a:rPr>
              <a:t>심상 해금: "내 만화경을 들여다볼 준비는 됐어?"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6516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4CC"/>
                </a:solidFill>
              </a:rPr>
              <a:t>침몽도시: 루시드다이버  ·  P0 안내서 v1.3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4000" y="651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4C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장르란 무엇인가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위험 구역에 들어가 보상을 회수하고, 성공하면 보존·실패하면 유실하는 구조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1" name="Google Shape;391;p19"/>
          <p:cNvCxnSpPr/>
          <p:nvPr/>
        </p:nvCxnSpPr>
        <p:spPr>
          <a:xfrm>
            <a:off x="2675534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p19"/>
          <p:cNvCxnSpPr/>
          <p:nvPr/>
        </p:nvCxnSpPr>
        <p:spPr>
          <a:xfrm>
            <a:off x="4903013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3" name="Google Shape;393;p19"/>
          <p:cNvCxnSpPr/>
          <p:nvPr/>
        </p:nvCxnSpPr>
        <p:spPr>
          <a:xfrm>
            <a:off x="7130491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4" name="Google Shape;394;p19"/>
          <p:cNvCxnSpPr/>
          <p:nvPr/>
        </p:nvCxnSpPr>
        <p:spPr>
          <a:xfrm>
            <a:off x="9357970" y="22860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5" name="Google Shape;395;p19"/>
          <p:cNvSpPr/>
          <p:nvPr/>
        </p:nvSpPr>
        <p:spPr>
          <a:xfrm>
            <a:off x="594360" y="182880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9"/>
          <p:cNvSpPr/>
          <p:nvPr/>
        </p:nvSpPr>
        <p:spPr>
          <a:xfrm>
            <a:off x="640080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위험 구역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진입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2821838" y="182880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2867558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/ 탐색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5049317" y="182880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5095037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276795" y="182880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7322515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 보존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 유실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9504274" y="182880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9"/>
          <p:cNvSpPr/>
          <p:nvPr/>
        </p:nvSpPr>
        <p:spPr>
          <a:xfrm>
            <a:off x="9549994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출격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준비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1097280" y="420624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2418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"/>
          <p:cNvSpPr/>
          <p:nvPr/>
        </p:nvSpPr>
        <p:spPr>
          <a:xfrm>
            <a:off x="1298448" y="4370832"/>
            <a:ext cx="9564624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재미는 “더 욕심낼 것인가, 지금 탈출할 것인가”의 긴장감에서 발생한다.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 descr="/mnt/data/lucid_assets_opt/ingameB.jpg"/>
          <p:cNvPicPr preferRelativeResize="0"/>
          <p:nvPr/>
        </p:nvPicPr>
        <p:blipFill rotWithShape="1">
          <a:blip r:embed="rId3">
            <a:alphaModFix/>
          </a:blip>
          <a:srcRect l="54" r="54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7843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일반 익스트랙션의 보상 구조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회수한 아이템이 장비와 생존 확률로 환산된다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9" name="Google Shape;419;p20"/>
          <p:cNvCxnSpPr/>
          <p:nvPr/>
        </p:nvCxnSpPr>
        <p:spPr>
          <a:xfrm>
            <a:off x="2675534" y="246888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0" name="Google Shape;420;p20"/>
          <p:cNvCxnSpPr/>
          <p:nvPr/>
        </p:nvCxnSpPr>
        <p:spPr>
          <a:xfrm>
            <a:off x="4903013" y="246888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7130491" y="246888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9357970" y="246888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3" name="Google Shape;423;p20"/>
          <p:cNvSpPr/>
          <p:nvPr/>
        </p:nvSpPr>
        <p:spPr>
          <a:xfrm>
            <a:off x="594360" y="201168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640080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2821838" y="201168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2867558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보존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5049317" y="201168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5095037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장비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강화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7276795" y="201168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7322515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생존 확률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9504274" y="2011680"/>
            <a:ext cx="2062886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0"/>
          <p:cNvSpPr/>
          <p:nvPr/>
        </p:nvSpPr>
        <p:spPr>
          <a:xfrm>
            <a:off x="9549994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더 깊은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구역 도전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1188720" y="4892040"/>
            <a:ext cx="9829800" cy="685800"/>
          </a:xfrm>
          <a:prstGeom prst="roundRect">
            <a:avLst>
              <a:gd name="adj" fmla="val 10667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1389888" y="5056632"/>
            <a:ext cx="9427464" cy="35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lang="en-US" sz="18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다이버는 이 구조에 “기억 회수와 캐릭터 구원”을 추가한다.</a:t>
            </a:r>
            <a:endParaRPr sz="18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1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6078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다이버식 변형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아이템 회수가 캐릭터의 기억과 관계 변화로 변환된다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914400" y="1417320"/>
            <a:ext cx="10332720" cy="768096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987552" y="1490472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일반 익스트랙션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6153912" y="1490472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914400" y="2185416"/>
            <a:ext cx="10332720" cy="768096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987552" y="2258568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아이템을 회수한다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6153912" y="2258568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기억을 회수한다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914400" y="2953512"/>
            <a:ext cx="10332720" cy="768096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987552" y="3026664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장비가 강해진다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6153912" y="3026664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캐릭터가 회복된다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914400" y="3721608"/>
            <a:ext cx="10332720" cy="768096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987552" y="3794760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실패하면 재화를 잃는다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153912" y="3794760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기억이 꿈속으로 가라앉는다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914400" y="4489704"/>
            <a:ext cx="10332720" cy="768096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987552" y="4562856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출격을 준비한다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153912" y="4562856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lang="en-US" sz="12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다음 구원 시도를 준비한다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371600" y="5623560"/>
            <a:ext cx="9326880" cy="502920"/>
          </a:xfrm>
          <a:prstGeom prst="roundRect">
            <a:avLst>
              <a:gd name="adj" fmla="val 14545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1572768" y="5788152"/>
            <a:ext cx="8924544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하나는 캐릭터를 구하고, 하나는 다음 출격을 준비한다.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이중 보상 루프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서브컬처 애착과 익스트랙션 준비가 한 세션에서 동시에 닫힌다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5" name="Google Shape;475;p22"/>
          <p:cNvCxnSpPr/>
          <p:nvPr/>
        </p:nvCxnSpPr>
        <p:spPr>
          <a:xfrm>
            <a:off x="2743200" y="1874520"/>
            <a:ext cx="6583680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76" name="Google Shape;476;p22"/>
          <p:cNvCxnSpPr/>
          <p:nvPr/>
        </p:nvCxnSpPr>
        <p:spPr>
          <a:xfrm>
            <a:off x="2743200" y="3977640"/>
            <a:ext cx="6583680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7" name="Google Shape;477;p22"/>
          <p:cNvSpPr/>
          <p:nvPr/>
        </p:nvSpPr>
        <p:spPr>
          <a:xfrm>
            <a:off x="73152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77724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338328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2"/>
          <p:cNvSpPr/>
          <p:nvPr/>
        </p:nvSpPr>
        <p:spPr>
          <a:xfrm>
            <a:off x="342900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 상승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603504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608076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 해금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8686800" y="14173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873252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대사 변화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731520" y="3520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77724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 / 회복약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3383280" y="3520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342900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저장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6035040" y="3520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08076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슬롯 장착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8686800" y="35204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873252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세션 사용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822960" y="10241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캐릭터 구원 루프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822960" y="3154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400"/>
              <a:buFont typeface="Noto Sans"/>
              <a:buNone/>
            </a:pPr>
            <a:r>
              <a:rPr lang="en-US" sz="14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준비 루프</a:t>
            </a:r>
            <a:endParaRPr sz="1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" name="Google Shape;502;p23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3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4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전체 게임 흐름도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세션·전투·정산·로비 보상을 시각화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0000" y="43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당신이 다시 출격하는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44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4CC"/>
                </a:solidFill>
              </a:rPr>
              <a:t>서브컬처 루프가 반복 출격의 동기를 만드는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620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① 출격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71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관제실에서 채린을 파견, 침몽도시에 진입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304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② 전투·파밍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555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기억 파편 회수 — 서사 회복의 핵심 자원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988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③ 탈출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3239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전화부스로 귀환, 파편 자동 소모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671999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④ 동조율 상승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3923998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Lv.0 → Lv.1, 관계의 깊이가 실제로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4356000"/>
            <a:ext cx="19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⑤ 서사 해금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607999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개인 심상 기록 감상, 귀환 대사 변화 체험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5976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DD4BF"/>
                </a:solidFill>
              </a:rPr>
              <a:t>"캐릭터를 구하고 싶어서, 다시 뛰어든다."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16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4CC"/>
                </a:solidFill>
              </a:rPr>
              <a:t>침몽도시: 루시드다이버  ·  P0 안내서 v1.3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4000" y="651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4C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전체 매크로 루프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로비에서 시작해 보상 확인과 다음 출격으로 돌아오는 구조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0" name="Google Shape;520;p24"/>
          <p:cNvCxnSpPr/>
          <p:nvPr/>
        </p:nvCxnSpPr>
        <p:spPr>
          <a:xfrm>
            <a:off x="2734056" y="1897380"/>
            <a:ext cx="54864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1" name="Google Shape;521;p24"/>
          <p:cNvCxnSpPr/>
          <p:nvPr/>
        </p:nvCxnSpPr>
        <p:spPr>
          <a:xfrm>
            <a:off x="4946904" y="1897380"/>
            <a:ext cx="54864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2" name="Google Shape;522;p24"/>
          <p:cNvCxnSpPr/>
          <p:nvPr/>
        </p:nvCxnSpPr>
        <p:spPr>
          <a:xfrm>
            <a:off x="7159752" y="1897380"/>
            <a:ext cx="54864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3" name="Google Shape;523;p24"/>
          <p:cNvCxnSpPr/>
          <p:nvPr/>
        </p:nvCxnSpPr>
        <p:spPr>
          <a:xfrm>
            <a:off x="9372600" y="1897380"/>
            <a:ext cx="54864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4" name="Google Shape;524;p24"/>
          <p:cNvSpPr/>
          <p:nvPr/>
        </p:nvSpPr>
        <p:spPr>
          <a:xfrm>
            <a:off x="594360" y="150876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640080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관제실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2807208" y="150876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4"/>
          <p:cNvSpPr/>
          <p:nvPr/>
        </p:nvSpPr>
        <p:spPr>
          <a:xfrm>
            <a:off x="2852928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출격 준비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5020056" y="150876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65776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 진입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7232904" y="150876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4"/>
          <p:cNvSpPr/>
          <p:nvPr/>
        </p:nvSpPr>
        <p:spPr>
          <a:xfrm>
            <a:off x="7278624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/ 파밍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9445752" y="1508760"/>
            <a:ext cx="2121408" cy="777240"/>
          </a:xfrm>
          <a:prstGeom prst="roundRect">
            <a:avLst>
              <a:gd name="adj" fmla="val 9412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9491472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34" name="Google Shape;534;p24"/>
          <p:cNvCxnSpPr/>
          <p:nvPr/>
        </p:nvCxnSpPr>
        <p:spPr>
          <a:xfrm flipH="1">
            <a:off x="3840480" y="2788920"/>
            <a:ext cx="2240280" cy="100584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35" name="Google Shape;535;p24"/>
          <p:cNvCxnSpPr/>
          <p:nvPr/>
        </p:nvCxnSpPr>
        <p:spPr>
          <a:xfrm>
            <a:off x="6080760" y="2788920"/>
            <a:ext cx="2240280" cy="100584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36" name="Google Shape;536;p24"/>
          <p:cNvSpPr/>
          <p:nvPr/>
        </p:nvSpPr>
        <p:spPr>
          <a:xfrm>
            <a:off x="2240280" y="3703320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151B2B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2286000" y="3776472"/>
            <a:ext cx="31089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복구 / 회수품 보존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6903720" y="3703320"/>
            <a:ext cx="3200400" cy="841248"/>
          </a:xfrm>
          <a:prstGeom prst="roundRect">
            <a:avLst>
              <a:gd name="adj" fmla="val 8696"/>
            </a:avLst>
          </a:prstGeom>
          <a:solidFill>
            <a:srgbClr val="151B2B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6949440" y="3776472"/>
            <a:ext cx="310896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획득품 유실 / 강제 각성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40" name="Google Shape;540;p24"/>
          <p:cNvCxnSpPr/>
          <p:nvPr/>
        </p:nvCxnSpPr>
        <p:spPr>
          <a:xfrm>
            <a:off x="3840480" y="4617720"/>
            <a:ext cx="0" cy="548640"/>
          </a:xfrm>
          <a:prstGeom prst="straightConnector1">
            <a:avLst/>
          </a:prstGeom>
          <a:noFill/>
          <a:ln w="12700" cap="flat" cmpd="sng">
            <a:solidFill>
              <a:srgbClr val="55D68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41" name="Google Shape;541;p24"/>
          <p:cNvCxnSpPr/>
          <p:nvPr/>
        </p:nvCxnSpPr>
        <p:spPr>
          <a:xfrm>
            <a:off x="8321040" y="4617720"/>
            <a:ext cx="0" cy="54864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2" name="Google Shape;542;p24"/>
          <p:cNvSpPr/>
          <p:nvPr/>
        </p:nvSpPr>
        <p:spPr>
          <a:xfrm>
            <a:off x="2743200" y="5102352"/>
            <a:ext cx="6720840" cy="731520"/>
          </a:xfrm>
          <a:prstGeom prst="roundRect">
            <a:avLst>
              <a:gd name="adj" fmla="val 10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2788920" y="5175504"/>
            <a:ext cx="662940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복귀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 / 기록 / 창고 확인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1234440" y="6053328"/>
            <a:ext cx="9738360" cy="402336"/>
          </a:xfrm>
          <a:prstGeom prst="roundRect">
            <a:avLst>
              <a:gd name="adj" fmla="val 18182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2418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1435608" y="6217920"/>
            <a:ext cx="93360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00"/>
              <a:buFont typeface="Noto Sans"/>
              <a:buNone/>
            </a:pPr>
            <a:r>
              <a:rPr lang="en-US" sz="13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성공하면 기억과 회수품이 보존되고, 실패하면 이번 세션의 획득품이 유실된다.</a:t>
            </a:r>
            <a:endParaRPr sz="13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5" descr="/mnt/data/lucid_assets_opt/ingameA.jpg"/>
          <p:cNvPicPr preferRelativeResize="0"/>
          <p:nvPr/>
        </p:nvPicPr>
        <p:blipFill rotWithShape="1">
          <a:blip r:embed="rId3">
            <a:alphaModFix/>
          </a:blip>
          <a:srcRect l="10070" r="1007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1회 세션 플레이 흐름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 실제로 검증할 플레이 순서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8" name="Google Shape;558;p25"/>
          <p:cNvCxnSpPr/>
          <p:nvPr/>
        </p:nvCxnSpPr>
        <p:spPr>
          <a:xfrm>
            <a:off x="1783080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9" name="Google Shape;559;p25"/>
          <p:cNvCxnSpPr/>
          <p:nvPr/>
        </p:nvCxnSpPr>
        <p:spPr>
          <a:xfrm>
            <a:off x="3209544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0" name="Google Shape;560;p25"/>
          <p:cNvCxnSpPr/>
          <p:nvPr/>
        </p:nvCxnSpPr>
        <p:spPr>
          <a:xfrm>
            <a:off x="4636008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1" name="Google Shape;561;p25"/>
          <p:cNvCxnSpPr/>
          <p:nvPr/>
        </p:nvCxnSpPr>
        <p:spPr>
          <a:xfrm>
            <a:off x="6062472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2" name="Google Shape;562;p25"/>
          <p:cNvCxnSpPr/>
          <p:nvPr/>
        </p:nvCxnSpPr>
        <p:spPr>
          <a:xfrm>
            <a:off x="7488936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3" name="Google Shape;563;p25"/>
          <p:cNvCxnSpPr/>
          <p:nvPr/>
        </p:nvCxnSpPr>
        <p:spPr>
          <a:xfrm>
            <a:off x="8915400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4" name="Google Shape;564;p25"/>
          <p:cNvCxnSpPr/>
          <p:nvPr/>
        </p:nvCxnSpPr>
        <p:spPr>
          <a:xfrm>
            <a:off x="10341864" y="178308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5" name="Google Shape;565;p25"/>
          <p:cNvSpPr/>
          <p:nvPr/>
        </p:nvSpPr>
        <p:spPr>
          <a:xfrm>
            <a:off x="411480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457200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Spawn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837944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1883664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이동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3264408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3310128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발견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4690872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4736592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조준 / 공격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6117336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6163056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 회수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7543800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7589520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전화부스 탐색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8970264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9015984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or 각성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10396728" y="1417320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10442448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1005840" y="274320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2" name="Google Shape;582;p25" descr="/mnt/data/lucid_assets_opt/ingameA.jpg"/>
          <p:cNvPicPr preferRelativeResize="0"/>
          <p:nvPr/>
        </p:nvPicPr>
        <p:blipFill rotWithShape="1">
          <a:blip r:embed="rId3">
            <a:alphaModFix/>
          </a:blip>
          <a:srcRect l="9968" r="9968"/>
          <a:stretch/>
        </p:blipFill>
        <p:spPr>
          <a:xfrm>
            <a:off x="1033272" y="277063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5"/>
          <p:cNvSpPr/>
          <p:nvPr/>
        </p:nvSpPr>
        <p:spPr>
          <a:xfrm>
            <a:off x="1033272" y="510235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1143000" y="519379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HUD 레퍼런스 A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6355080" y="274320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6" name="Google Shape;586;p25" descr="/mnt/data/lucid_assets_opt/ingameB.jpg"/>
          <p:cNvPicPr preferRelativeResize="0"/>
          <p:nvPr/>
        </p:nvPicPr>
        <p:blipFill rotWithShape="1">
          <a:blip r:embed="rId4">
            <a:alphaModFix/>
          </a:blip>
          <a:srcRect t="74" b="74"/>
          <a:stretch/>
        </p:blipFill>
        <p:spPr>
          <a:xfrm>
            <a:off x="6382512" y="277063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5"/>
          <p:cNvSpPr/>
          <p:nvPr/>
        </p:nvSpPr>
        <p:spPr>
          <a:xfrm>
            <a:off x="6382512" y="510235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6492240" y="519379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HUD 레퍼런스 B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2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순서도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전투는 복잡한 스킬보다 “회수 → 탈출” 루프 검증에 집중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0" name="Google Shape;600;p26"/>
          <p:cNvCxnSpPr/>
          <p:nvPr/>
        </p:nvCxnSpPr>
        <p:spPr>
          <a:xfrm>
            <a:off x="1783080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1" name="Google Shape;601;p26"/>
          <p:cNvCxnSpPr/>
          <p:nvPr/>
        </p:nvCxnSpPr>
        <p:spPr>
          <a:xfrm>
            <a:off x="3209544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2" name="Google Shape;602;p26"/>
          <p:cNvCxnSpPr/>
          <p:nvPr/>
        </p:nvCxnSpPr>
        <p:spPr>
          <a:xfrm>
            <a:off x="4636008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3" name="Google Shape;603;p26"/>
          <p:cNvCxnSpPr/>
          <p:nvPr/>
        </p:nvCxnSpPr>
        <p:spPr>
          <a:xfrm>
            <a:off x="6062472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4" name="Google Shape;604;p26"/>
          <p:cNvCxnSpPr/>
          <p:nvPr/>
        </p:nvCxnSpPr>
        <p:spPr>
          <a:xfrm>
            <a:off x="7488936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5" name="Google Shape;605;p26"/>
          <p:cNvCxnSpPr/>
          <p:nvPr/>
        </p:nvCxnSpPr>
        <p:spPr>
          <a:xfrm>
            <a:off x="8915400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6" name="Google Shape;606;p26"/>
          <p:cNvCxnSpPr/>
          <p:nvPr/>
        </p:nvCxnSpPr>
        <p:spPr>
          <a:xfrm>
            <a:off x="10341864" y="2203704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EF334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7" name="Google Shape;607;p26"/>
          <p:cNvSpPr/>
          <p:nvPr/>
        </p:nvSpPr>
        <p:spPr>
          <a:xfrm>
            <a:off x="411480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6"/>
          <p:cNvSpPr/>
          <p:nvPr/>
        </p:nvSpPr>
        <p:spPr>
          <a:xfrm>
            <a:off x="457200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감지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1837944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6"/>
          <p:cNvSpPr/>
          <p:nvPr/>
        </p:nvSpPr>
        <p:spPr>
          <a:xfrm>
            <a:off x="1883664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추적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3264408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26"/>
          <p:cNvSpPr/>
          <p:nvPr/>
        </p:nvSpPr>
        <p:spPr>
          <a:xfrm>
            <a:off x="3310128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플레이어 조준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4690872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26"/>
          <p:cNvSpPr/>
          <p:nvPr/>
        </p:nvSpPr>
        <p:spPr>
          <a:xfrm>
            <a:off x="4736592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 소비 공격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6117336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6163056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HP 감소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7543800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/>
          <p:cNvSpPr/>
          <p:nvPr/>
        </p:nvSpPr>
        <p:spPr>
          <a:xfrm>
            <a:off x="7589520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사망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8970264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6"/>
          <p:cNvSpPr/>
          <p:nvPr/>
        </p:nvSpPr>
        <p:spPr>
          <a:xfrm>
            <a:off x="9015984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드랍 생성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0396728" y="1828800"/>
            <a:ext cx="1353312" cy="749808"/>
          </a:xfrm>
          <a:prstGeom prst="roundRect">
            <a:avLst>
              <a:gd name="adj" fmla="val 9756"/>
            </a:avLst>
          </a:prstGeom>
          <a:solidFill>
            <a:srgbClr val="12172A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6"/>
          <p:cNvSpPr/>
          <p:nvPr/>
        </p:nvSpPr>
        <p:spPr>
          <a:xfrm>
            <a:off x="10442448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lang="en-US" sz="9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1143000" y="4251960"/>
            <a:ext cx="9921240" cy="868680"/>
          </a:xfrm>
          <a:prstGeom prst="roundRect">
            <a:avLst>
              <a:gd name="adj" fmla="val 8421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EF3340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26"/>
          <p:cNvSpPr/>
          <p:nvPr/>
        </p:nvSpPr>
        <p:spPr>
          <a:xfrm>
            <a:off x="1344168" y="4416552"/>
            <a:ext cx="9518904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보스전·복잡한 스킬은 제외.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기본 공격과 적 1종으로 전투-파밍-탈출 연결을 검증한다.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27" descr="/mnt/data/lucid_assets_opt/ingameA.jpg"/>
          <p:cNvPicPr preferRelativeResize="0"/>
          <p:nvPr/>
        </p:nvPicPr>
        <p:blipFill rotWithShape="1">
          <a:blip r:embed="rId3">
            <a:alphaModFix/>
          </a:blip>
          <a:srcRect l="10070" r="1007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 구조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2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익스트랙션의 긴장감은 욕심과 안전 사이의 선택에서 발생한다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914400" y="18288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51B2B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960120" y="1901952"/>
            <a:ext cx="274320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아이템을 더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회수할 것인가?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9" name="Google Shape;639;p27"/>
          <p:cNvCxnSpPr/>
          <p:nvPr/>
        </p:nvCxnSpPr>
        <p:spPr>
          <a:xfrm rot="10800000" flipH="1">
            <a:off x="3749040" y="1600200"/>
            <a:ext cx="1645920" cy="68580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0" name="Google Shape;640;p27"/>
          <p:cNvCxnSpPr/>
          <p:nvPr/>
        </p:nvCxnSpPr>
        <p:spPr>
          <a:xfrm>
            <a:off x="3749040" y="2286000"/>
            <a:ext cx="1645920" cy="68580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1" name="Google Shape;641;p27"/>
          <p:cNvSpPr/>
          <p:nvPr/>
        </p:nvSpPr>
        <p:spPr>
          <a:xfrm>
            <a:off x="5394960" y="114300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1B2B"/>
          </a:solidFill>
          <a:ln w="12700" cap="flat" cmpd="sng">
            <a:solidFill>
              <a:srgbClr val="F7C66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5440680" y="1216152"/>
            <a:ext cx="210312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더 파밍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5394960" y="26060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51B2B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5440680" y="2679192"/>
            <a:ext cx="210312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lang="en-US" sz="1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시도</a:t>
            </a:r>
            <a:endParaRPr sz="1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45" name="Google Shape;645;p27"/>
          <p:cNvCxnSpPr/>
          <p:nvPr/>
        </p:nvCxnSpPr>
        <p:spPr>
          <a:xfrm>
            <a:off x="7589520" y="1527048"/>
            <a:ext cx="1783080" cy="0"/>
          </a:xfrm>
          <a:prstGeom prst="straightConnector1">
            <a:avLst/>
          </a:prstGeom>
          <a:noFill/>
          <a:ln w="12700" cap="flat" cmpd="sng">
            <a:solidFill>
              <a:srgbClr val="F7C66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46" name="Google Shape;646;p27"/>
          <p:cNvCxnSpPr/>
          <p:nvPr/>
        </p:nvCxnSpPr>
        <p:spPr>
          <a:xfrm>
            <a:off x="7589520" y="2990088"/>
            <a:ext cx="1783080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7" name="Google Shape;647;p27"/>
          <p:cNvSpPr/>
          <p:nvPr/>
        </p:nvSpPr>
        <p:spPr>
          <a:xfrm>
            <a:off x="9372600" y="11430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51B2B"/>
          </a:solidFill>
          <a:ln w="12700" cap="flat" cmpd="sng">
            <a:solidFill>
              <a:srgbClr val="EF3340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9418320" y="1216152"/>
            <a:ext cx="205740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위험 증가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강제 각성 가능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9372600" y="26060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151B2B"/>
          </a:solidFill>
          <a:ln w="12700" cap="flat" cmpd="sng">
            <a:solidFill>
              <a:srgbClr val="55D68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9418320" y="2679192"/>
            <a:ext cx="2057400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전화부스 접촉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즉시 탈출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1463040" y="4983480"/>
            <a:ext cx="9326880" cy="658368"/>
          </a:xfrm>
          <a:prstGeom prst="roundRect">
            <a:avLst>
              <a:gd name="adj" fmla="val 11111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1664208" y="5148072"/>
            <a:ext cx="89245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전화부스 Collider 접촉 즉시 탈출.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3초 채널링은 P0.5 이후 검토.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 정산 구조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 보존 / 실패 유실의 차이가 보상 체감을 만든다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914400" y="1325880"/>
            <a:ext cx="10378440" cy="655320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987552" y="139903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20"/>
              <a:buFont typeface="Noto Sans"/>
              <a:buNone/>
            </a:pPr>
            <a:r>
              <a:rPr lang="en-US" sz="112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항목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3893515" y="139903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20"/>
              <a:buFont typeface="Noto Sans"/>
              <a:buNone/>
            </a:pPr>
            <a:r>
              <a:rPr lang="en-US" sz="112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탈출 성공 / 강제 각성 실패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914400" y="1981200"/>
            <a:ext cx="10378440" cy="65532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987552" y="205435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3893515" y="205435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자동 소모 → 동조율 상승 / 실패: 유실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914400" y="2636520"/>
            <a:ext cx="10378440" cy="65532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987552" y="270967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3893515" y="270967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창고 저장 / 실패: 유실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914400" y="3291840"/>
            <a:ext cx="10378440" cy="65532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987552" y="336499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회복약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3893515" y="336499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창고 저장 / 실패: 유실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914400" y="3947160"/>
            <a:ext cx="10378440" cy="65532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987552" y="402031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3893515" y="402031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조건 충족 시 해금 / 실패: 해금 없음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914400" y="4602480"/>
            <a:ext cx="10378440" cy="65532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987552" y="467563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귀환 대사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3893515" y="467563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lang="en-US" sz="112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성공/해금 대사 / 실패 대사</a:t>
            </a:r>
            <a:endParaRPr sz="112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1234440" y="5623560"/>
            <a:ext cx="9738360" cy="530352"/>
          </a:xfrm>
          <a:prstGeom prst="roundRect">
            <a:avLst>
              <a:gd name="adj" fmla="val 13793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1435608" y="5788152"/>
            <a:ext cx="93360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lang="en-US" sz="15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파편은 창고 자원이 아니다.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lang="en-US" sz="15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 시 동조율과 기록 해금으로 즉시 변환된다.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5" name="Google Shape;685;p2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29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9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5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p29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버티컬 슬라이스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무엇을 검증하고, 무엇을 제외하는가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9" name="Google Shape;699;p2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my_combat_diagram_1781870808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4000" cy="687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적 전투 시스템 — P0 꿈식자 (Monster_Test)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4C4CC"/>
                </a:solidFill>
              </a:rPr>
              <a:t>단일 HP 체력 소진 → 즉시 사망 연출 → 드롭 스폰의 P0 전투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0000" y="1260000"/>
            <a:ext cx="30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</a:rPr>
              <a:t>적 AI 상태 머신 (FSM)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① Idle: 대기 상태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② Detect: 플레이어 추적 개시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③ Attack: 사격/근접 공격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④ Hit: 피격 반응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⑤ Dead: 사망 → 드롭 스폰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5256000"/>
            <a:ext cx="57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4C4CC"/>
                </a:solidFill>
              </a:rPr>
              <a:t>※ P0 현재 구현:
HP 소진 → 즉시 사망 (단일 체력바)
※ P0.5 이후:
몽막 HP → 심상핵 노출 → 치명타 배율 적용
(2단계 처치 기믹, 현재 미구현)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16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4CC"/>
                </a:solidFill>
              </a:rPr>
              <a:t>침몽도시: 루시드다이버  ·  P0 안내서 v1.3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4000" y="651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4C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30" descr="/mnt/data/lucid_assets_opt/success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 검증할 것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완성형 게임이 아니라 핵심 경험의 작동 여부를 증명하는 빌드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0"/>
          <p:cNvSpPr/>
          <p:nvPr/>
        </p:nvSpPr>
        <p:spPr>
          <a:xfrm>
            <a:off x="868680" y="1371600"/>
            <a:ext cx="10469880" cy="1463040"/>
          </a:xfrm>
          <a:prstGeom prst="roundRect">
            <a:avLst>
              <a:gd name="adj" fmla="val 5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1069848" y="1536192"/>
            <a:ext cx="10067544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세션에서 회수한 보상이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캐릭터의 기억, 동조율, 기록 해금, 귀환 대사 변화로 이어질 때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lang="en-US" sz="20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루프와 캐릭터 애착 루프가 서로 강화되는가?</a:t>
            </a:r>
            <a:endParaRPr sz="2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2" name="Google Shape;712;p30"/>
          <p:cNvCxnSpPr/>
          <p:nvPr/>
        </p:nvCxnSpPr>
        <p:spPr>
          <a:xfrm>
            <a:off x="2849270" y="426110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3" name="Google Shape;713;p30"/>
          <p:cNvCxnSpPr/>
          <p:nvPr/>
        </p:nvCxnSpPr>
        <p:spPr>
          <a:xfrm>
            <a:off x="4930445" y="426110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4" name="Google Shape;714;p30"/>
          <p:cNvCxnSpPr/>
          <p:nvPr/>
        </p:nvCxnSpPr>
        <p:spPr>
          <a:xfrm>
            <a:off x="7011619" y="426110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15" name="Google Shape;715;p30"/>
          <p:cNvCxnSpPr/>
          <p:nvPr/>
        </p:nvCxnSpPr>
        <p:spPr>
          <a:xfrm>
            <a:off x="9092794" y="4261104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F2418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6" name="Google Shape;716;p30"/>
          <p:cNvSpPr/>
          <p:nvPr/>
        </p:nvSpPr>
        <p:spPr>
          <a:xfrm>
            <a:off x="914400" y="3840480"/>
            <a:ext cx="1916582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960120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2995574" y="3840480"/>
            <a:ext cx="1916582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3041294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5076749" y="3840480"/>
            <a:ext cx="1916582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5122469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Lv.1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7157923" y="3840480"/>
            <a:ext cx="1916582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0"/>
          <p:cNvSpPr/>
          <p:nvPr/>
        </p:nvSpPr>
        <p:spPr>
          <a:xfrm>
            <a:off x="7203643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01 해금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9239098" y="3840480"/>
            <a:ext cx="1916582" cy="841248"/>
          </a:xfrm>
          <a:prstGeom prst="roundRect">
            <a:avLst>
              <a:gd name="adj" fmla="val 8696"/>
            </a:avLst>
          </a:prstGeom>
          <a:solidFill>
            <a:srgbClr val="12172A"/>
          </a:solidFill>
          <a:ln w="12700" cap="flat" cmpd="sng">
            <a:solidFill>
              <a:srgbClr val="F2418D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9284818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대사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변화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P0-Core 구현 범위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기능 확장을 막기 위해 필수 범위를 명확히 고정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31"/>
          <p:cNvSpPr/>
          <p:nvPr/>
        </p:nvSpPr>
        <p:spPr>
          <a:xfrm>
            <a:off x="685800" y="1234440"/>
            <a:ext cx="10835640" cy="588645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758952" y="130759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80"/>
              <a:buFont typeface="Noto Sans"/>
              <a:buNone/>
            </a:pPr>
            <a:r>
              <a:rPr lang="en-US" sz="98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구분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3467862" y="130759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80"/>
              <a:buFont typeface="Noto Sans"/>
              <a:buNone/>
            </a:pPr>
            <a:r>
              <a:rPr lang="en-US" sz="98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P0-Core 구현 내용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685800" y="1823085"/>
            <a:ext cx="10835640" cy="588645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758952" y="189623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3467862" y="189623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관제실, 출격, 다이버/기록, 창고 메뉴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685800" y="2411730"/>
            <a:ext cx="10835640" cy="588645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758952" y="248488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인게임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3467862" y="248488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이동, 조준, 공격, HP/Mana, 적 1종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685800" y="3000375"/>
            <a:ext cx="10835640" cy="588645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1"/>
          <p:cNvSpPr/>
          <p:nvPr/>
        </p:nvSpPr>
        <p:spPr>
          <a:xfrm>
            <a:off x="758952" y="307352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3467862" y="307352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 파편, 마나석, 회복약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685800" y="3589020"/>
            <a:ext cx="10835640" cy="588645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758952" y="366217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탈출/실패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3467862" y="366217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전화부스 즉시 탈출, HP 0 강제 각성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685800" y="4177665"/>
            <a:ext cx="10835640" cy="588645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758952" y="425081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467862" y="425081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성공/실패, 플레이 시간, 기억 파편 정산, 회수품 정산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685800" y="4766310"/>
            <a:ext cx="10835640" cy="588645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758952" y="483946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애착 루프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3467862" y="483946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 상승, 심상 기록 01 해금, 귀환 대사 변화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685800" y="5354955"/>
            <a:ext cx="10835640" cy="588645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31"/>
          <p:cNvSpPr/>
          <p:nvPr/>
        </p:nvSpPr>
        <p:spPr>
          <a:xfrm>
            <a:off x="758952" y="542810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창고/준비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3467862" y="542810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lang="en-US" sz="98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마나석/회복약 저장, 퀵슬롯 2칸, 다음 출격 반입</a:t>
            </a:r>
            <a:endParaRPr sz="9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" name="Google Shape;768;p32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294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 구현하지 않는 것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이번 서사 확장으로 생긴 오해를 방지하기 위한 제외 항목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32"/>
          <p:cNvSpPr/>
          <p:nvPr/>
        </p:nvSpPr>
        <p:spPr>
          <a:xfrm>
            <a:off x="685800" y="13258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9B5C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309360" y="132588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11827">
              <a:alpha val="90196"/>
            </a:srgbClr>
          </a:solidFill>
          <a:ln w="12700" cap="flat" cmpd="sng">
            <a:solidFill>
              <a:srgbClr val="44D7FF">
                <a:alpha val="6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914400" y="15270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시스템 제외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960120" y="2011680"/>
            <a:ext cx="47091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멀티플레이 / 대기방 / 소생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캐릭터 영입 / 가챠 / 교체 편성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보스전 / 시간 제한 / 위상 변화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방어구 / 장비 강화 / 크래프팅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인벤토리 그리드 / 드래그 UX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7" name="Google Shape;777;p32"/>
          <p:cNvSpPr/>
          <p:nvPr/>
        </p:nvSpPr>
        <p:spPr>
          <a:xfrm>
            <a:off x="6537960" y="15270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서사/연출 제외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583680" y="2011680"/>
            <a:ext cx="470916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실제 시간 루프 시스템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여러 다이버 구원 시스템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괴이 변질 캐릭터 전투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프롤로그 10단계 / 선택지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Live2D / 풀보이스 / 선물하기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1463040" y="5623560"/>
            <a:ext cx="9235440" cy="502920"/>
          </a:xfrm>
          <a:prstGeom prst="roundRect">
            <a:avLst>
              <a:gd name="adj" fmla="val 14545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EF3340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32"/>
          <p:cNvSpPr/>
          <p:nvPr/>
        </p:nvSpPr>
        <p:spPr>
          <a:xfrm>
            <a:off x="1664208" y="5788152"/>
            <a:ext cx="8833104" cy="17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안정화 전까지 P0.5 기능은 구현하지 않는다.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33" descr="/mnt/data/lucid_assets_opt/success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8039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성공 판정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 보상이 캐릭터 구원 보상으로 변환되는 경험을 증명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2" name="Google Shape;792;p33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93" name="Google Shape;793;p33"/>
          <p:cNvCxnSpPr/>
          <p:nvPr/>
        </p:nvCxnSpPr>
        <p:spPr>
          <a:xfrm>
            <a:off x="2721254" y="19431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4" name="Google Shape;794;p33"/>
          <p:cNvCxnSpPr/>
          <p:nvPr/>
        </p:nvCxnSpPr>
        <p:spPr>
          <a:xfrm>
            <a:off x="4948733" y="19431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5" name="Google Shape;795;p33"/>
          <p:cNvCxnSpPr/>
          <p:nvPr/>
        </p:nvCxnSpPr>
        <p:spPr>
          <a:xfrm>
            <a:off x="7176211" y="19431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6" name="Google Shape;796;p33"/>
          <p:cNvCxnSpPr/>
          <p:nvPr/>
        </p:nvCxnSpPr>
        <p:spPr>
          <a:xfrm>
            <a:off x="9403690" y="194310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9B5C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7" name="Google Shape;797;p33"/>
          <p:cNvSpPr/>
          <p:nvPr/>
        </p:nvSpPr>
        <p:spPr>
          <a:xfrm>
            <a:off x="640080" y="150876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685800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2867558" y="150876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3"/>
          <p:cNvSpPr/>
          <p:nvPr/>
        </p:nvSpPr>
        <p:spPr>
          <a:xfrm>
            <a:off x="2913278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5095037" y="150876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3"/>
          <p:cNvSpPr/>
          <p:nvPr/>
        </p:nvSpPr>
        <p:spPr>
          <a:xfrm>
            <a:off x="5140757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7322515" y="150876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3"/>
          <p:cNvSpPr/>
          <p:nvPr/>
        </p:nvSpPr>
        <p:spPr>
          <a:xfrm>
            <a:off x="7368235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기록 01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해금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9549994" y="150876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9B5C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9595714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대사 변화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07" name="Google Shape;807;p33"/>
          <p:cNvCxnSpPr/>
          <p:nvPr/>
        </p:nvCxnSpPr>
        <p:spPr>
          <a:xfrm>
            <a:off x="2721254" y="358902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8" name="Google Shape;808;p33"/>
          <p:cNvCxnSpPr/>
          <p:nvPr/>
        </p:nvCxnSpPr>
        <p:spPr>
          <a:xfrm>
            <a:off x="4948733" y="358902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9" name="Google Shape;809;p33"/>
          <p:cNvCxnSpPr/>
          <p:nvPr/>
        </p:nvCxnSpPr>
        <p:spPr>
          <a:xfrm>
            <a:off x="7176211" y="358902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0" name="Google Shape;810;p33"/>
          <p:cNvCxnSpPr/>
          <p:nvPr/>
        </p:nvCxnSpPr>
        <p:spPr>
          <a:xfrm>
            <a:off x="9403690" y="3589020"/>
            <a:ext cx="12801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1" name="Google Shape;811;p33"/>
          <p:cNvSpPr/>
          <p:nvPr/>
        </p:nvSpPr>
        <p:spPr>
          <a:xfrm>
            <a:off x="640080" y="315468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33"/>
          <p:cNvSpPr/>
          <p:nvPr/>
        </p:nvSpPr>
        <p:spPr>
          <a:xfrm>
            <a:off x="685800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마나석/회복약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2867558" y="315468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2913278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5095037" y="315468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3"/>
          <p:cNvSpPr/>
          <p:nvPr/>
        </p:nvSpPr>
        <p:spPr>
          <a:xfrm>
            <a:off x="5140757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저장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7322515" y="315468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33"/>
          <p:cNvSpPr/>
          <p:nvPr/>
        </p:nvSpPr>
        <p:spPr>
          <a:xfrm>
            <a:off x="7368235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퀵슬롯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장착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9549994" y="3154680"/>
            <a:ext cx="2062886" cy="868680"/>
          </a:xfrm>
          <a:prstGeom prst="roundRect">
            <a:avLst>
              <a:gd name="adj" fmla="val 8421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9595714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세션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lang="en-US" sz="11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endParaRPr sz="11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1051560" y="5257800"/>
            <a:ext cx="10058400" cy="548640"/>
          </a:xfrm>
          <a:prstGeom prst="roundRect">
            <a:avLst>
              <a:gd name="adj" fmla="val 13333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7C66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3"/>
          <p:cNvSpPr/>
          <p:nvPr/>
        </p:nvSpPr>
        <p:spPr>
          <a:xfrm>
            <a:off x="1252728" y="5422392"/>
            <a:ext cx="96560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파밍해서 탈출하면 캐릭터가 변하고, 창고가 채워지며, 다음 출격의 이유가 생긴다.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33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34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6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주요 화면 / UI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6" name="Google Shape;836;p34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시각 레퍼런스로 보는 P0 시연 흐름</a:t>
            </a:r>
            <a:endParaRPr sz="15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8" name="Google Shape;838;p3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34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3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/ 관제실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6" name="Google Shape;846;p3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출격 전후로 캐릭터 변화가 체감되는 허브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7" name="Google Shape;847;p3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8" name="Google Shape;848;p35" descr="/mnt/data/lucid_assets_opt/lobby.jpg"/>
          <p:cNvPicPr preferRelativeResize="0"/>
          <p:nvPr/>
        </p:nvPicPr>
        <p:blipFill rotWithShape="1">
          <a:blip r:embed="rId3">
            <a:alphaModFix/>
          </a:blip>
          <a:srcRect t="11337" b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5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35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동조율, NEW 알림, 귀환 대사가 로비에서 반영된다.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1" name="Google Shape;851;p3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35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출격 준비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0" name="Google Shape;860;p3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다음 세션에 가져갈 소비 기물을 선택하는 화면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1" name="Google Shape;861;p3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2" name="Google Shape;862;p36" descr="/mnt/data/lucid_assets_opt/sortie.jpg"/>
          <p:cNvPicPr preferRelativeResize="0"/>
          <p:nvPr/>
        </p:nvPicPr>
        <p:blipFill rotWithShape="1">
          <a:blip r:embed="rId3">
            <a:alphaModFix/>
          </a:blip>
          <a:srcRect t="11337" b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6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36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회복약과 마나석을 2칸 퀵슬롯에 장착하는 구조만 구현한다.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6" name="Google Shape;866;p3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3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인게임 HUD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4" name="Google Shape;874;p3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전투, 기억 파편 카운터, HP/Mana, 퀵슬롯을 동시에 전달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5" name="Google Shape;875;p3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37"/>
          <p:cNvSpPr/>
          <p:nvPr/>
        </p:nvSpPr>
        <p:spPr>
          <a:xfrm>
            <a:off x="594360" y="11887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7" name="Google Shape;877;p37" descr="/mnt/data/lucid_assets_opt/ingameA.jpg"/>
          <p:cNvPicPr preferRelativeResize="0"/>
          <p:nvPr/>
        </p:nvPicPr>
        <p:blipFill rotWithShape="1">
          <a:blip r:embed="rId3">
            <a:alphaModFix/>
          </a:blip>
          <a:srcRect l="21488" r="21488"/>
          <a:stretch/>
        </p:blipFill>
        <p:spPr>
          <a:xfrm>
            <a:off x="621792" y="1216152"/>
            <a:ext cx="5385816" cy="424281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7"/>
          <p:cNvSpPr/>
          <p:nvPr/>
        </p:nvSpPr>
        <p:spPr>
          <a:xfrm>
            <a:off x="621792" y="5102352"/>
            <a:ext cx="5385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37"/>
          <p:cNvSpPr/>
          <p:nvPr/>
        </p:nvSpPr>
        <p:spPr>
          <a:xfrm>
            <a:off x="731520" y="5193792"/>
            <a:ext cx="51663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 지향 인게임 톤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6172200" y="118872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1" name="Google Shape;881;p37" descr="/mnt/data/lucid_assets_opt/ingameB.jpg"/>
          <p:cNvPicPr preferRelativeResize="0"/>
          <p:nvPr/>
        </p:nvPicPr>
        <p:blipFill rotWithShape="1">
          <a:blip r:embed="rId4">
            <a:alphaModFix/>
          </a:blip>
          <a:srcRect l="14336" r="14336"/>
          <a:stretch/>
        </p:blipFill>
        <p:spPr>
          <a:xfrm>
            <a:off x="6199632" y="1216152"/>
            <a:ext cx="5385816" cy="4242816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37"/>
          <p:cNvSpPr/>
          <p:nvPr/>
        </p:nvSpPr>
        <p:spPr>
          <a:xfrm>
            <a:off x="6199632" y="5102352"/>
            <a:ext cx="5385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37"/>
          <p:cNvSpPr/>
          <p:nvPr/>
        </p:nvSpPr>
        <p:spPr>
          <a:xfrm>
            <a:off x="6309360" y="5193792"/>
            <a:ext cx="51663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익스트랙션/전투 레퍼런스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1280160" y="5806440"/>
            <a:ext cx="9601200" cy="457200"/>
          </a:xfrm>
          <a:prstGeom prst="roundRect">
            <a:avLst>
              <a:gd name="adj" fmla="val 16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37"/>
          <p:cNvSpPr/>
          <p:nvPr/>
        </p:nvSpPr>
        <p:spPr>
          <a:xfrm>
            <a:off x="1481328" y="5971032"/>
            <a:ext cx="9198864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전투는 “회수 → 탈출 정산” 루프를 작동시키는 최소 전투로 설계한다.</a:t>
            </a:r>
            <a:endParaRPr sz="13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37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3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결과창: 성공과 실패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5" name="Google Shape;895;p3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 복구와 유실을 가장 명확하게 보여주는 화면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6" name="Google Shape;896;p3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38"/>
          <p:cNvSpPr/>
          <p:nvPr/>
        </p:nvSpPr>
        <p:spPr>
          <a:xfrm>
            <a:off x="594360" y="1143000"/>
            <a:ext cx="5669280" cy="4343400"/>
          </a:xfrm>
          <a:prstGeom prst="roundRect">
            <a:avLst>
              <a:gd name="adj" fmla="val 1684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8" name="Google Shape;898;p38" descr="/mnt/data/lucid_assets_opt/success.jpg"/>
          <p:cNvPicPr preferRelativeResize="0"/>
          <p:nvPr/>
        </p:nvPicPr>
        <p:blipFill rotWithShape="1">
          <a:blip r:embed="rId3">
            <a:alphaModFix/>
          </a:blip>
          <a:srcRect l="13180" r="13180"/>
          <a:stretch/>
        </p:blipFill>
        <p:spPr>
          <a:xfrm>
            <a:off x="621792" y="1170432"/>
            <a:ext cx="5614416" cy="42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38"/>
          <p:cNvSpPr/>
          <p:nvPr/>
        </p:nvSpPr>
        <p:spPr>
          <a:xfrm>
            <a:off x="621792" y="5102352"/>
            <a:ext cx="56144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38"/>
          <p:cNvSpPr/>
          <p:nvPr/>
        </p:nvSpPr>
        <p:spPr>
          <a:xfrm>
            <a:off x="731520" y="5193792"/>
            <a:ext cx="53949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탈출 성공: 기억 파편 자동 소모 → 동조율 상승 → 기록 해금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6537960" y="1143000"/>
            <a:ext cx="4297680" cy="4343400"/>
          </a:xfrm>
          <a:prstGeom prst="roundRect">
            <a:avLst>
              <a:gd name="adj" fmla="val 1702"/>
            </a:avLst>
          </a:prstGeom>
          <a:solidFill>
            <a:srgbClr val="000000"/>
          </a:solidFill>
          <a:ln w="12700" cap="flat" cmpd="sng">
            <a:solidFill>
              <a:srgbClr val="324057">
                <a:alpha val="5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2" name="Google Shape;902;p38" descr="/mnt/data/lucid_assets_opt/fail.jpg"/>
          <p:cNvPicPr preferRelativeResize="0"/>
          <p:nvPr/>
        </p:nvPicPr>
        <p:blipFill rotWithShape="1">
          <a:blip r:embed="rId4">
            <a:alphaModFix/>
          </a:blip>
          <a:srcRect l="533" r="533"/>
          <a:stretch/>
        </p:blipFill>
        <p:spPr>
          <a:xfrm>
            <a:off x="6565392" y="1170432"/>
            <a:ext cx="4242816" cy="42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38"/>
          <p:cNvSpPr/>
          <p:nvPr/>
        </p:nvSpPr>
        <p:spPr>
          <a:xfrm>
            <a:off x="6565392" y="5102352"/>
            <a:ext cx="4242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38"/>
          <p:cNvSpPr/>
          <p:nvPr/>
        </p:nvSpPr>
        <p:spPr>
          <a:xfrm>
            <a:off x="6675120" y="5193792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강제 각성: 회수품 유실 / 기록 해금 실패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5" name="Google Shape;905;p38"/>
          <p:cNvSpPr/>
          <p:nvPr/>
        </p:nvSpPr>
        <p:spPr>
          <a:xfrm>
            <a:off x="1097280" y="5760720"/>
            <a:ext cx="9966960" cy="457200"/>
          </a:xfrm>
          <a:prstGeom prst="roundRect">
            <a:avLst>
              <a:gd name="adj" fmla="val 16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2418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8"/>
          <p:cNvSpPr/>
          <p:nvPr/>
        </p:nvSpPr>
        <p:spPr>
          <a:xfrm>
            <a:off x="1298448" y="5925312"/>
            <a:ext cx="9564624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50"/>
              <a:buFont typeface="Noto Sans"/>
              <a:buNone/>
            </a:pPr>
            <a:r>
              <a:rPr lang="en-US" sz="13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성공과 실패의 차이는 숫자가 아니라, “되찾을 수 있었던 기억”의 유실로 체감된다.</a:t>
            </a:r>
            <a:endParaRPr sz="13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7" name="Google Shape;907;p3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8" name="Google Shape;908;p3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38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 / 기록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 상승으로 해금된 개인 심상 기록을 확인하는 화면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8" name="Google Shape;918;p39" descr="/mnt/data/lucid_assets_opt/record.jpg"/>
          <p:cNvPicPr preferRelativeResize="0"/>
          <p:nvPr/>
        </p:nvPicPr>
        <p:blipFill rotWithShape="1">
          <a:blip r:embed="rId3">
            <a:alphaModFix/>
          </a:blip>
          <a:srcRect t="11337" b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39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39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채린의 ‘끊어진 귀환 로그’ 1개만 구현한다.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1" name="Google Shape;921;p3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3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39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4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/ 인벤토리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탈출 성공으로 보존한 마나석/회복약을 다음 출격 준비로 연결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1" name="Google Shape;931;p4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2" name="Google Shape;932;p40" descr="/mnt/data/lucid_assets_opt/storage.jpg"/>
          <p:cNvPicPr preferRelativeResize="0"/>
          <p:nvPr/>
        </p:nvPicPr>
        <p:blipFill rotWithShape="1">
          <a:blip r:embed="rId3">
            <a:alphaModFix/>
          </a:blip>
          <a:srcRect t="11337" b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40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lang="en-US" sz="7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UI 이미지는 목표 비주얼 레퍼런스이며, 실제 구현 범위는 P0 시스템 명세를 우선한다.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5" name="Google Shape;935;p4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6" name="Google Shape;936;p4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40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41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41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w="12700" cap="flat" cmpd="sng">
            <a:solidFill>
              <a:srgbClr val="9B5CFF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41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F2418D">
              <a:alpha val="92156"/>
            </a:srgbClr>
          </a:solidFill>
          <a:ln w="12700" cap="flat" cmpd="sng">
            <a:solidFill>
              <a:srgbClr val="F2418D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41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lang="en-US" sz="75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7</a:t>
            </a:r>
            <a:endParaRPr sz="7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lang="en-US" sz="3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트레일러 방향과 개발 계획</a:t>
            </a:r>
            <a:endParaRPr sz="3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8" name="Google Shape;948;p41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 b="0" i="0" u="none" strike="noStrike" cap="none" dirty="0" err="1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시연</a:t>
            </a:r>
            <a:r>
              <a:rPr lang="en-US" sz="1500" b="0" i="0" u="none" strike="noStrike" cap="none" dirty="0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0" i="0" u="none" strike="noStrike" cap="none" dirty="0" err="1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흐름과</a:t>
            </a:r>
            <a:r>
              <a:rPr lang="en-US" sz="1500" b="0" i="0" u="none" strike="noStrike" cap="none" dirty="0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0" i="0" u="none" strike="noStrike" cap="none" dirty="0" err="1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리스크</a:t>
            </a:r>
            <a:r>
              <a:rPr lang="en-US" sz="1500" b="0" i="0" u="none" strike="noStrike" cap="none" dirty="0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1500" b="0" i="0" u="none" strike="noStrike" cap="none" dirty="0" err="1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통제</a:t>
            </a:r>
            <a:endParaRPr sz="1500" b="0" i="0" u="none" strike="noStrike" cap="none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9" name="Google Shape;949;p4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0" name="Google Shape;950;p4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41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42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30초 트레일러 콘티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4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추후 영상 제작 시 보여줄 핵심 감정선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4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2"/>
          <p:cNvSpPr/>
          <p:nvPr/>
        </p:nvSpPr>
        <p:spPr>
          <a:xfrm>
            <a:off x="822960" y="1325880"/>
            <a:ext cx="10607040" cy="723900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2"/>
          <p:cNvSpPr/>
          <p:nvPr/>
        </p:nvSpPr>
        <p:spPr>
          <a:xfrm>
            <a:off x="896112" y="13990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구간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42"/>
          <p:cNvSpPr/>
          <p:nvPr/>
        </p:nvSpPr>
        <p:spPr>
          <a:xfrm>
            <a:off x="2805379" y="13990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00"/>
              <a:buFont typeface="Noto Sans"/>
              <a:buNone/>
            </a:pPr>
            <a:r>
              <a:rPr lang="en-US" sz="110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장면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4" name="Google Shape;964;p42"/>
          <p:cNvSpPr/>
          <p:nvPr/>
        </p:nvSpPr>
        <p:spPr>
          <a:xfrm>
            <a:off x="822960" y="2049780"/>
            <a:ext cx="10607040" cy="72390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42"/>
          <p:cNvSpPr/>
          <p:nvPr/>
        </p:nvSpPr>
        <p:spPr>
          <a:xfrm>
            <a:off x="896112" y="21229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0~5초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6" name="Google Shape;966;p42"/>
          <p:cNvSpPr/>
          <p:nvPr/>
        </p:nvSpPr>
        <p:spPr>
          <a:xfrm>
            <a:off x="2805379" y="21229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보라색 균열이 도시를 삼킨다. “도시는 꿈에 잠겼다.”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7" name="Google Shape;967;p42"/>
          <p:cNvSpPr/>
          <p:nvPr/>
        </p:nvSpPr>
        <p:spPr>
          <a:xfrm>
            <a:off x="822960" y="2773680"/>
            <a:ext cx="10607040" cy="72390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42"/>
          <p:cNvSpPr/>
          <p:nvPr/>
        </p:nvSpPr>
        <p:spPr>
          <a:xfrm>
            <a:off x="896112" y="28468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5~10초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42"/>
          <p:cNvSpPr/>
          <p:nvPr/>
        </p:nvSpPr>
        <p:spPr>
          <a:xfrm>
            <a:off x="2805379" y="28468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채린이 눈을 뜬다. “넌 누구야… 왜 네 목소리가 익숙하지?”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0" name="Google Shape;970;p42"/>
          <p:cNvSpPr/>
          <p:nvPr/>
        </p:nvSpPr>
        <p:spPr>
          <a:xfrm>
            <a:off x="822960" y="3497580"/>
            <a:ext cx="10607040" cy="72390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42"/>
          <p:cNvSpPr/>
          <p:nvPr/>
        </p:nvSpPr>
        <p:spPr>
          <a:xfrm>
            <a:off x="896112" y="35707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10~18초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2" name="Google Shape;972;p42"/>
          <p:cNvSpPr/>
          <p:nvPr/>
        </p:nvSpPr>
        <p:spPr>
          <a:xfrm>
            <a:off x="2805379" y="35707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전투, 기억 파편 회수, 전화부스 탈출.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3" name="Google Shape;973;p42"/>
          <p:cNvSpPr/>
          <p:nvPr/>
        </p:nvSpPr>
        <p:spPr>
          <a:xfrm>
            <a:off x="822960" y="4221480"/>
            <a:ext cx="10607040" cy="723900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42"/>
          <p:cNvSpPr/>
          <p:nvPr/>
        </p:nvSpPr>
        <p:spPr>
          <a:xfrm>
            <a:off x="896112" y="42946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18~24초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5" name="Google Shape;975;p42"/>
          <p:cNvSpPr/>
          <p:nvPr/>
        </p:nvSpPr>
        <p:spPr>
          <a:xfrm>
            <a:off x="2805379" y="42946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결과창. 기억 파편 자동 소모 → 동조율 상승 → 기록 해금.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6" name="Google Shape;976;p42"/>
          <p:cNvSpPr/>
          <p:nvPr/>
        </p:nvSpPr>
        <p:spPr>
          <a:xfrm>
            <a:off x="822960" y="4945380"/>
            <a:ext cx="10607040" cy="723900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42"/>
          <p:cNvSpPr/>
          <p:nvPr/>
        </p:nvSpPr>
        <p:spPr>
          <a:xfrm>
            <a:off x="896112" y="50185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24~30초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8" name="Google Shape;978;p42"/>
          <p:cNvSpPr/>
          <p:nvPr/>
        </p:nvSpPr>
        <p:spPr>
          <a:xfrm>
            <a:off x="2805379" y="50185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lang="en-US" sz="11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로비 복귀. “기억났어. 너, 그때도 거기 있었지.”</a:t>
            </a:r>
            <a:endParaRPr sz="11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9" name="Google Shape;979;p4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0" name="Google Shape;980;p4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42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43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개발 계획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날짜보다 마일스톤 기준으로 현실성을 재검토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9" name="Google Shape;989;p43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0" name="Google Shape;990;p43"/>
          <p:cNvCxnSpPr/>
          <p:nvPr/>
        </p:nvCxnSpPr>
        <p:spPr>
          <a:xfrm>
            <a:off x="2258568" y="242316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1" name="Google Shape;991;p43"/>
          <p:cNvCxnSpPr/>
          <p:nvPr/>
        </p:nvCxnSpPr>
        <p:spPr>
          <a:xfrm>
            <a:off x="4160520" y="242316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2" name="Google Shape;992;p43"/>
          <p:cNvCxnSpPr/>
          <p:nvPr/>
        </p:nvCxnSpPr>
        <p:spPr>
          <a:xfrm>
            <a:off x="6062472" y="242316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3" name="Google Shape;993;p43"/>
          <p:cNvCxnSpPr/>
          <p:nvPr/>
        </p:nvCxnSpPr>
        <p:spPr>
          <a:xfrm>
            <a:off x="7964424" y="242316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4" name="Google Shape;994;p43"/>
          <p:cNvCxnSpPr/>
          <p:nvPr/>
        </p:nvCxnSpPr>
        <p:spPr>
          <a:xfrm>
            <a:off x="9866376" y="2423160"/>
            <a:ext cx="36576" cy="0"/>
          </a:xfrm>
          <a:prstGeom prst="straightConnector1">
            <a:avLst/>
          </a:prstGeom>
          <a:noFill/>
          <a:ln w="12700" cap="flat" cmpd="sng">
            <a:solidFill>
              <a:srgbClr val="44D7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95" name="Google Shape;995;p43"/>
          <p:cNvSpPr/>
          <p:nvPr/>
        </p:nvSpPr>
        <p:spPr>
          <a:xfrm>
            <a:off x="411480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43"/>
          <p:cNvSpPr/>
          <p:nvPr/>
        </p:nvSpPr>
        <p:spPr>
          <a:xfrm>
            <a:off x="457200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M1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기획 동결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7" name="Google Shape;997;p43"/>
          <p:cNvSpPr/>
          <p:nvPr/>
        </p:nvSpPr>
        <p:spPr>
          <a:xfrm>
            <a:off x="2313432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43"/>
          <p:cNvSpPr/>
          <p:nvPr/>
        </p:nvSpPr>
        <p:spPr>
          <a:xfrm>
            <a:off x="2359152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M2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Core 1차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43"/>
          <p:cNvSpPr/>
          <p:nvPr/>
        </p:nvSpPr>
        <p:spPr>
          <a:xfrm>
            <a:off x="4215384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43"/>
          <p:cNvSpPr/>
          <p:nvPr/>
        </p:nvSpPr>
        <p:spPr>
          <a:xfrm>
            <a:off x="4261104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M3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정산 루프 통합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43"/>
          <p:cNvSpPr/>
          <p:nvPr/>
        </p:nvSpPr>
        <p:spPr>
          <a:xfrm>
            <a:off x="6117336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43"/>
          <p:cNvSpPr/>
          <p:nvPr/>
        </p:nvSpPr>
        <p:spPr>
          <a:xfrm>
            <a:off x="6163056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M4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QA 안정화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43"/>
          <p:cNvSpPr/>
          <p:nvPr/>
        </p:nvSpPr>
        <p:spPr>
          <a:xfrm>
            <a:off x="8019288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43"/>
          <p:cNvSpPr/>
          <p:nvPr/>
        </p:nvSpPr>
        <p:spPr>
          <a:xfrm>
            <a:off x="8065008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M5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리소스 적용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5" name="Google Shape;1005;p43"/>
          <p:cNvSpPr/>
          <p:nvPr/>
        </p:nvSpPr>
        <p:spPr>
          <a:xfrm>
            <a:off x="9921240" y="19659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2172A"/>
          </a:solidFill>
          <a:ln w="12700" cap="flat" cmpd="sng">
            <a:solidFill>
              <a:srgbClr val="44D7FF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3"/>
          <p:cNvSpPr/>
          <p:nvPr/>
        </p:nvSpPr>
        <p:spPr>
          <a:xfrm>
            <a:off x="9966960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M6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발표 빌드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43"/>
          <p:cNvSpPr/>
          <p:nvPr/>
        </p:nvSpPr>
        <p:spPr>
          <a:xfrm>
            <a:off x="1234440" y="4206240"/>
            <a:ext cx="9738360" cy="786384"/>
          </a:xfrm>
          <a:prstGeom prst="roundRect">
            <a:avLst>
              <a:gd name="adj" fmla="val 9302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F7C66D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1435608" y="4370832"/>
            <a:ext cx="93360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일정은 팀 전체 직군 협의 후 재확정.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비현실적인 날짜보다 “동작하는 루프”를 우선한다.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4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0" name="Google Shape;1010;p4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43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D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8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확정 스프린트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9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C4CC"/>
                </a:solidFill>
              </a:rPr>
              <a:t>날짜보다 마일스톤 기준으로 실질성을 확보 (6.22 킥오프 ~ 7.28 발표)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260000"/>
            <a:ext cx="900000" cy="28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6000" y="1278000"/>
            <a:ext cx="8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주차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0000" y="1260000"/>
            <a:ext cx="1260000" cy="28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6000" y="1278000"/>
            <a:ext cx="118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1260000"/>
            <a:ext cx="2880000" cy="28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56000" y="1278000"/>
            <a:ext cx="280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핵심 목표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0" y="1260000"/>
            <a:ext cx="2700000" cy="28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36000" y="1278000"/>
            <a:ext cx="262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주요 산출물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0000" y="1260000"/>
            <a:ext cx="3420000" cy="28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6000" y="127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완료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1548000"/>
            <a:ext cx="900000" cy="73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60000" y="1548000"/>
            <a:ext cx="1260000" cy="73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20000" y="1548000"/>
            <a:ext cx="2880000" cy="73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0000" y="1548000"/>
            <a:ext cx="2700000" cy="73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0000" y="1548000"/>
            <a:ext cx="3420000" cy="7380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6000" y="1584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D4BF"/>
                </a:solidFill>
              </a:rPr>
              <a:t>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6000" y="1584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6.22~6.26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6000" y="1584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코어1 1차 구현
6.22 킥오프: 기획안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6000" y="1584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P0 v1 빌드 파일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6000" y="1584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로비→인게임→결과창→창고
완전 루프 체험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2304000"/>
            <a:ext cx="90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60000" y="2304000"/>
            <a:ext cx="126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520000" y="2304000"/>
            <a:ext cx="288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00000" y="2304000"/>
            <a:ext cx="270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00000" y="2304000"/>
            <a:ext cx="342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6000" y="2340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6000" y="2340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6.29~7.3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6000" y="2340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코어1 이미지/에셋 리소스 적용
(~7.2: 로비씬·캐릭터·UI 완료)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36000" y="2340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에셋 적용 P0 빌드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6000" y="2340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통합점검 (7.3) 통과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000" y="3060000"/>
            <a:ext cx="900000" cy="73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60000" y="3060000"/>
            <a:ext cx="1260000" cy="73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20000" y="3060000"/>
            <a:ext cx="2880000" cy="73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00000" y="3060000"/>
            <a:ext cx="2700000" cy="73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00000" y="3060000"/>
            <a:ext cx="3420000" cy="73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6000" y="3096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4주차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000" y="3096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7.6~7.10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6000" y="3096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P0 안정화 / QA / P0.5 범위 결정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36000" y="3096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QA 완료 시트
P0.5 명세서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6000" y="3096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QA 전 항목 통과
P0.5 범위 확정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3816000"/>
            <a:ext cx="90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260000" y="3816000"/>
            <a:ext cx="126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520000" y="3816000"/>
            <a:ext cx="288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400000" y="3816000"/>
            <a:ext cx="270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00000" y="3816000"/>
            <a:ext cx="3420000" cy="738000"/>
          </a:xfrm>
          <a:prstGeom prst="rect">
            <a:avLst/>
          </a:prstGeom>
          <a:solidFill>
            <a:srgbClr val="1A1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96000" y="3852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5주차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6000" y="3852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7.13~7.17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56000" y="3852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P0.5 개발 → QA 마무리
⚠️ 7.18 기능 동결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36000" y="3852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P0.5 빌드 파일
1차 QA 시트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6000" y="3852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7.18 기능 동결 전 완료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0000" y="4572000"/>
            <a:ext cx="900000" cy="73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60000" y="4572000"/>
            <a:ext cx="1260000" cy="73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520000" y="4572000"/>
            <a:ext cx="2880000" cy="73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00000" y="4572000"/>
            <a:ext cx="2700000" cy="73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100000" y="4572000"/>
            <a:ext cx="3420000" cy="7380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6000" y="4608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6주차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96000" y="4608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7.20~7.24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56000" y="4608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QA / 발표 PPT 생성
발표 준비 마감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36000" y="4608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발표 PPT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6000" y="4608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PPT 최종본 완성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5328000"/>
            <a:ext cx="900000" cy="73800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260000" y="5328000"/>
            <a:ext cx="1260000" cy="73800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2520000" y="5328000"/>
            <a:ext cx="2880000" cy="73800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400000" y="5328000"/>
            <a:ext cx="2700000" cy="73800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00000" y="5328000"/>
            <a:ext cx="3420000" cy="73800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96000" y="5364000"/>
            <a:ext cx="8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7주차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96000" y="5364000"/>
            <a:ext cx="118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7.27~7.28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56000" y="5364000"/>
            <a:ext cx="280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리허설 및 최종 발표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36000" y="5364000"/>
            <a:ext cx="262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리허설 완료
최종 발표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6000" y="5364000"/>
            <a:ext cx="3348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4C4CC"/>
                </a:solidFill>
              </a:rPr>
              <a:t>7.27 리허설 통과
7.28 발표 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0000" y="6228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5CF6"/>
                </a:solidFill>
              </a:rPr>
              <a:t>일정은 전체 직군 합의 기준으로 확정. 날짜보다 마일스톤 완료 루프를 우선한다.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0000" y="6516000"/>
            <a:ext cx="86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4C4CC"/>
                </a:solidFill>
              </a:rPr>
              <a:t>침몽도시: 루시드다이버  ·  P0 안내서 v1.3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24000" y="651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4C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D"/>
        </a:solid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리스크 통제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8" name="Google Shape;1018;p4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서사 확장과 구현 범위를 분리한다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9" name="Google Shape;1019;p4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4"/>
          <p:cNvSpPr/>
          <p:nvPr/>
        </p:nvSpPr>
        <p:spPr>
          <a:xfrm>
            <a:off x="777240" y="1188720"/>
            <a:ext cx="10698480" cy="672737"/>
          </a:xfrm>
          <a:prstGeom prst="rect">
            <a:avLst/>
          </a:prstGeom>
          <a:solidFill>
            <a:srgbClr val="1B2236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4"/>
          <p:cNvSpPr/>
          <p:nvPr/>
        </p:nvSpPr>
        <p:spPr>
          <a:xfrm>
            <a:off x="850392" y="1261872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리스크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2" name="Google Shape;1022;p44"/>
          <p:cNvSpPr/>
          <p:nvPr/>
        </p:nvSpPr>
        <p:spPr>
          <a:xfrm>
            <a:off x="4701845" y="1261872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50"/>
              <a:buFont typeface="Noto Sans"/>
              <a:buNone/>
            </a:pPr>
            <a:r>
              <a:rPr lang="en-US" sz="1050" b="1" i="0" u="none" strike="noStrike" cap="non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대응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3" name="Google Shape;1023;p44"/>
          <p:cNvSpPr/>
          <p:nvPr/>
        </p:nvSpPr>
        <p:spPr>
          <a:xfrm>
            <a:off x="777240" y="1861457"/>
            <a:ext cx="10698480" cy="672737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44"/>
          <p:cNvSpPr/>
          <p:nvPr/>
        </p:nvSpPr>
        <p:spPr>
          <a:xfrm>
            <a:off x="850392" y="1934609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서사 확장으로 범위 증가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5" name="Google Shape;1025;p44"/>
          <p:cNvSpPr/>
          <p:nvPr/>
        </p:nvSpPr>
        <p:spPr>
          <a:xfrm>
            <a:off x="4701845" y="1934609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P0는 채린 1명, 기록 01만 구현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6" name="Google Shape;1026;p44"/>
          <p:cNvSpPr/>
          <p:nvPr/>
        </p:nvSpPr>
        <p:spPr>
          <a:xfrm>
            <a:off x="777240" y="2534194"/>
            <a:ext cx="10698480" cy="672737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4"/>
          <p:cNvSpPr/>
          <p:nvPr/>
        </p:nvSpPr>
        <p:spPr>
          <a:xfrm>
            <a:off x="850392" y="2607346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루프 시스템 오해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4701845" y="2607346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실제 회차 시스템은 P0 제외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9" name="Google Shape;1029;p44"/>
          <p:cNvSpPr/>
          <p:nvPr/>
        </p:nvSpPr>
        <p:spPr>
          <a:xfrm>
            <a:off x="777240" y="3206931"/>
            <a:ext cx="10698480" cy="672737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44"/>
          <p:cNvSpPr/>
          <p:nvPr/>
        </p:nvSpPr>
        <p:spPr>
          <a:xfrm>
            <a:off x="850392" y="3280083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괴이 변질 시스템 오해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4701845" y="3280083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설정/장기 목표로만 제시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2" name="Google Shape;1032;p44"/>
          <p:cNvSpPr/>
          <p:nvPr/>
        </p:nvSpPr>
        <p:spPr>
          <a:xfrm>
            <a:off x="777240" y="3879669"/>
            <a:ext cx="10698480" cy="672737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44"/>
          <p:cNvSpPr/>
          <p:nvPr/>
        </p:nvSpPr>
        <p:spPr>
          <a:xfrm>
            <a:off x="850392" y="3952821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UI 과잉 구현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4" name="Google Shape;1034;p44"/>
          <p:cNvSpPr/>
          <p:nvPr/>
        </p:nvSpPr>
        <p:spPr>
          <a:xfrm>
            <a:off x="4701845" y="3952821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시스템 명세 우선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5" name="Google Shape;1035;p44"/>
          <p:cNvSpPr/>
          <p:nvPr/>
        </p:nvSpPr>
        <p:spPr>
          <a:xfrm>
            <a:off x="777240" y="4552406"/>
            <a:ext cx="10698480" cy="672737"/>
          </a:xfrm>
          <a:prstGeom prst="rect">
            <a:avLst/>
          </a:prstGeom>
          <a:solidFill>
            <a:srgbClr val="0B1020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44"/>
          <p:cNvSpPr/>
          <p:nvPr/>
        </p:nvSpPr>
        <p:spPr>
          <a:xfrm>
            <a:off x="850392" y="4625558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일정 불확실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7" name="Google Shape;1037;p44"/>
          <p:cNvSpPr/>
          <p:nvPr/>
        </p:nvSpPr>
        <p:spPr>
          <a:xfrm>
            <a:off x="4701845" y="4625558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팀 협의 후 마일스톤 재확정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8" name="Google Shape;1038;p44"/>
          <p:cNvSpPr/>
          <p:nvPr/>
        </p:nvSpPr>
        <p:spPr>
          <a:xfrm>
            <a:off x="777240" y="5225143"/>
            <a:ext cx="10698480" cy="672737"/>
          </a:xfrm>
          <a:prstGeom prst="rect">
            <a:avLst/>
          </a:prstGeom>
          <a:solidFill>
            <a:srgbClr val="111827"/>
          </a:solidFill>
          <a:ln w="12700" cap="flat" cmpd="sng">
            <a:solidFill>
              <a:srgbClr val="324057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44"/>
          <p:cNvSpPr/>
          <p:nvPr/>
        </p:nvSpPr>
        <p:spPr>
          <a:xfrm>
            <a:off x="850392" y="5298295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P0.5 욕심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0" name="Google Shape;1040;p44"/>
          <p:cNvSpPr/>
          <p:nvPr/>
        </p:nvSpPr>
        <p:spPr>
          <a:xfrm>
            <a:off x="4701845" y="5298295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lang="en-US" sz="10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안정화 전까지 구현 금지</a:t>
            </a:r>
            <a:endParaRPr sz="10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1" name="Google Shape;1041;p4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4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44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360000" y="450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</a:rPr>
              <a:t>▼ 날짜 기준 마일스톤 확정 (2026.06.22 킥오프 ~ 7.28 발표)</a:t>
            </a:r>
          </a:p>
        </p:txBody>
      </p:sp>
      <p:sp>
        <p:nvSpPr>
          <p:cNvPr id="1044" name="Rectangle 1043"/>
          <p:cNvSpPr/>
          <p:nvPr/>
        </p:nvSpPr>
        <p:spPr>
          <a:xfrm>
            <a:off x="360000" y="4860000"/>
            <a:ext cx="11340000" cy="28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5" name="TextBox 1044"/>
          <p:cNvSpPr txBox="1"/>
          <p:nvPr/>
        </p:nvSpPr>
        <p:spPr>
          <a:xfrm>
            <a:off x="396000" y="4896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1296000" y="4896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기획 확결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3096000" y="4896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6.22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5076000" y="4896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기획안 확정 전자서명</a:t>
            </a:r>
          </a:p>
        </p:txBody>
      </p:sp>
      <p:sp>
        <p:nvSpPr>
          <p:cNvPr id="1049" name="Rectangle 1048"/>
          <p:cNvSpPr/>
          <p:nvPr/>
        </p:nvSpPr>
        <p:spPr>
          <a:xfrm>
            <a:off x="360000" y="5166000"/>
            <a:ext cx="11340000" cy="288000"/>
          </a:xfrm>
          <a:prstGeom prst="rect">
            <a:avLst/>
          </a:prstGeom>
          <a:solidFill>
            <a:srgbClr val="1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TextBox 1049"/>
          <p:cNvSpPr txBox="1"/>
          <p:nvPr/>
        </p:nvSpPr>
        <p:spPr>
          <a:xfrm>
            <a:off x="396000" y="5202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1296000" y="5202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P0 Core 1차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096000" y="5202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6.22~6.26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5076000" y="5202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코어 루프 기능 빌드</a:t>
            </a:r>
          </a:p>
        </p:txBody>
      </p:sp>
      <p:sp>
        <p:nvSpPr>
          <p:cNvPr id="1054" name="Rectangle 1053"/>
          <p:cNvSpPr/>
          <p:nvPr/>
        </p:nvSpPr>
        <p:spPr>
          <a:xfrm>
            <a:off x="360000" y="5472000"/>
            <a:ext cx="11340000" cy="28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TextBox 1054"/>
          <p:cNvSpPr txBox="1"/>
          <p:nvPr/>
        </p:nvSpPr>
        <p:spPr>
          <a:xfrm>
            <a:off x="396000" y="5508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1296000" y="5508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정산 루프 통합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3096000" y="5508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6.29~7.3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5076000" y="5508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에셋 적용 빌드 + 통합점검</a:t>
            </a:r>
          </a:p>
        </p:txBody>
      </p:sp>
      <p:sp>
        <p:nvSpPr>
          <p:cNvPr id="1059" name="Rectangle 1058"/>
          <p:cNvSpPr/>
          <p:nvPr/>
        </p:nvSpPr>
        <p:spPr>
          <a:xfrm>
            <a:off x="360000" y="5778000"/>
            <a:ext cx="11340000" cy="288000"/>
          </a:xfrm>
          <a:prstGeom prst="rect">
            <a:avLst/>
          </a:prstGeom>
          <a:solidFill>
            <a:srgbClr val="1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TextBox 1059"/>
          <p:cNvSpPr txBox="1"/>
          <p:nvPr/>
        </p:nvSpPr>
        <p:spPr>
          <a:xfrm>
            <a:off x="396000" y="5814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1296000" y="5814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QA 안정화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3096000" y="5814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7.6~7.10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5076000" y="5814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QA 전 항목 통과</a:t>
            </a:r>
          </a:p>
        </p:txBody>
      </p:sp>
      <p:sp>
        <p:nvSpPr>
          <p:cNvPr id="1064" name="Rectangle 1063"/>
          <p:cNvSpPr/>
          <p:nvPr/>
        </p:nvSpPr>
        <p:spPr>
          <a:xfrm>
            <a:off x="360000" y="6084000"/>
            <a:ext cx="11340000" cy="288000"/>
          </a:xfrm>
          <a:prstGeom prst="rect">
            <a:avLst/>
          </a:prstGeom>
          <a:solidFill>
            <a:srgbClr val="1E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5" name="TextBox 1064"/>
          <p:cNvSpPr txBox="1"/>
          <p:nvPr/>
        </p:nvSpPr>
        <p:spPr>
          <a:xfrm>
            <a:off x="396000" y="6120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296000" y="6120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리소스 적용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3096000" y="6120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7.13~7.17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5076000" y="6120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P0.5 기능 동결 (7.18)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360000" y="6390000"/>
            <a:ext cx="11340000" cy="288000"/>
          </a:xfrm>
          <a:prstGeom prst="rect">
            <a:avLst/>
          </a:prstGeom>
          <a:solidFill>
            <a:srgbClr val="1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TextBox 1069"/>
          <p:cNvSpPr txBox="1"/>
          <p:nvPr/>
        </p:nvSpPr>
        <p:spPr>
          <a:xfrm>
            <a:off x="396000" y="6426000"/>
            <a:ext cx="7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296000" y="6426000"/>
            <a:ext cx="162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발표 빌드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3096000" y="6426000"/>
            <a:ext cx="1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7.20~7.28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5076000" y="6426000"/>
            <a:ext cx="23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리허설 + 최종 발표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p45" descr="/mnt/data/lucid_assets_opt/lobby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4117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4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피드백 요청 항목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1" name="Google Shape;1051;p4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퍼블리셔/코치 관점에서 검토받을 질문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2" name="Google Shape;1052;p4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45"/>
          <p:cNvSpPr/>
          <p:nvPr/>
        </p:nvSpPr>
        <p:spPr>
          <a:xfrm>
            <a:off x="914400" y="1463040"/>
            <a:ext cx="10287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플레이어가 다이버를 구해야 하는 서사적 동기가 설득력 있는가?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익스트랙션 구조가 처음 보는 사람도 이해할 수 있게 설명되었는가?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기억 파편 → 동조율 → 구원 루프가 보상으로 매력적인가?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P0에서 보여줄 범위가 적절한가? 반대로 줄여야 할 기능은 무엇인가?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트레일러에서 가장 먼저 보여줘야 할 장면은 무엇인가?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4" name="Google Shape;1054;p45"/>
          <p:cNvSpPr/>
          <p:nvPr/>
        </p:nvSpPr>
        <p:spPr>
          <a:xfrm>
            <a:off x="1188720" y="5349240"/>
            <a:ext cx="9829800" cy="749808"/>
          </a:xfrm>
          <a:prstGeom prst="roundRect">
            <a:avLst>
              <a:gd name="adj" fmla="val 9756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9B5C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45"/>
          <p:cNvSpPr/>
          <p:nvPr/>
        </p:nvSpPr>
        <p:spPr>
          <a:xfrm>
            <a:off x="1389888" y="5513832"/>
            <a:ext cx="942746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질문은 “많이 만들 수 있는가”가 아니라,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lang="en-US" sz="17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“이 루프가 유저에게 반복 출격의 이유를 주는가”에 집중한다.</a:t>
            </a:r>
            <a:endParaRPr sz="17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6" name="Google Shape;1056;p4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7" name="Google Shape;1057;p4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45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46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45098"/>
            </a:srgbClr>
          </a:solidFill>
          <a:ln w="12700" cap="flat" cmpd="sng">
            <a:solidFill>
              <a:srgbClr val="05070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4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Team REMnants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6" name="Google Shape;1066;p4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lang="en-US" sz="95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REM 수면의 잔재, 꿈에 남겨진 기억을 회수하는 팀</a:t>
            </a:r>
            <a:endParaRPr sz="9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7" name="Google Shape;1067;p4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w="12700" cap="flat" cmpd="sng">
            <a:solidFill>
              <a:srgbClr val="F2418D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46"/>
          <p:cNvSpPr/>
          <p:nvPr/>
        </p:nvSpPr>
        <p:spPr>
          <a:xfrm>
            <a:off x="1325880" y="1874520"/>
            <a:ext cx="9509760" cy="914400"/>
          </a:xfrm>
          <a:prstGeom prst="roundRect">
            <a:avLst>
              <a:gd name="adj" fmla="val 8000"/>
            </a:avLst>
          </a:prstGeom>
          <a:solidFill>
            <a:srgbClr val="0D1020">
              <a:alpha val="94901"/>
            </a:srgbClr>
          </a:solidFill>
          <a:ln w="12700" cap="flat" cmpd="sng">
            <a:solidFill>
              <a:srgbClr val="44D7FF">
                <a:alpha val="7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6"/>
          <p:cNvSpPr/>
          <p:nvPr/>
        </p:nvSpPr>
        <p:spPr>
          <a:xfrm>
            <a:off x="1527048" y="2039112"/>
            <a:ext cx="9107424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200"/>
              <a:buFont typeface="Noto Sans"/>
              <a:buNone/>
            </a:pPr>
            <a:r>
              <a:rPr lang="en-US" sz="2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REM = 꿈 수면 단계</a:t>
            </a:r>
            <a:endParaRPr sz="2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200"/>
              <a:buFont typeface="Noto Sans"/>
              <a:buNone/>
            </a:pPr>
            <a:r>
              <a:rPr lang="en-US" sz="22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Remnants = 잔재, 남은 것들</a:t>
            </a:r>
            <a:endParaRPr sz="22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0" name="Google Shape;1070;p46"/>
          <p:cNvSpPr/>
          <p:nvPr/>
        </p:nvSpPr>
        <p:spPr>
          <a:xfrm>
            <a:off x="1828800" y="370332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프로젝트와 팀 이름이 동일한 감정축을 공유한다.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600"/>
              <a:buFont typeface="Noto Sans"/>
              <a:buNone/>
            </a:pPr>
            <a:r>
              <a:rPr lang="en-US" sz="16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남겨진 기억의 잔재를 회수하는 사람들.</a:t>
            </a:r>
            <a:endParaRPr sz="16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1" name="Google Shape;1071;p4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2" name="Google Shape;1072;p4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46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47" descr="/mnt/data/lucid_assets_opt/main.jpg"/>
          <p:cNvPicPr preferRelativeResize="0"/>
          <p:nvPr/>
        </p:nvPicPr>
        <p:blipFill rotWithShape="1">
          <a:blip r:embed="rId3">
            <a:alphaModFix/>
          </a:blip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4901"/>
            </a:srgbClr>
          </a:solidFill>
          <a:ln w="127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7"/>
          <p:cNvSpPr/>
          <p:nvPr/>
        </p:nvSpPr>
        <p:spPr>
          <a:xfrm>
            <a:off x="731520" y="47091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그녀는 당신을 기억하지 못한다.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1" name="Google Shape;1081;p47"/>
          <p:cNvSpPr/>
          <p:nvPr/>
        </p:nvSpPr>
        <p:spPr>
          <a:xfrm>
            <a:off x="731520" y="534924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2400"/>
              <a:buFont typeface="Noto Sans"/>
              <a:buNone/>
            </a:pPr>
            <a:r>
              <a:rPr lang="en-US" sz="2400" b="1" i="0" u="none" strike="noStrike" cap="non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하지만 당신은, 그녀를 다시 구하러 간다.</a:t>
            </a:r>
            <a:endParaRPr sz="24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2" name="Google Shape;1082;p47"/>
          <p:cNvSpPr/>
          <p:nvPr/>
        </p:nvSpPr>
        <p:spPr>
          <a:xfrm>
            <a:off x="731520" y="6144768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00"/>
              <a:buFont typeface="Noto Sans"/>
              <a:buNone/>
            </a:pPr>
            <a:r>
              <a:rPr lang="en-US" sz="1000" b="0" i="0" u="none" strike="noStrike" cap="non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Team REMnants</a:t>
            </a:r>
            <a:endParaRPr sz="100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3" name="Google Shape;1083;p4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lang="en-US" sz="58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v1.3</a:t>
            </a:r>
            <a:endParaRPr sz="58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4" name="Google Shape;1084;p4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lang="en-US" sz="650" b="0" i="0" u="none" strike="noStrike" cap="non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47</a:t>
            </a:r>
            <a:endParaRPr sz="650" b="0" i="0" u="none" strike="noStrike" cap="non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3053</Words>
  <Application>Microsoft Office PowerPoint</Application>
  <PresentationFormat>와이드스크린</PresentationFormat>
  <Paragraphs>694</Paragraphs>
  <Slides>50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3" baseType="lpstr">
      <vt:lpstr>Arial</vt:lpstr>
      <vt:lpstr>Noto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lastModifiedBy>수영 장</cp:lastModifiedBy>
  <cp:revision>1</cp:revision>
  <dcterms:created xsi:type="dcterms:W3CDTF">2026-06-19T11:20:05Z</dcterms:created>
  <dcterms:modified xsi:type="dcterms:W3CDTF">2026-06-19T12:19:42Z</dcterms:modified>
</cp:coreProperties>
</file>