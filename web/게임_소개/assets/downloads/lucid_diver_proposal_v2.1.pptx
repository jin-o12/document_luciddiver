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3" d="100"/>
          <a:sy n="163" d="100"/>
        </p:scale>
        <p:origin x="1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17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10.jpg"/><Relationship Id="rId4" Type="http://schemas.openxmlformats.org/officeDocument/2006/relationships/image" Target="../media/image5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main_existing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577840" cy="64008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868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30352" y="169164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7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Lucid Divers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6928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</a:t>
            </a:r>
            <a:r>
              <a:rPr lang="en-US" sz="13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제안서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0352" y="4754880"/>
            <a:ext cx="4800600" cy="1143000"/>
          </a:xfrm>
          <a:prstGeom prst="roundRect">
            <a:avLst>
              <a:gd name="adj" fmla="val 48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4937760"/>
            <a:ext cx="0" cy="77724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4956048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익스트랙션으로 되찾는 기억,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인간으로 돌아오는 다이버들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0392" y="55778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REMnants · 2026.06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city_new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0 · FIRST IMPRESSION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피치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572768"/>
            <a:ext cx="7680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꿈에 침식된 도시에서 다이버의 기억을 회수하고,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그들이 괴이로 변질되기 전에 현실로 되돌리는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서브컬처 PvE 익스트랙션 액션 RPG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406908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101426">
              <a:alpha val="92000"/>
            </a:srgbClr>
          </a:solidFill>
          <a:ln w="15240">
            <a:solidFill>
              <a:srgbClr val="32D7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1650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PvE 익스트랙션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54680" y="406908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101426">
              <a:alpha val="92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41650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캐릭터 구원 서사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06440" y="40690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101426">
              <a:alpha val="92000"/>
            </a:srgbClr>
          </a:solidFill>
          <a:ln w="15240">
            <a:solidFill>
              <a:srgbClr val="B7FF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41650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FFD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회수형 애착 보상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control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다이버는 잊는다.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594360" y="2057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관제사는 기록한다.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594360" y="29260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그리고 다시, 구하러 들어간다.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640080" y="3886200"/>
            <a:ext cx="5029200" cy="0"/>
          </a:xfrm>
          <a:prstGeom prst="line">
            <a:avLst/>
          </a:prstGeom>
          <a:noFill/>
          <a:ln w="25400">
            <a:solidFill>
              <a:srgbClr val="8B5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2519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플레이어의 목적은 파밍이 아니라, 잊힌 귀환 신호를 다시 붙잡는 것이다.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SUMMARY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요약</a:t>
            </a:r>
            <a:endParaRPr lang="en-US" sz="3400" dirty="0"/>
          </a:p>
        </p:txBody>
      </p:sp>
      <p:pic>
        <p:nvPicPr>
          <p:cNvPr id="4" name="Image 0" descr="/mnt/data/lucid_v21_assets/main_existing.jpg"/>
          <p:cNvPicPr>
            <a:picLocks noChangeAspect="1"/>
          </p:cNvPicPr>
          <p:nvPr/>
        </p:nvPicPr>
        <p:blipFill>
          <a:blip r:embed="rId3"/>
          <a:srcRect l="446" r="446"/>
          <a:stretch/>
        </p:blipFill>
        <p:spPr>
          <a:xfrm>
            <a:off x="6629400" y="502920"/>
            <a:ext cx="507492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502920"/>
            <a:ext cx="5074920" cy="288036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3429000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감성 / 메인 키비주얼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2788920" cy="676656"/>
          </a:xfrm>
          <a:prstGeom prst="rect">
            <a:avLst/>
          </a:prstGeom>
          <a:solidFill>
            <a:srgbClr val="8B5CFF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49961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29000" y="1417320"/>
            <a:ext cx="2788920" cy="676656"/>
          </a:xfrm>
          <a:prstGeom prst="rect">
            <a:avLst/>
          </a:prstGeom>
          <a:solidFill>
            <a:srgbClr val="171A2E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149961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093976"/>
            <a:ext cx="2788920" cy="676656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167128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장르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29000" y="2093976"/>
            <a:ext cx="2788920" cy="676656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2152" y="2167128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2.5D 탑다운 PvE 익스트랙션 액션 + 서브컬처 캐릭터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2770632"/>
            <a:ext cx="2788920" cy="676656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2843784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29000" y="2770632"/>
            <a:ext cx="2788920" cy="676656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02152" y="2843784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프로토타입 / Unity 기반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3447288"/>
            <a:ext cx="2788920" cy="676656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520440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검증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429000" y="3447288"/>
            <a:ext cx="2788920" cy="676656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02152" y="3520440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익스트랙션 보상이 캐릭터 구원 보상으로 전환되는가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123944"/>
            <a:ext cx="2788920" cy="676656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4197096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범위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29000" y="4123944"/>
            <a:ext cx="2788920" cy="676656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02152" y="4197096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 1명 · 단일 세션 · 결과 정산 · 로비 복귀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629400" y="37033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75704" y="3886200"/>
            <a:ext cx="0" cy="68580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9440" y="3904488"/>
            <a:ext cx="4572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P0는 완성형 게임이 아니라,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“핵심 루프가 작동하는지”를 증명하는 버티컬 슬라이스다.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city_new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세계관과 플레이어 목적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303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침몽도시란 무엇인가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1170432"/>
            <a:ext cx="7040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실패한 귀환과 잃어버린 기억을 반복 재생하는 꿈의 재난 구역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1965960"/>
            <a:ext cx="4480560" cy="3017520"/>
          </a:xfrm>
          <a:prstGeom prst="roundRect">
            <a:avLst>
              <a:gd name="adj" fmla="val 1818"/>
            </a:avLst>
          </a:prstGeom>
          <a:solidFill>
            <a:srgbClr val="080A14">
              <a:alpha val="91000"/>
            </a:srgbClr>
          </a:solidFill>
          <a:ln w="1270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240280"/>
            <a:ext cx="40233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현실과 꿈이 겹쳐진 도시 구역</a:t>
            </a:r>
            <a:endParaRPr lang="en-US" sz="1600" dirty="0"/>
          </a:p>
          <a:p>
            <a:r>
              <a:rPr lang="en-US" sz="16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현실 무기는 무력화, 꿈속 무장만 유효</a:t>
            </a:r>
            <a:endParaRPr lang="en-US" sz="1600" dirty="0"/>
          </a:p>
          <a:p>
            <a:r>
              <a:rPr lang="en-US" sz="16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탈출 실패 시 강제 각성</a:t>
            </a:r>
            <a:endParaRPr lang="en-US" sz="1600" dirty="0"/>
          </a:p>
          <a:p>
            <a:r>
              <a:rPr lang="en-US" sz="16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반복 실패 시 기억과 자아 손상</a:t>
            </a:r>
            <a:endParaRPr lang="en-US" sz="1600" dirty="0"/>
          </a:p>
          <a:p>
            <a:r>
              <a:rPr lang="en-US" sz="16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구조받지 못한 다이버는 괴이로 변질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corrupt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WORLD SETTING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다이버란 무엇인가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58368" y="1271016"/>
            <a:ext cx="5669280" cy="1490474"/>
          </a:xfrm>
          <a:prstGeom prst="roundRect">
            <a:avLst>
              <a:gd name="adj" fmla="val 48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691640"/>
            <a:ext cx="0" cy="77724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8408" y="1709928"/>
            <a:ext cx="5303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다이버는 꿈속 무장을 사용할 수 있는 생존자이지만,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동시에 침몽도시에 삼켜질 위험이 가장 큰 사람들이다.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58368" y="3114822"/>
            <a:ext cx="5669280" cy="1627864"/>
          </a:xfrm>
          <a:prstGeom prst="roundRect">
            <a:avLst>
              <a:gd name="adj" fmla="val 2857"/>
            </a:avLst>
          </a:prstGeom>
          <a:solidFill>
            <a:srgbClr val="14080D">
              <a:alpha val="90000"/>
            </a:srgbClr>
          </a:solidFill>
          <a:ln w="12700">
            <a:solidFill>
              <a:srgbClr val="FF4F6D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493008"/>
            <a:ext cx="5166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구조하지 못한 다이버는 기억과 자아를 잃고,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끝내 침몽도시 안에서 플레이어를 위협하는 괴이로 변질된다.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control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PLAYER ROLE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관제사는 누구인가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1143000"/>
            <a:ext cx="6400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REMnants 소속 링크 관제사 · 귀환 신호를 붙잡는 사람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06040" y="3840480"/>
            <a:ext cx="914400" cy="0"/>
          </a:xfrm>
          <a:prstGeom prst="line">
            <a:avLst/>
          </a:prstGeom>
          <a:noFill/>
          <a:ln w="2286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532120" y="3840480"/>
            <a:ext cx="914400" cy="0"/>
          </a:xfrm>
          <a:prstGeom prst="line">
            <a:avLst/>
          </a:prstGeom>
          <a:noFill/>
          <a:ln w="2286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77724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324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귀환 신호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감지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70332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324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로그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2940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324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유지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77240" y="4892040"/>
            <a:ext cx="7772400" cy="822960"/>
          </a:xfrm>
          <a:prstGeom prst="roundRect">
            <a:avLst>
              <a:gd name="adj" fmla="val 6667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3544" y="5074920"/>
            <a:ext cx="0" cy="45720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5093208"/>
            <a:ext cx="7269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다이버가 잊어버린 실패와 구조의 기록을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유일하게 기억하는 사람.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log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THE PLAYER MUST ACT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관제사의 책임은 어디서 오는가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76072" y="1115568"/>
            <a:ext cx="8503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착해서 구하는 것이 아니라, 외면하면 사라지는 신호를 유일하게 들을 수 있기 때문이다.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80360" y="3429000"/>
            <a:ext cx="228600" cy="0"/>
          </a:xfrm>
          <a:prstGeom prst="line">
            <a:avLst/>
          </a:prstGeom>
          <a:noFill/>
          <a:ln w="2032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349240" y="3429000"/>
            <a:ext cx="228600" cy="0"/>
          </a:xfrm>
          <a:prstGeom prst="line">
            <a:avLst/>
          </a:prstGeom>
          <a:noFill/>
          <a:ln w="2032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818120" y="3429000"/>
            <a:ext cx="228600" cy="0"/>
          </a:xfrm>
          <a:prstGeom prst="line">
            <a:avLst/>
          </a:prstGeom>
          <a:noFill/>
          <a:ln w="2032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685800" y="283464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다이버는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실패를 잊는다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54680" y="283464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4F6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기억을 삼킨다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23560" y="283464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 로그만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남는다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92440" y="283464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들어간다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480060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60704" y="4983480"/>
            <a:ext cx="0" cy="36576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5001768"/>
            <a:ext cx="6355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다이버들이 사라지는 순간을 들었고,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기록을 가진 유일한 사람.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CHARACTER ACQUISITION REFRAMED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다이버를 모집해야 하는가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 유닛 획득이 아니라, 침몽도시에 남겨진 귀환 신호를 발견하는 구조</a:t>
            </a:r>
            <a:endParaRPr lang="en-US" sz="1500" dirty="0"/>
          </a:p>
        </p:txBody>
      </p:sp>
      <p:pic>
        <p:nvPicPr>
          <p:cNvPr id="5" name="Image 0" descr="/mnt/data/lucid_v21_assets/corrupt.jpg"/>
          <p:cNvPicPr>
            <a:picLocks noChangeAspect="1"/>
          </p:cNvPicPr>
          <p:nvPr/>
        </p:nvPicPr>
        <p:blipFill>
          <a:blip r:embed="rId3"/>
          <a:srcRect l="37" r="37"/>
          <a:stretch/>
        </p:blipFill>
        <p:spPr>
          <a:xfrm>
            <a:off x="7726680" y="914400"/>
            <a:ext cx="3977640" cy="2240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914400"/>
            <a:ext cx="397764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26680" y="32004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실패 시 괴이 변질</a:t>
            </a:r>
            <a:endParaRPr lang="en-US" sz="830" dirty="0"/>
          </a:p>
        </p:txBody>
      </p:sp>
      <p:sp>
        <p:nvSpPr>
          <p:cNvPr id="8" name="Shape 5"/>
          <p:cNvSpPr/>
          <p:nvPr/>
        </p:nvSpPr>
        <p:spPr>
          <a:xfrm>
            <a:off x="685800" y="1828800"/>
            <a:ext cx="3268980" cy="713232"/>
          </a:xfrm>
          <a:prstGeom prst="rect">
            <a:avLst/>
          </a:prstGeom>
          <a:solidFill>
            <a:srgbClr val="4B5170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11096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수집형 게임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3954780" y="1828800"/>
            <a:ext cx="3268980" cy="713232"/>
          </a:xfrm>
          <a:prstGeom prst="rect">
            <a:avLst/>
          </a:prstGeom>
          <a:solidFill>
            <a:srgbClr val="8B5CFF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0" y="1911096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루시드 다이버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685800" y="2542032"/>
            <a:ext cx="3268980" cy="71323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15184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캐릭터를 획득한다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3954780" y="2542032"/>
            <a:ext cx="3268980" cy="71323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7932" y="2615184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귀환 신호를 발견한다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685800" y="3255264"/>
            <a:ext cx="3268980" cy="71323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328416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전투력을 강화한다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3954780" y="3255264"/>
            <a:ext cx="3268980" cy="71323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27932" y="3328416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자아 붕괴를 막는다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685800" y="3968496"/>
            <a:ext cx="3268980" cy="71323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" y="4041648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호감도를 올린다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3954780" y="3968496"/>
            <a:ext cx="3268980" cy="71323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7932" y="4041648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잃어버린 기억을 복구한다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685800" y="4681728"/>
            <a:ext cx="3268980" cy="71323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" y="4754880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스토리를 해금한다</a:t>
            </a:r>
            <a:endParaRPr lang="en-US" sz="1320" dirty="0"/>
          </a:p>
        </p:txBody>
      </p:sp>
      <p:sp>
        <p:nvSpPr>
          <p:cNvPr id="26" name="Shape 23"/>
          <p:cNvSpPr/>
          <p:nvPr/>
        </p:nvSpPr>
        <p:spPr>
          <a:xfrm>
            <a:off x="3954780" y="4681728"/>
            <a:ext cx="3268980" cy="71323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27932" y="4754880"/>
            <a:ext cx="3122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구원의 과정을 확인한다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7726680" y="3493009"/>
            <a:ext cx="3977640" cy="1527047"/>
          </a:xfrm>
          <a:prstGeom prst="roundRect">
            <a:avLst>
              <a:gd name="adj" fmla="val 48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FFDA">
                <a:alpha val="8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72984" y="3886200"/>
            <a:ext cx="0" cy="777240"/>
          </a:xfrm>
          <a:prstGeom prst="line">
            <a:avLst/>
          </a:prstGeom>
          <a:noFill/>
          <a:ln w="29210">
            <a:solidFill>
              <a:srgbClr val="B7FF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46720" y="3904488"/>
            <a:ext cx="3474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모집은 “강한 캐릭터를 얻는 행위”가 아니라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“아직 완전히 삼켜지지 않은 사람에게 링크를 거는 행위”다.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phone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WE DIVE AGAIN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다시 출격해야 하는가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1115568"/>
            <a:ext cx="8869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출격은 파밍이 아니라, 실패한 귀환 로그를 따라 들어가 기억을 회수하는 구조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691640" y="3749040"/>
            <a:ext cx="731520" cy="0"/>
          </a:xfrm>
          <a:prstGeom prst="line">
            <a:avLst/>
          </a:prstGeom>
          <a:noFill/>
          <a:ln w="2159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23360" y="3749040"/>
            <a:ext cx="731520" cy="0"/>
          </a:xfrm>
          <a:prstGeom prst="line">
            <a:avLst/>
          </a:prstGeom>
          <a:noFill/>
          <a:ln w="2159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355080" y="3749040"/>
            <a:ext cx="731520" cy="0"/>
          </a:xfrm>
          <a:prstGeom prst="line">
            <a:avLst/>
          </a:prstGeom>
          <a:noFill/>
          <a:ln w="2159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94360" y="306324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귀환 신호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발견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26080" y="306324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회수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57800" y="306324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동조율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상승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89520" y="306324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구원에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가까워짐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5020057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FF4F6D">
                <a:alpha val="8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" y="5257800"/>
            <a:ext cx="0" cy="502920"/>
          </a:xfrm>
          <a:prstGeom prst="line">
            <a:avLst/>
          </a:prstGeom>
          <a:noFill/>
          <a:ln w="29210">
            <a:solidFill>
              <a:srgbClr val="FF4F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5276088"/>
            <a:ext cx="7178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실패하면 아이템만 잃는 것이 아니라,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이번에 되찾을 수 있었던 기억이 다시 꿈속으로 가라앉는다.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LINK SYNCHRONIZATION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동조율의 의미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호감도가 아니라, 관제사와 다이버 사이의 귀환 링크 안정도</a:t>
            </a:r>
            <a:endParaRPr lang="en-US" sz="1500" dirty="0"/>
          </a:p>
        </p:txBody>
      </p:sp>
      <p:pic>
        <p:nvPicPr>
          <p:cNvPr id="5" name="Image 0" descr="/mnt/data/lucid_v21_assets/control.jpg"/>
          <p:cNvPicPr>
            <a:picLocks noChangeAspect="1"/>
          </p:cNvPicPr>
          <p:nvPr/>
        </p:nvPicPr>
        <p:blipFill>
          <a:blip r:embed="rId3"/>
          <a:srcRect l="1619" r="1619"/>
          <a:stretch/>
        </p:blipFill>
        <p:spPr>
          <a:xfrm>
            <a:off x="6995160" y="731520"/>
            <a:ext cx="448056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731520"/>
            <a:ext cx="4480560" cy="260604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338328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 신호 / 링크 안정화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4B517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Lv.0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48839" y="2084832"/>
            <a:ext cx="44805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 err="1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</a:t>
            </a:r>
            <a:r>
              <a:rPr lang="ko-KR" altLang="en-US" sz="15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 자신에게 어떤 존재였는지 모름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353312" y="2542032"/>
            <a:ext cx="0" cy="246888"/>
          </a:xfrm>
          <a:prstGeom prst="line">
            <a:avLst/>
          </a:prstGeom>
          <a:noFill/>
          <a:ln w="1524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77240" y="278892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파편 회수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48840" y="2862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 err="1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설명할</a:t>
            </a:r>
            <a:r>
              <a:rPr lang="en-US" sz="15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수 없는 기시감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353312" y="3319272"/>
            <a:ext cx="0" cy="246888"/>
          </a:xfrm>
          <a:prstGeom prst="line">
            <a:avLst/>
          </a:prstGeom>
          <a:noFill/>
          <a:ln w="1524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777240" y="356616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Lv.1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48840" y="3639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심상 기록 01 복구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1353312" y="4096512"/>
            <a:ext cx="0" cy="246888"/>
          </a:xfrm>
          <a:prstGeom prst="line">
            <a:avLst/>
          </a:prstGeom>
          <a:noFill/>
          <a:ln w="1524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77240" y="43434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72A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 확장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48840" y="4416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괴이 변질 운명에서 한 걸음 벗어남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메인 다이버 채린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4663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최초로 불완전 귀환에 성공한 다이버</a:t>
            </a:r>
            <a:endParaRPr lang="en-US" sz="1600" dirty="0"/>
          </a:p>
        </p:txBody>
      </p:sp>
      <p:pic>
        <p:nvPicPr>
          <p:cNvPr id="5" name="Image 0" descr="/mnt/data/lucid_v21_assets/chaeri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320040"/>
            <a:ext cx="4251960" cy="5669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320040"/>
            <a:ext cx="4251960" cy="566928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603504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메인 다이버 컨셉 비주얼</a:t>
            </a:r>
            <a:endParaRPr lang="en-US" sz="830" dirty="0"/>
          </a:p>
        </p:txBody>
      </p:sp>
      <p:sp>
        <p:nvSpPr>
          <p:cNvPr id="8" name="Shape 5"/>
          <p:cNvSpPr/>
          <p:nvPr/>
        </p:nvSpPr>
        <p:spPr>
          <a:xfrm>
            <a:off x="685800" y="192024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" y="2103120"/>
            <a:ext cx="0" cy="45720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121408"/>
            <a:ext cx="4800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방어적 불신 · 깨진 안경 렌즈 · 기억 파편 · </a:t>
            </a:r>
            <a:r>
              <a:rPr lang="en-US" sz="2000" b="1" dirty="0" err="1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관제사의</a:t>
            </a: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존재</a:t>
            </a: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 대한 기시감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85800" y="315468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0C0F1D">
              <a:alpha val="90000"/>
            </a:srgbClr>
          </a:solidFill>
          <a:ln w="1270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584448"/>
            <a:ext cx="46634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P0에서는 채린 한 명으로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“구원 루프가 작동하는지”를 증명한다.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log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CHAERIN × LINK CONTROLLER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채린과 관제사의 관계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1508760"/>
            <a:ext cx="5852160" cy="1143000"/>
          </a:xfrm>
          <a:prstGeom prst="roundRect">
            <a:avLst>
              <a:gd name="adj" fmla="val 48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1691640"/>
            <a:ext cx="0" cy="77724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09928"/>
            <a:ext cx="5349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채린은 관제사를 기억하지 못한다.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관제사는 채린의 실패와 귀환을 모두 기억한다.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749040" y="3977640"/>
            <a:ext cx="2834640" cy="0"/>
          </a:xfrm>
          <a:prstGeom prst="line">
            <a:avLst/>
          </a:prstGeom>
          <a:noFill/>
          <a:ln w="2540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868680" y="32461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4080D">
              <a:alpha val="95000"/>
            </a:srgbClr>
          </a:solidFill>
          <a:ln w="15240">
            <a:solidFill>
              <a:srgbClr val="FF4F6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상실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903720" y="32461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귀환 로그 보유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5212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기억하지 못하는 사람과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기록을 놓지 못하는 사람의 관계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 LOG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채린의 </a:t>
            </a:r>
            <a:r>
              <a:rPr lang="en-US" sz="3400" b="1" dirty="0" err="1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귀환</a:t>
            </a: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400" b="1" dirty="0" err="1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</a:t>
            </a: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</a:t>
            </a:r>
            <a:r>
              <a:rPr lang="ko-KR" alt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r>
              <a:rPr lang="en-US" altLang="ko-KR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3400" dirty="0"/>
          </a:p>
        </p:txBody>
      </p:sp>
      <p:pic>
        <p:nvPicPr>
          <p:cNvPr id="4" name="Image 0" descr="/mnt/data/lucid_v21_assets/log.jpg"/>
          <p:cNvPicPr>
            <a:picLocks noChangeAspect="1"/>
          </p:cNvPicPr>
          <p:nvPr/>
        </p:nvPicPr>
        <p:blipFill>
          <a:blip r:embed="rId3"/>
          <a:srcRect l="214" r="214"/>
          <a:stretch/>
        </p:blipFill>
        <p:spPr>
          <a:xfrm>
            <a:off x="6309360" y="594360"/>
            <a:ext cx="525780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594360"/>
            <a:ext cx="5257800" cy="29718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09360" y="361188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깨진 관제 로그 / 잔류 파장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777240" y="160020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01426">
              <a:alpha val="95000"/>
            </a:srgbClr>
          </a:solidFill>
          <a:ln w="1270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7465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대상 귀환 시도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51960" y="16824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17회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228600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01426">
              <a:alpha val="95000"/>
            </a:srgbClr>
          </a:solidFill>
          <a:ln w="1270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4323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각성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251960" y="23682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16회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" y="297180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02017">
              <a:alpha val="95000"/>
            </a:srgbClr>
          </a:solidFill>
          <a:ln w="12700">
            <a:solidFill>
              <a:srgbClr val="B7FFDA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3118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귀환 성공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251960" y="30540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7FFD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77240" y="365760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01426">
              <a:alpha val="95000"/>
            </a:srgbClr>
          </a:solidFill>
          <a:ln w="1270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8039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 링크 유지자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251960" y="37398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77240" y="470916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3544" y="4892040"/>
            <a:ext cx="0" cy="45720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4910328"/>
            <a:ext cx="4251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채린은 기억하지 못한다.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관제 로그는 남아 있다.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EMOTIONAL PROGRESSION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채린의 감정 변화</a:t>
            </a:r>
            <a:endParaRPr lang="en-US" sz="3400" dirty="0"/>
          </a:p>
        </p:txBody>
      </p:sp>
      <p:pic>
        <p:nvPicPr>
          <p:cNvPr id="4" name="Image 0" descr="/mnt/data/lucid_v21_assets/chaerin.jpg"/>
          <p:cNvPicPr>
            <a:picLocks noChangeAspect="1"/>
          </p:cNvPicPr>
          <p:nvPr/>
        </p:nvPicPr>
        <p:blipFill>
          <a:blip r:embed="rId3"/>
          <a:srcRect l="10580" r="10580"/>
          <a:stretch/>
        </p:blipFill>
        <p:spPr>
          <a:xfrm>
            <a:off x="7589520" y="594360"/>
            <a:ext cx="310896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594360"/>
            <a:ext cx="3108960" cy="52578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58978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P0는 Lv.1 변화까지만 구현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658368" y="1508760"/>
            <a:ext cx="3200400" cy="795528"/>
          </a:xfrm>
          <a:prstGeom prst="rect">
            <a:avLst/>
          </a:prstGeom>
          <a:solidFill>
            <a:srgbClr val="8B5CFF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59105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endParaRPr lang="en-US" sz="1330" dirty="0"/>
          </a:p>
        </p:txBody>
      </p:sp>
      <p:sp>
        <p:nvSpPr>
          <p:cNvPr id="9" name="Shape 6"/>
          <p:cNvSpPr/>
          <p:nvPr/>
        </p:nvSpPr>
        <p:spPr>
          <a:xfrm>
            <a:off x="3858768" y="1508760"/>
            <a:ext cx="3200400" cy="795528"/>
          </a:xfrm>
          <a:prstGeom prst="rect">
            <a:avLst/>
          </a:prstGeom>
          <a:solidFill>
            <a:srgbClr val="171A2E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04488" y="159105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채린의 반응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3200400" cy="795528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377440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최초 링크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3858768" y="2304288"/>
            <a:ext cx="3200400" cy="795528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2377440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“너를 믿으라고? 내가 기억도 못 하는 사람을?”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3099816"/>
            <a:ext cx="3200400" cy="795528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17296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 회수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3858768" y="3099816"/>
            <a:ext cx="3200400" cy="795528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0" y="317296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조각… 왜 이렇게 익숙하지?”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658368" y="3895344"/>
            <a:ext cx="3200400" cy="795528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968496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동조율 상승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3858768" y="3895344"/>
            <a:ext cx="3200400" cy="795528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0" y="3968496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“네 목소리, 처음 듣는 게 아닌 것 같아.”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658368" y="4690872"/>
            <a:ext cx="3200400" cy="795528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764024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 해금</a:t>
            </a:r>
            <a:endParaRPr lang="en-US" sz="1230" dirty="0"/>
          </a:p>
        </p:txBody>
      </p:sp>
      <p:sp>
        <p:nvSpPr>
          <p:cNvPr id="25" name="Shape 22"/>
          <p:cNvSpPr/>
          <p:nvPr/>
        </p:nvSpPr>
        <p:spPr>
          <a:xfrm>
            <a:off x="3858768" y="4690872"/>
            <a:ext cx="3200400" cy="795528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31920" y="4764024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“기억났어. 너, 그때도 거기 있었지.”</a:t>
            </a:r>
            <a:endParaRPr lang="en-US" sz="1230" dirty="0"/>
          </a:p>
        </p:txBody>
      </p:sp>
      <p:sp>
        <p:nvSpPr>
          <p:cNvPr id="27" name="Shape 2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successBG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 SALVATION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구원된 다이버가 다시 다이브하는 이유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85800" y="1600200"/>
            <a:ext cx="7132320" cy="1234440"/>
          </a:xfrm>
          <a:prstGeom prst="roundRect">
            <a:avLst>
              <a:gd name="adj" fmla="val 4444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FFDA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1783080"/>
            <a:ext cx="0" cy="868680"/>
          </a:xfrm>
          <a:prstGeom prst="line">
            <a:avLst/>
          </a:prstGeom>
          <a:noFill/>
          <a:ln w="29210">
            <a:solidFill>
              <a:srgbClr val="B7F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851660"/>
            <a:ext cx="6629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구원된 다이버는 관제사의 명령을 따르는 것이 </a:t>
            </a:r>
            <a:r>
              <a:rPr lang="en-US" sz="2000" b="1" dirty="0" err="1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아니라</a:t>
            </a: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자신이 구조받았기 때문에 다른 사람을 구조하러 다시 들어간다.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600200" y="4389120"/>
            <a:ext cx="640080" cy="0"/>
          </a:xfrm>
          <a:prstGeom prst="line">
            <a:avLst/>
          </a:prstGeom>
          <a:noFill/>
          <a:ln w="21590">
            <a:solidFill>
              <a:srgbClr val="B7FFDA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886200" y="4389120"/>
            <a:ext cx="640080" cy="0"/>
          </a:xfrm>
          <a:prstGeom prst="line">
            <a:avLst/>
          </a:prstGeom>
          <a:noFill/>
          <a:ln w="21590">
            <a:solidFill>
              <a:srgbClr val="B7FFDA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172200" y="4389120"/>
            <a:ext cx="640080" cy="0"/>
          </a:xfrm>
          <a:prstGeom prst="line">
            <a:avLst/>
          </a:prstGeom>
          <a:noFill/>
          <a:ln w="21590">
            <a:solidFill>
              <a:srgbClr val="B7FFDA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685800" y="38404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구조받음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71800" y="38404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공포를 기억함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57800" y="38404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신호를 감지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43800" y="38404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다이브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phone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익스트랙션 장르 설명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익스트랙션 장르란 무엇인가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1115568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구역에 진입해 자원을 회수하고, 탈출에 성공하면 보존하며 실패하면 잃는 구조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34440" y="3703320"/>
            <a:ext cx="548640" cy="0"/>
          </a:xfrm>
          <a:prstGeom prst="line">
            <a:avLst/>
          </a:prstGeom>
          <a:noFill/>
          <a:ln w="1778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971800" y="3703320"/>
            <a:ext cx="548640" cy="0"/>
          </a:xfrm>
          <a:prstGeom prst="line">
            <a:avLst/>
          </a:prstGeom>
          <a:noFill/>
          <a:ln w="1778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709160" y="3703320"/>
            <a:ext cx="548640" cy="0"/>
          </a:xfrm>
          <a:prstGeom prst="line">
            <a:avLst/>
          </a:prstGeom>
          <a:noFill/>
          <a:ln w="1778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446520" y="3703320"/>
            <a:ext cx="548640" cy="0"/>
          </a:xfrm>
          <a:prstGeom prst="line">
            <a:avLst/>
          </a:prstGeom>
          <a:noFill/>
          <a:ln w="17780">
            <a:solidFill>
              <a:srgbClr val="FFD18A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183880" y="3703320"/>
            <a:ext cx="548640" cy="0"/>
          </a:xfrm>
          <a:prstGeom prst="line">
            <a:avLst/>
          </a:prstGeom>
          <a:noFill/>
          <a:ln w="17780">
            <a:solidFill>
              <a:srgbClr val="FF4F6D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02920" y="30632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진입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240280" y="30632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 / 탐색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77640" y="30632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파밍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715000" y="30632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판단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52360" y="30632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4F6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보존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 실패 유실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89720" y="30632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출격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GENRE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익스트랙션 보상 구조</a:t>
            </a:r>
            <a:endParaRPr lang="en-US" sz="3400" dirty="0"/>
          </a:p>
        </p:txBody>
      </p:sp>
      <p:pic>
        <p:nvPicPr>
          <p:cNvPr id="4" name="Image 0" descr="/mnt/data/lucid_v21_assets/ingameB.jpg"/>
          <p:cNvPicPr>
            <a:picLocks noChangeAspect="1"/>
          </p:cNvPicPr>
          <p:nvPr/>
        </p:nvPicPr>
        <p:blipFill>
          <a:blip r:embed="rId3"/>
          <a:srcRect t="4541" b="4541"/>
          <a:stretch/>
        </p:blipFill>
        <p:spPr>
          <a:xfrm>
            <a:off x="6949440" y="1051560"/>
            <a:ext cx="4206240" cy="2148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051560"/>
            <a:ext cx="4206240" cy="214884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74520" y="3931920"/>
            <a:ext cx="731520" cy="0"/>
          </a:xfrm>
          <a:prstGeom prst="line">
            <a:avLst/>
          </a:prstGeom>
          <a:noFill/>
          <a:ln w="2032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114800" y="3931920"/>
            <a:ext cx="731520" cy="0"/>
          </a:xfrm>
          <a:prstGeom prst="line">
            <a:avLst/>
          </a:prstGeom>
          <a:noFill/>
          <a:ln w="2032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355080" y="3931920"/>
            <a:ext cx="731520" cy="0"/>
          </a:xfrm>
          <a:prstGeom prst="line">
            <a:avLst/>
          </a:prstGeom>
          <a:noFill/>
          <a:ln w="2032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731520" y="324612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회수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971800" y="324612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장비 강화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0" y="324612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생존 확률 상승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2360" y="324612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깊은 구역 도전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5212080"/>
            <a:ext cx="6583680" cy="685800"/>
          </a:xfrm>
          <a:prstGeom prst="roundRect">
            <a:avLst>
              <a:gd name="adj" fmla="val 80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9264" y="5394960"/>
            <a:ext cx="0" cy="32004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5413248"/>
            <a:ext cx="6080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“가지고 나와야 보존된다”는 성공/실패 긴장감이다.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fragment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LUCID DIVER VARIATION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루시드 다이버식 익스트랙션 변형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777240" y="1508760"/>
            <a:ext cx="3406140" cy="758952"/>
          </a:xfrm>
          <a:prstGeom prst="rect">
            <a:avLst/>
          </a:prstGeom>
          <a:solidFill>
            <a:srgbClr val="4B5170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91056"/>
            <a:ext cx="3314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익스트랙션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83380" y="1508760"/>
            <a:ext cx="3406140" cy="758952"/>
          </a:xfrm>
          <a:prstGeom prst="rect">
            <a:avLst/>
          </a:prstGeom>
          <a:solidFill>
            <a:srgbClr val="8B5CFF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29100" y="1591056"/>
            <a:ext cx="3314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루시드 다이버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2267712"/>
            <a:ext cx="3406140" cy="75895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340864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회수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83380" y="2267712"/>
            <a:ext cx="3406140" cy="75895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56532" y="2340864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회수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3026664"/>
            <a:ext cx="3406140" cy="75895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" y="3099816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장비 강화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83380" y="3026664"/>
            <a:ext cx="3406140" cy="75895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4"/>
          <p:cNvSpPr/>
          <p:nvPr/>
        </p:nvSpPr>
        <p:spPr>
          <a:xfrm>
            <a:off x="4256532" y="3099816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캐릭터 회복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" y="3785616"/>
            <a:ext cx="3406140" cy="75895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" y="3858768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시 재화 유실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83380" y="3785616"/>
            <a:ext cx="3406140" cy="758952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56532" y="3858768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시 기억 유실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" y="4544568"/>
            <a:ext cx="3406140" cy="75895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" y="4617720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출격 준비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183380" y="4544568"/>
            <a:ext cx="3406140" cy="758952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56532" y="4617720"/>
            <a:ext cx="32598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구원 시도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09560" y="2103120"/>
            <a:ext cx="3474720" cy="1280160"/>
          </a:xfrm>
          <a:prstGeom prst="roundRect">
            <a:avLst>
              <a:gd name="adj" fmla="val 428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55864" y="2286000"/>
            <a:ext cx="0" cy="91440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0" y="2354580"/>
            <a:ext cx="2971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회수품이 단순 재화가 아니라,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캐릭터의 기억과 관계 변화로 환산된다.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DUAL REWARD LOOP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이중 보상 루프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6949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하나는 캐릭터를 구하고, 하나는 다음 출격을 준비한다.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2514600"/>
            <a:ext cx="731520" cy="0"/>
          </a:xfrm>
          <a:prstGeom prst="line">
            <a:avLst/>
          </a:prstGeom>
          <a:noFill/>
          <a:ln w="1905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03120" y="4663440"/>
            <a:ext cx="731520" cy="0"/>
          </a:xfrm>
          <a:prstGeom prst="line">
            <a:avLst/>
          </a:prstGeom>
          <a:noFill/>
          <a:ln w="19050">
            <a:solidFill>
              <a:srgbClr val="B7FFD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51960" y="2514600"/>
            <a:ext cx="731520" cy="0"/>
          </a:xfrm>
          <a:prstGeom prst="line">
            <a:avLst/>
          </a:prstGeom>
          <a:noFill/>
          <a:ln w="1905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4663440"/>
            <a:ext cx="731520" cy="0"/>
          </a:xfrm>
          <a:prstGeom prst="line">
            <a:avLst/>
          </a:prstGeom>
          <a:noFill/>
          <a:ln w="19050">
            <a:solidFill>
              <a:srgbClr val="B7FFD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0" y="2514600"/>
            <a:ext cx="731520" cy="0"/>
          </a:xfrm>
          <a:prstGeom prst="line">
            <a:avLst/>
          </a:prstGeom>
          <a:noFill/>
          <a:ln w="1905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4663440"/>
            <a:ext cx="731520" cy="0"/>
          </a:xfrm>
          <a:prstGeom prst="line">
            <a:avLst/>
          </a:prstGeom>
          <a:noFill/>
          <a:ln w="19050">
            <a:solidFill>
              <a:srgbClr val="B7FFDA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20574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41227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0574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41227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동조율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41227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심상 기록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0574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41227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대사 변화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마나석 / 회복약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4206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창고 저장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4206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장착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4206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세션 사용</a:t>
            </a:r>
            <a:endParaRPr lang="en-US" sz="1300" dirty="0"/>
          </a:p>
        </p:txBody>
      </p:sp>
      <p:pic>
        <p:nvPicPr>
          <p:cNvPr id="19" name="Image 0" descr="/mnt/data/lucid_v21_assets/fragmen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18320" y="2011680"/>
            <a:ext cx="1737360" cy="173736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418320" y="2011680"/>
            <a:ext cx="1737360" cy="173736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18320" y="37947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</a:t>
            </a:r>
            <a:endParaRPr lang="en-US" sz="830" dirty="0"/>
          </a:p>
        </p:txBody>
      </p:sp>
      <p:pic>
        <p:nvPicPr>
          <p:cNvPr id="22" name="Image 1" descr="/mnt/data/lucid_v21_assets/storageUI.jpg"/>
          <p:cNvPicPr>
            <a:picLocks noChangeAspect="1"/>
          </p:cNvPicPr>
          <p:nvPr/>
        </p:nvPicPr>
        <p:blipFill>
          <a:blip r:embed="rId4"/>
          <a:srcRect l="1420" r="1420"/>
          <a:stretch/>
        </p:blipFill>
        <p:spPr>
          <a:xfrm>
            <a:off x="9418320" y="4069080"/>
            <a:ext cx="1737360" cy="10058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418320" y="4069080"/>
            <a:ext cx="173736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418320" y="51206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창고 UI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7" name="Text 23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SUCCESS / FAILURE SETTLEMENT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보존 / 실패 유실 구조</a:t>
            </a:r>
            <a:endParaRPr lang="en-US" sz="3400" dirty="0"/>
          </a:p>
        </p:txBody>
      </p:sp>
      <p:pic>
        <p:nvPicPr>
          <p:cNvPr id="4" name="Image 0" descr="/mnt/data/lucid_v21_assets/successUI.jpg"/>
          <p:cNvPicPr>
            <a:picLocks noChangeAspect="1"/>
          </p:cNvPicPr>
          <p:nvPr/>
        </p:nvPicPr>
        <p:blipFill>
          <a:blip r:embed="rId3"/>
          <a:srcRect l="142" r="142"/>
          <a:stretch/>
        </p:blipFill>
        <p:spPr>
          <a:xfrm>
            <a:off x="594360" y="1325880"/>
            <a:ext cx="356616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25880"/>
            <a:ext cx="356616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3832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성공 결과창</a:t>
            </a:r>
            <a:endParaRPr lang="en-US" sz="830" dirty="0"/>
          </a:p>
        </p:txBody>
      </p:sp>
      <p:pic>
        <p:nvPicPr>
          <p:cNvPr id="7" name="Image 1" descr="/mnt/data/lucid_v21_assets/failUI.jpg"/>
          <p:cNvPicPr>
            <a:picLocks noChangeAspect="1"/>
          </p:cNvPicPr>
          <p:nvPr/>
        </p:nvPicPr>
        <p:blipFill>
          <a:blip r:embed="rId4"/>
          <a:srcRect t="13333" b="13333"/>
          <a:stretch/>
        </p:blipFill>
        <p:spPr>
          <a:xfrm>
            <a:off x="8092440" y="1325880"/>
            <a:ext cx="2743200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1325880"/>
            <a:ext cx="2743200" cy="201168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92440" y="3383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각성 결과창</a:t>
            </a:r>
            <a:endParaRPr lang="en-US" sz="830" dirty="0"/>
          </a:p>
        </p:txBody>
      </p:sp>
      <p:sp>
        <p:nvSpPr>
          <p:cNvPr id="10" name="Shape 6"/>
          <p:cNvSpPr/>
          <p:nvPr/>
        </p:nvSpPr>
        <p:spPr>
          <a:xfrm>
            <a:off x="685800" y="3703320"/>
            <a:ext cx="3611880" cy="365760"/>
          </a:xfrm>
          <a:prstGeom prst="rect">
            <a:avLst/>
          </a:prstGeom>
          <a:solidFill>
            <a:srgbClr val="4B5170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37856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4297680" y="3703320"/>
            <a:ext cx="361188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43400" y="37856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성공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7909560" y="3703320"/>
            <a:ext cx="3611880" cy="365760"/>
          </a:xfrm>
          <a:prstGeom prst="rect">
            <a:avLst/>
          </a:prstGeom>
          <a:solidFill>
            <a:srgbClr val="FF4F6D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37856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각성 실패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685800" y="406908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8952" y="414223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4297680" y="406908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70832" y="414223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소모 / 동조율 상승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7909560" y="406908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82712" y="414223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유실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685800" y="4434840"/>
            <a:ext cx="3611880" cy="36576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58952" y="450799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마나석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4297680" y="4434840"/>
            <a:ext cx="3611880" cy="36576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70832" y="450799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창고 저장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7909560" y="4434840"/>
            <a:ext cx="3611880" cy="36576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82712" y="450799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유실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685800" y="480060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58952" y="487375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회복약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4297680" y="480060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370832" y="487375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창고 저장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7909560" y="480060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82712" y="487375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유실</a:t>
            </a:r>
            <a:endParaRPr lang="en-US" sz="1080" dirty="0"/>
          </a:p>
        </p:txBody>
      </p:sp>
      <p:sp>
        <p:nvSpPr>
          <p:cNvPr id="34" name="Shape 30"/>
          <p:cNvSpPr/>
          <p:nvPr/>
        </p:nvSpPr>
        <p:spPr>
          <a:xfrm>
            <a:off x="685800" y="5166360"/>
            <a:ext cx="3611880" cy="36576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58952" y="523951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심상 기록</a:t>
            </a:r>
            <a:endParaRPr lang="en-US" sz="1080" dirty="0"/>
          </a:p>
        </p:txBody>
      </p:sp>
      <p:sp>
        <p:nvSpPr>
          <p:cNvPr id="36" name="Shape 32"/>
          <p:cNvSpPr/>
          <p:nvPr/>
        </p:nvSpPr>
        <p:spPr>
          <a:xfrm>
            <a:off x="4297680" y="5166360"/>
            <a:ext cx="3611880" cy="36576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370832" y="523951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 충족 시 해금</a:t>
            </a:r>
            <a:endParaRPr lang="en-US" sz="1080" dirty="0"/>
          </a:p>
        </p:txBody>
      </p:sp>
      <p:sp>
        <p:nvSpPr>
          <p:cNvPr id="38" name="Shape 34"/>
          <p:cNvSpPr/>
          <p:nvPr/>
        </p:nvSpPr>
        <p:spPr>
          <a:xfrm>
            <a:off x="7909560" y="5166360"/>
            <a:ext cx="3611880" cy="36576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982712" y="523951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해금 없음</a:t>
            </a:r>
            <a:endParaRPr lang="en-US" sz="1080" dirty="0"/>
          </a:p>
        </p:txBody>
      </p:sp>
      <p:sp>
        <p:nvSpPr>
          <p:cNvPr id="40" name="Shape 36"/>
          <p:cNvSpPr/>
          <p:nvPr/>
        </p:nvSpPr>
        <p:spPr>
          <a:xfrm>
            <a:off x="685800" y="553212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58952" y="560527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귀환 대사</a:t>
            </a:r>
            <a:endParaRPr lang="en-US" sz="1080" dirty="0"/>
          </a:p>
        </p:txBody>
      </p:sp>
      <p:sp>
        <p:nvSpPr>
          <p:cNvPr id="42" name="Shape 38"/>
          <p:cNvSpPr/>
          <p:nvPr/>
        </p:nvSpPr>
        <p:spPr>
          <a:xfrm>
            <a:off x="4297680" y="553212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370832" y="560527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변화 가능</a:t>
            </a:r>
            <a:endParaRPr lang="en-US" sz="1080" dirty="0"/>
          </a:p>
        </p:txBody>
      </p:sp>
      <p:sp>
        <p:nvSpPr>
          <p:cNvPr id="44" name="Shape 40"/>
          <p:cNvSpPr/>
          <p:nvPr/>
        </p:nvSpPr>
        <p:spPr>
          <a:xfrm>
            <a:off x="7909560" y="5532120"/>
            <a:ext cx="3611880" cy="36576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982712" y="560527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대사</a:t>
            </a:r>
            <a:endParaRPr lang="en-US" sz="1080" dirty="0"/>
          </a:p>
        </p:txBody>
      </p:sp>
      <p:sp>
        <p:nvSpPr>
          <p:cNvPr id="46" name="Shape 42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48" name="Text 44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전체 게임 흐름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매크로 루프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로비에서 출격하고, 기억을 회수해 생환한 뒤, 관계와 자원이 누적된다.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91640" y="2560320"/>
            <a:ext cx="54864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29000" y="2560320"/>
            <a:ext cx="64008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0" y="2560320"/>
            <a:ext cx="68580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43800" y="2560320"/>
            <a:ext cx="59436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23960" y="3017520"/>
            <a:ext cx="0" cy="82296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0" y="4480560"/>
            <a:ext cx="0" cy="27432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0" y="4480560"/>
            <a:ext cx="182880" cy="27432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06440" y="5681472"/>
            <a:ext cx="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5681472"/>
            <a:ext cx="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45920" y="5681472"/>
            <a:ext cx="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94360" y="2057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31720" y="2057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출격 준비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60520" y="2057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 진입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 / 탐색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2057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 회수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0" y="393192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판단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06440" y="5178552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성공: 복구 / 보존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5178552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4F6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실패: 유실 / 각성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49040" y="5178552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로비 복귀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645920" y="5178552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 / 창고 확인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ingameA.jpg"/>
          <p:cNvPicPr>
            <a:picLocks noChangeAspect="1"/>
          </p:cNvPicPr>
          <p:nvPr/>
        </p:nvPicPr>
        <p:blipFill>
          <a:blip r:embed="rId3"/>
          <a:srcRect l="10070" r="1007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SINGLE SESSION FLOW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 세션 플레이 흐름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55448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83464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11480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39496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67512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95528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23544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0515600" y="4206240"/>
            <a:ext cx="182880" cy="0"/>
          </a:xfrm>
          <a:prstGeom prst="line">
            <a:avLst/>
          </a:prstGeom>
          <a:noFill/>
          <a:ln w="13970">
            <a:solidFill>
              <a:srgbClr val="32D7FF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50292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Spawn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178308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306324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발견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434340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조준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562356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공격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690372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획득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818388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전화부스 탐색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946404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/ 각성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10744200" y="3794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결과창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685800" y="141732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2104" y="1600200"/>
            <a:ext cx="0" cy="50292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254" y="1679681"/>
            <a:ext cx="6446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 목표는 “더 많이 가져갈지, 지금 탈출할지”의 판단을 만들고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결과창에서 기억/자원 정산을 체감시키는 것이다.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COMBAT 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 순서도</a:t>
            </a:r>
            <a:endParaRPr lang="en-US" sz="3400" dirty="0"/>
          </a:p>
        </p:txBody>
      </p:sp>
      <p:pic>
        <p:nvPicPr>
          <p:cNvPr id="4" name="Image 0" descr="/mnt/data/lucid_v21_assets/monster.jpg"/>
          <p:cNvPicPr>
            <a:picLocks noChangeAspect="1"/>
          </p:cNvPicPr>
          <p:nvPr/>
        </p:nvPicPr>
        <p:blipFill>
          <a:blip r:embed="rId3"/>
          <a:srcRect l="8" r="8"/>
          <a:stretch/>
        </p:blipFill>
        <p:spPr>
          <a:xfrm>
            <a:off x="6995160" y="685800"/>
            <a:ext cx="4434840" cy="2496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95160" y="685800"/>
            <a:ext cx="4434840" cy="2496312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322783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적 / 꿈식자 컨셉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4F6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감지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606040" y="150876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4F6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추적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26280" y="150876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 조준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7432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마나 소비 공격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606040" y="27432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피격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26280" y="27432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HP 감소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39776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 사망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606040" y="39776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드랍 생성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26280" y="39776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회수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194560" y="1847088"/>
            <a:ext cx="411480" cy="0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114800" y="1847088"/>
            <a:ext cx="411480" cy="0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444752" y="2194560"/>
            <a:ext cx="0" cy="475488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194560" y="3083873"/>
            <a:ext cx="411480" cy="0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114800" y="3083873"/>
            <a:ext cx="411480" cy="0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8"/>
          <p:cNvSpPr/>
          <p:nvPr/>
        </p:nvSpPr>
        <p:spPr>
          <a:xfrm>
            <a:off x="1435842" y="3439082"/>
            <a:ext cx="0" cy="475488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194560" y="4291349"/>
            <a:ext cx="411480" cy="0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114800" y="4291349"/>
            <a:ext cx="411480" cy="0"/>
          </a:xfrm>
          <a:prstGeom prst="line">
            <a:avLst/>
          </a:prstGeom>
          <a:noFill/>
          <a:ln w="1270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995160" y="3657600"/>
            <a:ext cx="4434840" cy="1005840"/>
          </a:xfrm>
          <a:prstGeom prst="roundRect">
            <a:avLst>
              <a:gd name="adj" fmla="val 5455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41464" y="3840480"/>
            <a:ext cx="0" cy="64008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0" y="3858768"/>
            <a:ext cx="3931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전투는 복잡한 스킬보다 P0에서 “타격 → 처치 → 드랍 → 회수”가 끊기지 않는 것이 우선이다.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phone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EXTRACTION DECISION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판단 구조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1400204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FFD18A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1600200"/>
            <a:ext cx="0" cy="731520"/>
          </a:xfrm>
          <a:prstGeom prst="line">
            <a:avLst/>
          </a:prstGeom>
          <a:noFill/>
          <a:ln w="29210">
            <a:solidFill>
              <a:srgbClr val="FFD1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3" y="1681324"/>
            <a:ext cx="4709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파밍할 것인가,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전화부스로 탈출할 것인가?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28800" y="3703320"/>
            <a:ext cx="914400" cy="0"/>
          </a:xfrm>
          <a:prstGeom prst="line">
            <a:avLst/>
          </a:prstGeom>
          <a:noFill/>
          <a:ln w="20320">
            <a:solidFill>
              <a:srgbClr val="FFD18A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206240" y="3703320"/>
            <a:ext cx="1691640" cy="0"/>
          </a:xfrm>
          <a:prstGeom prst="line">
            <a:avLst/>
          </a:prstGeom>
          <a:noFill/>
          <a:ln w="20320">
            <a:solidFill>
              <a:srgbClr val="B7FFDA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206240" y="3703320"/>
            <a:ext cx="1691640" cy="822960"/>
          </a:xfrm>
          <a:prstGeom prst="line">
            <a:avLst/>
          </a:prstGeom>
          <a:noFill/>
          <a:ln w="20320">
            <a:solidFill>
              <a:srgbClr val="FF4F6D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94360" y="3154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회수품 보유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306324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17120B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판단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95847" y="32004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02017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성공: 보존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80760" y="4430268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B0B12">
              <a:alpha val="95000"/>
            </a:srgbClr>
          </a:solidFill>
          <a:ln w="15240">
            <a:solidFill>
              <a:srgbClr val="FF4F6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실패: 유실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fragment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P0 버티컬 슬라이스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P0에서 검증할 것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8778240" cy="1371600"/>
          </a:xfrm>
          <a:prstGeom prst="roundRect">
            <a:avLst>
              <a:gd name="adj" fmla="val 40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7824" y="1783080"/>
            <a:ext cx="0" cy="100584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865376"/>
            <a:ext cx="8275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세션에서 회수한 보상이 캐릭터의 기억, 동조율, 기록 해금, 귀환 대사 변화로 이어질 때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익스트랙션 루프와 캐릭터 애착 루프가 서로 강화되는가?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3840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P0는 완성형 게임이 아니라, 핵심 루프가 실제로 연결되는지 검증하는 버티컬 슬라이스다.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CORE SCOPE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P0-Core 구현 범위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출격 준비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7220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인게임 세션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1540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아이템 3종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/ 실패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3063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정산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72200" y="3063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동조율 / 기록 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15400" y="3063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창고 / 다음 출격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846320"/>
            <a:ext cx="9601200" cy="822960"/>
          </a:xfrm>
          <a:prstGeom prst="roundRect">
            <a:avLst>
              <a:gd name="adj" fmla="val 6667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FFDA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" y="5029200"/>
            <a:ext cx="0" cy="457200"/>
          </a:xfrm>
          <a:prstGeom prst="line">
            <a:avLst/>
          </a:prstGeom>
          <a:noFill/>
          <a:ln w="29210">
            <a:solidFill>
              <a:srgbClr val="B7FF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047488"/>
            <a:ext cx="9098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 1명으로 “전투 → 회수 → 탈출 → 정산 → 기록 해금 → 로비 변화”가 연결되는지 확인한다.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EXCLUSION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P0에서 구현하지 않는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0C0F1D">
              <a:alpha val="90000"/>
            </a:srgbClr>
          </a:solidFill>
          <a:ln w="12700">
            <a:solidFill>
              <a:srgbClr val="FF4F6D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29260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실제 시간 루프 시스템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여러 다이버 구원 시스템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괴이 변질 캐릭터 전투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캐릭터 영입 / 가챠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4434840" y="150876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0C0F1D">
              <a:alpha val="90000"/>
            </a:srgbClr>
          </a:solidFill>
          <a:ln w="12700">
            <a:solidFill>
              <a:srgbClr val="FF4F6D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755648"/>
            <a:ext cx="29260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다이버 교체 편성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선택지 기반 스토리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프롤로그 10단계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Live2D / 풀보이스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183880" y="150876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0C0F1D">
              <a:alpha val="90000"/>
            </a:srgbClr>
          </a:solidFill>
          <a:ln w="12700">
            <a:solidFill>
              <a:srgbClr val="FF4F6D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1755648"/>
            <a:ext cx="29260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복잡한 장비 성장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멀티플레이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보스전</a:t>
            </a:r>
            <a:endParaRPr lang="en-US" sz="1320" dirty="0"/>
          </a:p>
          <a:p>
            <a:r>
              <a:rPr lang="en-US" sz="132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인벤토리 그리드 / 드래그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77240" y="5074920"/>
            <a:ext cx="9418320" cy="777240"/>
          </a:xfrm>
          <a:prstGeom prst="roundRect">
            <a:avLst>
              <a:gd name="adj" fmla="val 7059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FF4F6D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5257800"/>
            <a:ext cx="0" cy="411480"/>
          </a:xfrm>
          <a:prstGeom prst="line">
            <a:avLst/>
          </a:prstGeom>
          <a:noFill/>
          <a:ln w="29210">
            <a:solidFill>
              <a:srgbClr val="FF4F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349240"/>
            <a:ext cx="8915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루프와 구원 서사는 P0에서 대사, 기록, 결과창 문구로만 표현한다.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별도의 회차 시스템은 P0에서 구현하지 않는다.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successBG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SUCCESS CRITERIA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성공 판정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1554480"/>
            <a:ext cx="5394960" cy="1280160"/>
          </a:xfrm>
          <a:prstGeom prst="roundRect">
            <a:avLst>
              <a:gd name="adj" fmla="val 4286"/>
            </a:avLst>
          </a:prstGeom>
          <a:solidFill>
            <a:srgbClr val="080A14">
              <a:alpha val="92000"/>
            </a:srgbClr>
          </a:solidFill>
          <a:ln w="1270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28800"/>
            <a:ext cx="4892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 회수 → 탈출 성공 → 동조율 상승 → 개인 심상 기록 01 해금 → 로비 대사 변화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315468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071510">
              <a:alpha val="92000"/>
            </a:srgbClr>
          </a:solidFill>
          <a:ln w="12700">
            <a:solidFill>
              <a:srgbClr val="B7FFDA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4930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마나석/회복약 회수 → 창고 저장 → 다음 출격에서 사용 가능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4800600"/>
            <a:ext cx="6583680" cy="685800"/>
          </a:xfrm>
          <a:prstGeom prst="roundRect">
            <a:avLst>
              <a:gd name="adj" fmla="val 80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FFDA">
                <a:alpha val="8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" y="4983480"/>
            <a:ext cx="0" cy="320040"/>
          </a:xfrm>
          <a:prstGeom prst="line">
            <a:avLst/>
          </a:prstGeom>
          <a:noFill/>
          <a:ln w="29210">
            <a:solidFill>
              <a:srgbClr val="B7FF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5074686"/>
            <a:ext cx="6080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성공 = 익스트랙션 보상이 캐릭터 구원 보상으로 변환되는 경험을 증명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리스크 통제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701040"/>
          </a:xfrm>
          <a:prstGeom prst="rect">
            <a:avLst/>
          </a:prstGeom>
          <a:solidFill>
            <a:srgbClr val="FF4F6D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45336"/>
            <a:ext cx="5029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리스크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463040"/>
            <a:ext cx="5120640" cy="701040"/>
          </a:xfrm>
          <a:prstGeom prst="rect">
            <a:avLst/>
          </a:prstGeom>
          <a:solidFill>
            <a:srgbClr val="8B5CFF"/>
          </a:solidFill>
          <a:ln w="10160">
            <a:solidFill>
              <a:srgbClr val="2C31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545336"/>
            <a:ext cx="50292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64080"/>
            <a:ext cx="5120640" cy="70104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3723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서사 확장으로 범위 증가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2164080"/>
            <a:ext cx="5120640" cy="70104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223723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 1명, 기록 01만 구현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865120"/>
            <a:ext cx="5120640" cy="70104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93827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루프 시스템 오해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2865120"/>
            <a:ext cx="5120640" cy="70104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93827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회차 시스템은 P0 제외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5120640" cy="70104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3931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괴이 변질 시스템 오해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3566160"/>
            <a:ext cx="5120640" cy="70104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363931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P0에서는 설정/장기 목표로만 제시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267200"/>
            <a:ext cx="5120640" cy="70104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34035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 과잉 구현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4267200"/>
            <a:ext cx="5120640" cy="701040"/>
          </a:xfrm>
          <a:prstGeom prst="rect">
            <a:avLst/>
          </a:prstGeom>
          <a:solidFill>
            <a:srgbClr val="101426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434035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시스템 명세 우선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968240"/>
            <a:ext cx="5120640" cy="70104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04139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일정 불확실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4968240"/>
            <a:ext cx="5120640" cy="701040"/>
          </a:xfrm>
          <a:prstGeom prst="rect">
            <a:avLst/>
          </a:prstGeom>
          <a:solidFill>
            <a:srgbClr val="0C0F1D"/>
          </a:solidFill>
          <a:ln w="7620">
            <a:solidFill>
              <a:srgbClr val="2C31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5041392"/>
            <a:ext cx="4974336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협의 후 마일스톤 재확정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lobby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6 · 주요 화면 / UI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로비 / 관제실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466344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4846320"/>
            <a:ext cx="0" cy="50292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864608"/>
            <a:ext cx="6172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출격 전후로 캐릭터 변화가 체감되는 허브.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관제사의 역할과 다이버의 관계 변화를 보여주는 공간.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sortie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 FLOW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출격 준비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81354" y="5418405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7107" y="5619573"/>
            <a:ext cx="0" cy="50292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691" y="5696006"/>
            <a:ext cx="6172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세션에 가져갈 소비 기물을 선택하는 화면.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마나석/회복약은 단순 자원이 아니라 다음 구원 시도의 준비물이다.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ingameA.jpg"/>
          <p:cNvPicPr>
            <a:picLocks noChangeAspect="1"/>
          </p:cNvPicPr>
          <p:nvPr/>
        </p:nvPicPr>
        <p:blipFill>
          <a:blip r:embed="rId3"/>
          <a:srcRect l="10070" r="1007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IN-GAME HUD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인게임 HUD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4800600"/>
            <a:ext cx="7040880" cy="822960"/>
          </a:xfrm>
          <a:prstGeom prst="roundRect">
            <a:avLst>
              <a:gd name="adj" fmla="val 6667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4983480"/>
            <a:ext cx="0" cy="45720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5001768"/>
            <a:ext cx="6537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전투, 기억 파편 카운터, HP/Mana, 퀵슬롯을 통해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 중 위험과 회수 목표를 동시에 전달한다.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successUI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 · SUCCESS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결과창: 탈출 성공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4663440"/>
            <a:ext cx="4308231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FFDA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4846320"/>
            <a:ext cx="0" cy="502920"/>
          </a:xfrm>
          <a:prstGeom prst="line">
            <a:avLst/>
          </a:prstGeom>
          <a:noFill/>
          <a:ln w="29210">
            <a:solidFill>
              <a:srgbClr val="B7F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864608"/>
            <a:ext cx="6629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탈출 시, 기억 파편은 자동으로 소모되어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동조율과 심상 기록으로 변환된다.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failUI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 · FAILURE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결과창: 강제 각성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4663440"/>
            <a:ext cx="4407877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FF4F6D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4846320"/>
            <a:ext cx="0" cy="502920"/>
          </a:xfrm>
          <a:prstGeom prst="line">
            <a:avLst/>
          </a:prstGeom>
          <a:noFill/>
          <a:ln w="29210">
            <a:solidFill>
              <a:srgbClr val="FF4F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914900"/>
            <a:ext cx="38123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강제 각성 시, 이번 세션에서 회수한 기억과 자원은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 침몽도시에 다시 가라앉는다.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recordUI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DIVER / RECORD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다이버 / 기록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4663440"/>
            <a:ext cx="4824046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4846320"/>
            <a:ext cx="0" cy="502920"/>
          </a:xfrm>
          <a:prstGeom prst="line">
            <a:avLst/>
          </a:prstGeom>
          <a:noFill/>
          <a:ln w="29210">
            <a:solidFill>
              <a:srgbClr val="B7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864608"/>
            <a:ext cx="6629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동조율 상승으로 해금된 개인 심상 기록을 확인하는 화면.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P0에서는 채린의 “끊어진 귀환 로그”만 구현한다.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storageUI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STORAGE / INVENTORY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창고 / 인벤토리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4663440"/>
            <a:ext cx="4402015" cy="868680"/>
          </a:xfrm>
          <a:prstGeom prst="roundRect">
            <a:avLst>
              <a:gd name="adj" fmla="val 6316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4846320"/>
            <a:ext cx="0" cy="50292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864608"/>
            <a:ext cx="6629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탈출 성공으로 보존한 마나석/회복약을 확인하고,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출격을 준비하는 화면.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13232" y="571500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C92A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UI 이미지는 목표 비주얼 레퍼런스이며, 실제 구현 범위는 P0 시스템 명세서를 우선한다.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7 · 트레일러 방향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30초 트레일러 콘티</a:t>
            </a:r>
            <a:endParaRPr lang="en-US" sz="3400" dirty="0"/>
          </a:p>
        </p:txBody>
      </p:sp>
      <p:pic>
        <p:nvPicPr>
          <p:cNvPr id="4" name="Image 0" descr="/mnt/data/lucid_v21_assets/city_new.jp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6995160" y="685800"/>
            <a:ext cx="438912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95160" y="685800"/>
            <a:ext cx="4389120" cy="246888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32004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777E9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0~5초: 도시가 꿈에 잠긴다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85800" y="141732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0–5초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65960" y="150876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보라색 균열이 도시를 삼킨다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5–10초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65960" y="219456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채린: “왜 네 목소리가 익숙하지?”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278892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10–18초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65960" y="288036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전투 / 기억 파편 회수 / 전화부스 탈출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" y="347472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18–24초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65960" y="356616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결과창: 파편 소모 → 동조율 상승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85800" y="416052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24–30초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965960" y="425196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로비 복귀: “너, 그때도 거기 있었지.”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TRAILER PRIORITY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장면 우선순위</a:t>
            </a:r>
            <a:endParaRPr lang="en-US" sz="3400" dirty="0"/>
          </a:p>
        </p:txBody>
      </p:sp>
      <p:pic>
        <p:nvPicPr>
          <p:cNvPr id="4" name="Image 0" descr="/mnt/data/lucid_v21_assets/city_new.jpg"/>
          <p:cNvPicPr>
            <a:picLocks noChangeAspect="1"/>
          </p:cNvPicPr>
          <p:nvPr/>
        </p:nvPicPr>
        <p:blipFill>
          <a:blip r:embed="rId3"/>
          <a:srcRect t="6205" b="6205"/>
          <a:stretch/>
        </p:blipFill>
        <p:spPr>
          <a:xfrm>
            <a:off x="640080" y="1325880"/>
            <a:ext cx="3246120" cy="1600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25880"/>
            <a:ext cx="324612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6791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침몽도시 키비주얼</a:t>
            </a:r>
            <a:endParaRPr lang="en-US" sz="1050" dirty="0"/>
          </a:p>
        </p:txBody>
      </p:sp>
      <p:pic>
        <p:nvPicPr>
          <p:cNvPr id="7" name="Image 1" descr="/mnt/data/lucid_v21_assets/log.jpg"/>
          <p:cNvPicPr>
            <a:picLocks noChangeAspect="1"/>
          </p:cNvPicPr>
          <p:nvPr/>
        </p:nvPicPr>
        <p:blipFill>
          <a:blip r:embed="rId4"/>
          <a:srcRect t="6205" b="6205"/>
          <a:stretch/>
        </p:blipFill>
        <p:spPr>
          <a:xfrm>
            <a:off x="4389120" y="1325880"/>
            <a:ext cx="3246120" cy="1600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89120" y="1325880"/>
            <a:ext cx="324612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80560" y="26791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채린의 귀환 로그</a:t>
            </a:r>
            <a:endParaRPr lang="en-US" sz="1050" dirty="0"/>
          </a:p>
        </p:txBody>
      </p:sp>
      <p:pic>
        <p:nvPicPr>
          <p:cNvPr id="10" name="Image 2" descr="/mnt/data/lucid_v21_assets/fragment.jpg"/>
          <p:cNvPicPr>
            <a:picLocks noChangeAspect="1"/>
          </p:cNvPicPr>
          <p:nvPr/>
        </p:nvPicPr>
        <p:blipFill>
          <a:blip r:embed="rId5"/>
          <a:srcRect t="25352" b="25352"/>
          <a:stretch/>
        </p:blipFill>
        <p:spPr>
          <a:xfrm>
            <a:off x="8138160" y="1325880"/>
            <a:ext cx="3246120" cy="1600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138160" y="1325880"/>
            <a:ext cx="324612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229600" y="26791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기억 파편 회수</a:t>
            </a:r>
            <a:endParaRPr lang="en-US" sz="1050" dirty="0"/>
          </a:p>
        </p:txBody>
      </p:sp>
      <p:pic>
        <p:nvPicPr>
          <p:cNvPr id="13" name="Image 3" descr="/mnt/data/lucid_v21_assets/phone.jpg"/>
          <p:cNvPicPr>
            <a:picLocks noChangeAspect="1"/>
          </p:cNvPicPr>
          <p:nvPr/>
        </p:nvPicPr>
        <p:blipFill>
          <a:blip r:embed="rId6"/>
          <a:srcRect t="6205" b="6205"/>
          <a:stretch/>
        </p:blipFill>
        <p:spPr>
          <a:xfrm>
            <a:off x="640080" y="3566160"/>
            <a:ext cx="3246120" cy="16002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0080" y="3566160"/>
            <a:ext cx="324612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31520" y="49194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전화부스 탈출</a:t>
            </a:r>
            <a:endParaRPr lang="en-US" sz="1050" dirty="0"/>
          </a:p>
        </p:txBody>
      </p:sp>
      <p:pic>
        <p:nvPicPr>
          <p:cNvPr id="16" name="Image 4" descr="/mnt/data/lucid_v21_assets/successBG.jpg"/>
          <p:cNvPicPr>
            <a:picLocks noChangeAspect="1"/>
          </p:cNvPicPr>
          <p:nvPr/>
        </p:nvPicPr>
        <p:blipFill>
          <a:blip r:embed="rId7"/>
          <a:srcRect t="6205" b="6205"/>
          <a:stretch/>
        </p:blipFill>
        <p:spPr>
          <a:xfrm>
            <a:off x="4389120" y="3566160"/>
            <a:ext cx="3246120" cy="16002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389120" y="3566160"/>
            <a:ext cx="324612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480560" y="49194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동조율 상승</a:t>
            </a:r>
            <a:endParaRPr lang="en-US" sz="1050" dirty="0"/>
          </a:p>
        </p:txBody>
      </p:sp>
      <p:pic>
        <p:nvPicPr>
          <p:cNvPr id="19" name="Image 5" descr="/mnt/data/lucid_v21_assets/lobby.jpg"/>
          <p:cNvPicPr>
            <a:picLocks noChangeAspect="1"/>
          </p:cNvPicPr>
          <p:nvPr/>
        </p:nvPicPr>
        <p:blipFill>
          <a:blip r:embed="rId8"/>
          <a:srcRect t="6182" b="6182"/>
          <a:stretch/>
        </p:blipFill>
        <p:spPr>
          <a:xfrm>
            <a:off x="8138160" y="3566160"/>
            <a:ext cx="3246120" cy="16002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566160"/>
            <a:ext cx="324612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424967">
                <a:alpha val="80000"/>
              </a:srgbClr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8229600" y="49194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로비 대사 변화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4" name="Text 16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8 · 개발 계획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마일스톤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498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세부 날짜는 팀 협의 후 확정. 현재는 단계 중심으로 제시한다.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3291840"/>
            <a:ext cx="50292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108960" y="3291840"/>
            <a:ext cx="50292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37760" y="3291840"/>
            <a:ext cx="50292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66560" y="3291840"/>
            <a:ext cx="50292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0" y="3291840"/>
            <a:ext cx="502920" cy="0"/>
          </a:xfrm>
          <a:prstGeom prst="line">
            <a:avLst/>
          </a:prstGeom>
          <a:noFill/>
          <a:ln w="16510">
            <a:solidFill>
              <a:srgbClr val="B78C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 동결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260604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32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 Core 1차 구현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260604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정산 루프 통합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260604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FFD1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QA 안정화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60604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 적용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46920" y="260604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FF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빌드 확정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080A14">
              <a:alpha val="90000"/>
            </a:srgbClr>
          </a:solidFill>
          <a:ln w="13970">
            <a:solidFill>
              <a:srgbClr val="32D7FF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5074920"/>
            <a:ext cx="0" cy="320040"/>
          </a:xfrm>
          <a:prstGeom prst="line">
            <a:avLst/>
          </a:prstGeom>
          <a:noFill/>
          <a:ln w="29210">
            <a:solidFill>
              <a:srgbClr val="32D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093208"/>
            <a:ext cx="7726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비현실적인 날짜 고정보다, P0 안정화 기준과 폐기 기준을 명확히 하는 것이 우선이다.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control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IDENTITY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REMnants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85800" y="1600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REM 수면의 잔재,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꿈에 남겨진 기억을 회수하는 팀.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713232" y="3063240"/>
            <a:ext cx="4754880" cy="1280160"/>
          </a:xfrm>
          <a:prstGeom prst="roundRect">
            <a:avLst>
              <a:gd name="adj" fmla="val 4286"/>
            </a:avLst>
          </a:prstGeom>
          <a:solidFill>
            <a:srgbClr val="0C0F1D">
              <a:alpha val="90000"/>
            </a:srgbClr>
          </a:solidFill>
          <a:ln w="12700">
            <a:solidFill>
              <a:srgbClr val="B78CFF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3401568"/>
            <a:ext cx="4251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REM = 꿈 수면 단계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Remnants = 잔재, 남은 것들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FEEDBACK REQUEST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피드백 요청 항목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50876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플레이어가 다이버를 구해야 하는 서사적 동기가 설득력 있는가?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익스트랙션 구조가 처음 보는 사람도 이해할 수 있게 설명되었는가?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734056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825496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파편 → 동조율 → 구원 루프가 보상으로 매력적인가?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39242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348386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P0에서 보여줄 범위가 적절한가?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05079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414223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퍼블리셔 관점에서 더 보고 싶은 정보는 무엇인가?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01426">
              <a:alpha val="95000"/>
            </a:srgbClr>
          </a:solidFill>
          <a:ln w="15240">
            <a:solidFill>
              <a:srgbClr val="B78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480060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트레일러에서 가장 먼저 보여줘야 할 장면은 무엇인가?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cid_v21_assets/city_new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1417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F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그녀는 당신을 기억하지 못한다.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77240" y="2423160"/>
            <a:ext cx="8595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당신은,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그녀를 다시 구하러 간다.</a:t>
            </a:r>
            <a:endParaRPr lang="en-US" sz="39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5212080" cy="0"/>
          </a:xfrm>
          <a:prstGeom prst="line">
            <a:avLst/>
          </a:prstGeom>
          <a:noFill/>
          <a:ln w="25400">
            <a:solidFill>
              <a:srgbClr val="8B5C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7620">
            <a:solidFill>
              <a:srgbClr val="2A2F44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019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침몽도시: 루시드 다이버  ·  Team REMnants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384280" y="6565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6A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2135</Words>
  <Application>Microsoft Office PowerPoint</Application>
  <PresentationFormat>와이드스크린</PresentationFormat>
  <Paragraphs>546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7" baseType="lpstr">
      <vt:lpstr>Noto Sans CJK KR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Team REMnants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침몽도시: 루시드 다이버 P0 퍼블리셔 제안서 v2.1</dc:title>
  <dc:subject>침몽도시: 루시드 다이버 P0 퍼블리셔 제안서</dc:subject>
  <dc:creator>OpenAI</dc:creator>
  <cp:lastModifiedBy>수영 장</cp:lastModifiedBy>
  <cp:revision>3</cp:revision>
  <dcterms:created xsi:type="dcterms:W3CDTF">2026-06-19T14:23:28Z</dcterms:created>
  <dcterms:modified xsi:type="dcterms:W3CDTF">2026-06-20T04:50:17Z</dcterms:modified>
</cp:coreProperties>
</file>